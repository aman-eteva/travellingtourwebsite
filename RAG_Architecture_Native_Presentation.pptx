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3750"/>
            </a:avLst>
          </a:prstGeom>
          <a:solidFill>
            <a:srgbClr val="0E1626"/>
          </a:solidFill>
          <a:ln w="15240">
            <a:solidFill>
              <a:srgbClr val="24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9728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1A264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AI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
</a:t>
            </a:r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 (RAG)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Clear, Step-by-Step Architecture Guide to Connecting Foundation LLMs with Dynamic Enterprise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100% Grounded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hallucinations via citations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2900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Real-Time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updates without retraining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60720" y="338328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345643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Enterprise Privacy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access control &amp; security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Foundation LLMs Fall Short Alone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Language Models are exceptional reasoning engines, but they cannot replace a database.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STALE DATA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Model training stops at a fixed snapshot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Completely blind to recent updates &amp; events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read today’s policy or price changes
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2715768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18688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15768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15768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Predicts words statistically, does not verify facts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generates fake citations &amp; numbers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Creates severe business, legal &amp; financial risks
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45736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8656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BLIND SPOT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5736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Private Context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45736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access to internal wikis, Jira, or ERPs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query proprietary codebases or contracts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models cannot answer company questions
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8544" y="1463040"/>
            <a:ext cx="1938528" cy="73152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704" y="1627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78624" y="1645920"/>
            <a:ext cx="1143000" cy="182880"/>
          </a:xfrm>
          <a:prstGeom prst="roundRect">
            <a:avLst>
              <a:gd name="adj" fmla="val 20000"/>
            </a:avLst>
          </a:prstGeom>
          <a:solidFill>
            <a:srgbClr val="1A2640"/>
          </a:solidFill>
          <a:ln/>
        </p:spPr>
      </p:sp>
      <p:sp>
        <p:nvSpPr>
          <p:cNvPr id="33" name="Text 31"/>
          <p:cNvSpPr/>
          <p:nvPr/>
        </p:nvSpPr>
        <p:spPr>
          <a:xfrm>
            <a:off x="7278624" y="16459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75704" y="1920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Expensive Retraining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75704" y="2240280"/>
            <a:ext cx="16642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Retraining 70B+ models costs $100K+ in GPUs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Fine-tuning takes weeks of engineering cycles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Far too slow for dynamic, fast-moving teams
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16966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Core Principle: Do not force LLMs to memorize facts. Give them tools to retrieve facts, then reason over them.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RAG? The "Open-Book Exam" Analogy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decouples reasoning from memorization by injecting verified reference text into the prompt.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17141E"/>
          </a:solidFill>
          <a:ln w="15240">
            <a:solidFill>
              <a:srgbClr val="4B1D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WITHOUT RAG: Closed-Book Exam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relies entirely on outdated memory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Confidently guesses when memory is fuzzy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citations or exact sources provided
</a:t>
            </a:r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Plausible-sounding hallucinations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0F2220"/>
          </a:solidFill>
          <a:ln w="15240">
            <a:solidFill>
              <a:srgbClr val="0E59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WITH RAG: Open-Book Exam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is provided with the authoritative handbook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Synthesizes facts directly from the retrieved text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Cites exact paragraph, source, and page numbers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Grounded, verifiable, and audit-ready truth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RETRIEVE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top 3-5 relevant chunks from Vector DB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AUGMENT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context + user query into smart prompt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GENERATE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generates answer with direct source citations</a:t>
            </a:r>
            <a:endParaRPr lang="en-US" sz="850" dirty="0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RAG Architecture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breakdown of the Ingestion Pipeline (Top) and Real-Time Query Pipeline (Bottom).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0D1524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1: INGESTION &amp; INDEXING (Offline Preparation)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18243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8243C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Clean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29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24152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Chunks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8211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8211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18211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18211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3F1A2A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 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7024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1691640"/>
            <a:ext cx="1005840" cy="1051560"/>
          </a:xfrm>
          <a:prstGeom prst="roundRect">
            <a:avLst>
              <a:gd name="adj" fmla="val 5455"/>
            </a:avLst>
          </a:prstGeom>
          <a:solidFill>
            <a:srgbClr val="1E1C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17373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5040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1691640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1126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719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79592" y="1938528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9592" y="1938528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1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879592" y="2130552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9592" y="2130552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2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879592" y="2322576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9592" y="2322576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3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879592" y="2514600"/>
            <a:ext cx="996696" cy="155448"/>
          </a:xfrm>
          <a:prstGeom prst="roundRect">
            <a:avLst>
              <a:gd name="adj" fmla="val 17647"/>
            </a:avLst>
          </a:prstGeom>
          <a:solidFill>
            <a:srgbClr val="1844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9592" y="2514600"/>
            <a:ext cx="996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4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967728" y="2057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23760" y="160020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281E1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16459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Knowledge Base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DB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69480" y="205740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Embeddings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 Chunks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(Chroma, Pinecone)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297180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0A142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0358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2: REAL-TIME QUERY &amp; GENERATION (Inference Pipeline)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0080" y="3337560"/>
            <a:ext cx="868680" cy="685800"/>
          </a:xfrm>
          <a:prstGeom prst="roundRect">
            <a:avLst>
              <a:gd name="adj" fmla="val 8000"/>
            </a:avLst>
          </a:prstGeom>
          <a:solidFill>
            <a:srgbClr val="13263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42900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User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52704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737360" y="333756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1E1C3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37360" y="3429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Embedding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76148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971800" y="333756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281E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71800" y="3429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🔢 Query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99592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206240" y="33375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2E1624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3429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Semantic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(ANN)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863840" y="2788920"/>
            <a:ext cx="0" cy="411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5486400" y="3200400"/>
            <a:ext cx="23774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45896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669280" y="333756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1026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0" y="3429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Ranked Results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(Top-K Context)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922008" y="356616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132320" y="32918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21538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0" y="33832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78040" y="382219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Query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 Reason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40080" y="4114800"/>
            <a:ext cx="6263640" cy="411480"/>
          </a:xfrm>
          <a:prstGeom prst="roundRect">
            <a:avLst>
              <a:gd name="adj" fmla="val 13333"/>
            </a:avLst>
          </a:prstGeom>
          <a:solidFill>
            <a:srgbClr val="10261C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" y="4160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Verified Answer returned to User: Grounded with exact citations and zero hallucination!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0992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Smart Chunking Strategies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slice your documents dictates what your AI can find later.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SIMPLE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Chunking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 size (e.g. 500 chars, 50 overlap)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splitting sentences mid-thought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raw text, logs, uniform prose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78608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15768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Chunking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15768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by paragraphs (\n\n) then sentences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Slightly variable chunk lengths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manuals, wikis, standard docs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CONTENT-AWARE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45736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Chunking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5736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Splits when semantic topic shifts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multiple embedding calls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Interviews, transcripts, dialogues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38544" y="146304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75704" y="1600200"/>
            <a:ext cx="1664208" cy="201168"/>
          </a:xfrm>
          <a:prstGeom prst="roundRect">
            <a:avLst>
              <a:gd name="adj" fmla="val 18182"/>
            </a:avLst>
          </a:prstGeom>
          <a:solidFill>
            <a:srgbClr val="1A24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75704" y="160020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HIERARCHICAL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75704" y="187452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Document-Structure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75704" y="2331720"/>
            <a:ext cx="16642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Strength: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Preserves tables, Markdown headers &amp; code
</a:t>
            </a:r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Tradeoff: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dedicated parser per format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Best For: </a:t>
            </a:r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10-K filings, API specs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5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09651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Why Chunk Overlap Matters: Always maintain 10-15% overlap between adjacent chunks. This prevents losing critical context when an important sentence crosses a split boundary.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VECTORS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Embeddings: Meaning in Math 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words and concepts become high-dimensional geometric coordinates.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Vector Embedding?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 embedding model maps raw text into a 1536-dimensional array of numbers.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Proximity: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Words with similar meanings cluster close together in geometric space, regardless of exact phrasing:
</a:t>
            </a:r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"Puppy" ≈ "Dog" ≈ "Canine"
</a:t>
            </a:r>
            <a:pPr indent="0" marL="0">
              <a:buNone/>
            </a:pPr>
            <a:r>
              <a:rPr lang="en-US" sz="950" i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"King" - "Man" + "Woman" ≈ "Queen"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Unrelated concepts ("Puppy" vs "Airplane") sit far apart with near-zero similarity.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3154680"/>
          </a:xfrm>
          <a:prstGeom prst="roundRect">
            <a:avLst>
              <a:gd name="adj" fmla="val 2899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Similarity Engines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Cosine Similarity (Most Popular)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cos(θ) = (A · B) / (||A|| ||B||)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angle between vectors. Length-invariant: a short tweet and a long article on the same topic score high!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2807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Dot Product (Inner Product)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29900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B = ∑ (Ai × Bi)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31729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Considers both direction and vector magnitude. Extremely fast on normalized embeddings.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0" y="36484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Euclidean Distance (L2)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38313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d(A, B) = √∑(Ai - Bi)²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401421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straight-line distance in space. Shorter distance indicates higher similarity.</a:t>
            </a:r>
            <a:endParaRPr lang="en-US" sz="8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Databases: The Long-Term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millions of vectors and searching them in milliseconds.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Vector Stores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Pinecone • Qdrant • Milvus • Chroma • Weaviate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from scratch for ANN (Approximate Nearest Neighbor)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Sub-10ms search latency across 100M+ vectors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Built-in HNSW and IVF vector clustering algorithms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cloud clusters with automatic sharding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&amp; Hybrid Stores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(pgvector) • OpenSearch • Elasticsearch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Store vectors alongside standard SQL relational tables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Enables ACID transactions and strict foreign keys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Easy to adopt if your company already runs Postgres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Perfect for datasets up to 10 million vectors
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Production Must-Have: Metadata Filtering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search the whole database blindly. Always filter vectors by metadata like user_role, department_id, and document_date at query time for strict enterprise security!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44168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44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Retrieval: Beyond Simple Vector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pure vector search fails on product codes, acronyms, and names—and how to fix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OF BOTH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Dense Vectors (semantic concepts) + BM25 (exact keyword match).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vector blind spots for exact part numbers, names, and error codes.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Cross-Encoder Re-Ranking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572768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5727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BOOST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retrieval gets Top 50; Re-Ranker scores actual relevance for Top 5.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Massively boosts precision by analyzing query and chunk together.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Expansion &amp; HyDE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REWRITE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Hypothetical Document Embeddings: LLM creates fake answer to search with.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 the gap between short vague queries and long informative documents.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Compression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3108960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1B243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31089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SAVER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How: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Strips out filler sentences before passing the chunk to the LLM.
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Saves context window tokens and eliminates misleading background noise.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3677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GENERATION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Augmentation &amp; Grounded Response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exact formula that prevents hallucinations during the final LLM step.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rules: "Answer ONLY using provided context. If unknown, state unknown."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70048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RETRIEVED CHUNKS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facts: [Source: HR_Policy_2026.pdf, Page 4] "Maternity leave is 16 weeks."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USER QUESTION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"How many weeks of parental leave do employees get in 2026?"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47104" y="16459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 GROUNDED ANSWER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56832" y="2057400"/>
            <a:ext cx="16093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"Employees receive 16 weeks [1]." (Zero guesswork, full citation)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225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The 3 Non-Negotiable Generation Guardrails: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13308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Source Attribution: Force the model to append [Source ID] to every factual claim.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Fallback Honesty: Explicitly forbid guessing when retrieved chunks do not contain the answer.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Output Structuring: Enforce JSON or Markdown tables for consistent UI integration.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05256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05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vs. Fine-Tuning: When to Use Which?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trains how a model speaks; RAG provides what the model knows.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RETRIEVAL-AUGMENTED GEN (RAG)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FINE-TUNING (PEFT / LoRA)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Purpose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E5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Adding dynamic facts, knowledge &amp; documents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366F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Teaching style, tone, format &amp; domain jargon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Freshness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(update database record in seconds)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Delayed (requires new GPU training cycle)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Citations &amp; Audit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transparent (cites source &amp; page number)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Black box (cannot cite where it learned a fact)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Control (RBAC)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 (filter chunks by user permission role)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Impossible (all data baked into model weights)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41C2E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8862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THE EXECUTIVE DECISION RULE: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13308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factual accuracy, changing data, or access control? -&gt; Always choose RAG.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specialized format (e.g. strict SQL), custom persona, or specific medical terminology? -&gt; Use Fine-Tuning.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in class enterprise apps do both: Fine-tune for formatting, RAG for knowledge!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LEVELS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RAG: Naive to Agentic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enterprise architectures progress from simple lookup to autonomous research agents.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1: NAIVE RAG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Single-Pass Lookup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Query -&gt; Vector Match -&gt; Answer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Fails on ambiguous or multi-part questions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hallucination if search fetches noise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verification or reflection step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2: ADVANCED RAG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 &amp; Post-Retrieval Pipeline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290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Pre-retrieval query rewriting &amp; HyDE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Hybrid Search (Dense + BM25 Keywords)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Cross-Encoder Re-Ranking for Top-5 precision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Metadata filtering by tenant permissions
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27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3: AGENTIC RAG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Self-Correcting &amp; Autonomous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2121408"/>
            <a:ext cx="2286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2402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LLM decides IF retrieval is even needed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Corrective RAG (CRAG): Fallback to web search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Self-RAG: Evaluates if generated text is true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Multi-hop reasoning across SQL, APIs &amp; Docs
</a:t>
            </a:r>
            <a:endParaRPr lang="en-US" sz="850" dirty="0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563624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563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&amp;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Framework: The RAG Triad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objectively measure and benchmark RAG accuracy in production.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Context Relevance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search fetch the right information?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noise in retrieved chunks. If relevance is low, improve chunking, embeddings, or re-ranking.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Distracted by irrelevant sentences.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Groundedness (Faithfulness)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every statement backed by the context?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that every claim and number in the answer is strictly sourced from retrieved text—no wild guesses.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Model hallucinates unbacked facts.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Answer Relevance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 LLM answer the user’s actual question?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22402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the model does not dodge the inquiry, give partial answers, or wander off on tangents.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722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Failure: Polite refusal or evasive waffle.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41C2F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9776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Standard Production Evaluation Stack: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42245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Ragas: Automated synthetic evaluation datasets   • TruLens: Real-time hallucination feedback functions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DeepEval: Unit tests in CI/CD pipeline   • LangSmith / Phoenix: Tracing, latency &amp; token telemetry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2471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24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Critical Production Pitfalls &amp; Hard Fixes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real-world traps teams fall into when going from prototype to scale.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"Lost in the Middle" Trap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pay attention to top &amp; bottom of prompts, ignoring chunks in the center.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re-ranked chunks strategically: place top 2 critical excerpts at the very start and very end.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Permission Leakage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query the AI and accidentally see payroll, executive emails, or HR notes.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Role-Based Access Control (RBAC) via metadata pre-filtering before vector similarity search.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Dirty Data &amp; Garbage Extraction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Messy scanned PDFs and broken multi-column layouts destroy embedding quality.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specialized vision-based parsers (LlamaParse, Unstructured) that output clean Markdown tables.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&amp; API Cost Explosion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4107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Trap: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Querying vector stores + re-ranker + frontier LLM creates 4-6 second latency.
</a:t>
            </a:r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Fix: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Semantic Caching (Redis/GPTCache) for similar queries, parallelize retrieval, and stream tokens.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Enterprise RAG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production architectures delivering measurable business ROI.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 Enterprise Internal Copilot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70% fewer IT/HR tickets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Notion, Confluence, Jira, and Slack. Employees query company policies, technical runbooks, and benefits in natural language.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72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Autonomous Customer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865376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653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90% first-contact resolution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13969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from live product manuals, warranty guides, and return policies. Answers customer queries with clickable official help center links.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 Legal &amp; Contract Intelligence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10x faster review cycles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Audits 300+ page supplier agreements and NDAs. Instantly flags non-compliant clauses and compares vendor terms with exact line citations.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21A2D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08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Codebase Q&amp;A &amp; Onboarding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401568"/>
            <a:ext cx="3566160" cy="219456"/>
          </a:xfrm>
          <a:prstGeom prst="roundRect">
            <a:avLst>
              <a:gd name="adj" fmla="val 16667"/>
            </a:avLst>
          </a:prstGeom>
          <a:solidFill>
            <a:srgbClr val="19274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4015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ROI: 50% faster dev onboarding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6758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Indexes multi-repo microservices, API schemas, and git commits. Developers ask architectural questions and locate endpoints instantly.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90472" cy="237744"/>
          </a:xfrm>
          <a:prstGeom prst="roundRect">
            <a:avLst>
              <a:gd name="adj" fmla="val 23077"/>
            </a:avLst>
          </a:prstGeom>
          <a:solidFill>
            <a:srgbClr val="1A2640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490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FUTURE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Frontier: What Comes Next for RAG?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is evolving toward knowledge graphs, multi-modality, and proactive agency.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773168"/>
            <a:ext cx="8046720" cy="0"/>
          </a:xfrm>
          <a:prstGeom prst="line">
            <a:avLst/>
          </a:prstGeom>
          <a:noFill/>
          <a:ln w="10160">
            <a:solidFill>
              <a:srgbClr val="1C28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(RAG) | Enterprise Architecture Guide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GraphRAG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vector search with Knowledge Graphs to uncover complex thematic relationships across documents.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and generates across diagrams, blueprints, financial charts, video clips, and audio recordings.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21A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Long-Context Symbiosis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Million-token LLMs do not replace RAG; RAG acts as the precision filter to feed the long context window clean signal.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101A2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74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KEY TAKEAWAY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7307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"RAG converts creative language models into reliable, grounded, and auditable enterprise experts."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Open for Questions &amp; Discussion 💬</a:t>
            </a:r>
            <a:endParaRPr lang="en-US" sz="1400" dirty="0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(Retrieval-Augmented Generation) Architecture</dc:title>
  <dc:subject>PptxGenJS Presentation</dc:subject>
  <dc:creator>Enterprise AI Architect</dc:creator>
  <cp:lastModifiedBy>Enterprise AI Architect</cp:lastModifiedBy>
  <cp:revision>1</cp:revision>
  <dcterms:created xsi:type="dcterms:W3CDTF">2026-09-28T11:56:30Z</dcterms:created>
  <dcterms:modified xsi:type="dcterms:W3CDTF">2026-09-28T11:56:30Z</dcterms:modified>
</cp:coreProperties>
</file>