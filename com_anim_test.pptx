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8705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7680960" cy="3657600"/>
          </a:xfrm>
          <a:prstGeom prst="roundRect">
            <a:avLst>
              <a:gd name="adj" fmla="val 3750"/>
            </a:avLst>
          </a:prstGeom>
          <a:solidFill>
            <a:srgbClr val="0E1626"/>
          </a:solidFill>
          <a:ln w="15240">
            <a:solidFill>
              <a:srgbClr val="243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9728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1A264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97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AI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
</a:t>
            </a:r>
            <a:r>
              <a:rPr lang="en-US" sz="3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Generation (RAG)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Clear, Step-by-Step Architecture Guide to Connecting Foundation LLMs with Dynamic Enterprise Data.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338328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345643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100% Grounded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37033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hallucinations via citations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29000" y="338328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345643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Real-Time Data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37033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updates without retraining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760720" y="338328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345643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Enterprise Privacy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97880" y="37033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access control &amp; security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Foundation LLMs Fall Short Alone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Language Models are exceptional reasoning engines, but they cannot replace a database.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8720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STALE DATA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85800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Cutoff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Model training stops at a fixed snapshot
• Completely blind to recent updates &amp; events
• Cannot read today’s policy or price changes
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78608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78608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17" name="Text 15"/>
          <p:cNvSpPr/>
          <p:nvPr/>
        </p:nvSpPr>
        <p:spPr>
          <a:xfrm>
            <a:off x="2715768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18688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19" name="Text 17"/>
          <p:cNvSpPr/>
          <p:nvPr/>
        </p:nvSpPr>
        <p:spPr>
          <a:xfrm>
            <a:off x="3218688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FABRICATION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715768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15768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Predicts words statistically, does not verify facts
• Confidently generates fake citations &amp; numbers
• Creates severe business, legal &amp; financial risks
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08576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8576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4745736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48656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26" name="Text 24"/>
          <p:cNvSpPr/>
          <p:nvPr/>
        </p:nvSpPr>
        <p:spPr>
          <a:xfrm>
            <a:off x="5248656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BLIND SPOT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45736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Private Context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45736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access to internal wikis, Jira, or ERPs
• Cannot query proprietary codebases or contracts
• Public models cannot answer company questions
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638544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38544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31" name="Text 29"/>
          <p:cNvSpPr/>
          <p:nvPr/>
        </p:nvSpPr>
        <p:spPr>
          <a:xfrm>
            <a:off x="6775704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278624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33" name="Text 31"/>
          <p:cNvSpPr/>
          <p:nvPr/>
        </p:nvSpPr>
        <p:spPr>
          <a:xfrm>
            <a:off x="7278624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COST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775704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Expensive Retraining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775704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Retraining 70B+ models costs $100K+ in GPUs
• Fine-tuning takes weeks of engineering cycles
• Far too slow for dynamic, fast-moving teams
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8640" y="406908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16966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Core Principle: Do not force LLMs to memorize facts. Give them tools to retrieve facts, then reason over them.</a:t>
            </a:r>
            <a:endParaRPr lang="en-US" sz="1050" dirty="0"/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RAG? The "Open-Book Exam" Analogy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decouples reasoning from memorization by injecting verified reference text into the prompt.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886200" cy="2103120"/>
          </a:xfrm>
          <a:prstGeom prst="roundRect">
            <a:avLst>
              <a:gd name="adj" fmla="val 4348"/>
            </a:avLst>
          </a:prstGeom>
          <a:solidFill>
            <a:srgbClr val="17141E"/>
          </a:solidFill>
          <a:ln w="15240">
            <a:solidFill>
              <a:srgbClr val="4B1D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WITHOUT RAG: Closed-Book Exam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Student relies entirely on outdated memory
• Confidently guesses when memory is fuzzy
• Zero citations or exact sources provided
</a:t>
            </a:r>
            <a:r>
              <a:rPr lang="en-US" sz="9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Result: Plausible-sounding hallucinations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886200" cy="2103120"/>
          </a:xfrm>
          <a:prstGeom prst="roundRect">
            <a:avLst>
              <a:gd name="adj" fmla="val 4348"/>
            </a:avLst>
          </a:prstGeom>
          <a:solidFill>
            <a:srgbClr val="0F2220"/>
          </a:solidFill>
          <a:ln w="15240">
            <a:solidFill>
              <a:srgbClr val="0E59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WITH RAG: Open-Book Exam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Student is provided with the authoritative handbook
• Synthesizes facts directly from the retrieved text
• Cites exact paragraph, source, and page numbers
</a:t>
            </a:r>
            <a:r>
              <a:rPr lang="en-US" sz="9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Result: Grounded, verifiable, and audit-ready truth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121A2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94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RETRIEVE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40416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 top 3-5 relevant chunks from Vector DB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91840" y="370332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121A2D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3794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AUGMENT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29000" y="40416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 context + user query into smart prompt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35040" y="370332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121A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3794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GENERATE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72200" y="40416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generates answer with direct source citations</a:t>
            </a:r>
            <a:endParaRPr lang="en-US" sz="850" dirty="0"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0992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Complete RAG Architecture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breakdown of the Ingestion Pipeline (Top) and Real-Time Query Pipeline (Bottom).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0D1524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1: INGESTION &amp; INDEXING (Offline Preparation)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1691640"/>
            <a:ext cx="914400" cy="1051560"/>
          </a:xfrm>
          <a:prstGeom prst="roundRect">
            <a:avLst>
              <a:gd name="adj" fmla="val 6000"/>
            </a:avLst>
          </a:prstGeom>
          <a:solidFill>
            <a:srgbClr val="18243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3736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PDFs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7276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0" y="1691640"/>
            <a:ext cx="1005840" cy="1051560"/>
          </a:xfrm>
          <a:prstGeom prst="roundRect">
            <a:avLst>
              <a:gd name="adj" fmla="val 5455"/>
            </a:avLst>
          </a:prstGeom>
          <a:solidFill>
            <a:srgbClr val="18243C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173736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Clean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5292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08960" y="1691640"/>
            <a:ext cx="1143000" cy="1051560"/>
          </a:xfrm>
          <a:prstGeom prst="roundRect">
            <a:avLst>
              <a:gd name="adj" fmla="val 5217"/>
            </a:avLst>
          </a:prstGeom>
          <a:solidFill>
            <a:srgbClr val="241525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171907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Chunks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182112" y="1938528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3F1A2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82112" y="1938528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 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182112" y="2130552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3F1A2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82112" y="2130552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 2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182112" y="2322576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3F1A2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82112" y="2322576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 3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182112" y="2514600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3F1A2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82112" y="2514600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 4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27024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26280" y="1691640"/>
            <a:ext cx="1005840" cy="1051560"/>
          </a:xfrm>
          <a:prstGeom prst="roundRect">
            <a:avLst>
              <a:gd name="adj" fmla="val 5455"/>
            </a:avLst>
          </a:prstGeom>
          <a:solidFill>
            <a:srgbClr val="1E1C38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173736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5040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06440" y="1691640"/>
            <a:ext cx="1143000" cy="1051560"/>
          </a:xfrm>
          <a:prstGeom prst="roundRect">
            <a:avLst>
              <a:gd name="adj" fmla="val 5217"/>
            </a:avLst>
          </a:prstGeom>
          <a:solidFill>
            <a:srgbClr val="1126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171907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879592" y="1938528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1844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79592" y="1938528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1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5879592" y="2130552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1844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79592" y="2130552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2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5879592" y="2322576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1844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79592" y="2322576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3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5879592" y="2514600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1844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79592" y="2514600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4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696772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23760" y="160020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281E10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0" y="16459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🗄️ Knowledge Base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DB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269480" y="205740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Stores: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Embeddings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 Chunks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(Chroma, Pinecone)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57200" y="2971800"/>
            <a:ext cx="8229600" cy="1645920"/>
          </a:xfrm>
          <a:prstGeom prst="roundRect">
            <a:avLst>
              <a:gd name="adj" fmla="val 4444"/>
            </a:avLst>
          </a:prstGeom>
          <a:solidFill>
            <a:srgbClr val="0A142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30358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2: REAL-TIME QUERY &amp; GENERATION (Inference Pipeline)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40080" y="3337560"/>
            <a:ext cx="868680" cy="685800"/>
          </a:xfrm>
          <a:prstGeom prst="roundRect">
            <a:avLst>
              <a:gd name="adj" fmla="val 8000"/>
            </a:avLst>
          </a:prstGeom>
          <a:solidFill>
            <a:srgbClr val="13263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42900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User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527048" y="356616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737360" y="3337560"/>
            <a:ext cx="1005840" cy="685800"/>
          </a:xfrm>
          <a:prstGeom prst="roundRect">
            <a:avLst>
              <a:gd name="adj" fmla="val 8000"/>
            </a:avLst>
          </a:prstGeom>
          <a:solidFill>
            <a:srgbClr val="1E1C38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737360" y="34290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Embedding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761488" y="356616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971800" y="3337560"/>
            <a:ext cx="1005840" cy="685800"/>
          </a:xfrm>
          <a:prstGeom prst="roundRect">
            <a:avLst>
              <a:gd name="adj" fmla="val 8000"/>
            </a:avLst>
          </a:prstGeom>
          <a:solidFill>
            <a:srgbClr val="281E1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71800" y="34290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🔢 Query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995928" y="356616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206240" y="333756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2E1624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06240" y="34290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Semantic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(ANN)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863840" y="2788920"/>
            <a:ext cx="0" cy="41148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5486400" y="3200400"/>
            <a:ext cx="2377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5458968" y="356616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669280" y="333756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1026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69280" y="34290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Ranked Results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(Top-K Context)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922008" y="356616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132320" y="329184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221538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32320" y="33832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 LLM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Synthesis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178040" y="3822192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+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Query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-&gt; Reason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40080" y="4114800"/>
            <a:ext cx="6263640" cy="411480"/>
          </a:xfrm>
          <a:prstGeom prst="roundRect">
            <a:avLst>
              <a:gd name="adj" fmla="val 13333"/>
            </a:avLst>
          </a:prstGeom>
          <a:solidFill>
            <a:srgbClr val="10261C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22960" y="41605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Verified Answer returned to User: Grounded with exact citations and zero hallucination!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0992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PREPARATION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Ingestion &amp; Smart Chunking Strategies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you slice your documents dictates what your AI can find later.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&amp; SIMPLE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Fixed-Size Chunking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Uniform size (e.g. 500 chars, 50 overlap)
</a:t>
            </a: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 splitting sentences mid-thought
</a:t>
            </a: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raw text, logs, uniform prose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78608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15768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15" name="Text 13"/>
          <p:cNvSpPr/>
          <p:nvPr/>
        </p:nvSpPr>
        <p:spPr>
          <a:xfrm>
            <a:off x="2715768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 STANDARD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15768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Chunking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15768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Splits by paragraphs (\n\n) then sentences
</a:t>
            </a: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Slightly variable chunk lengths
</a:t>
            </a: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Articles, manuals, wikis, standard docs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08576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45736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20" name="Text 18"/>
          <p:cNvSpPr/>
          <p:nvPr/>
        </p:nvSpPr>
        <p:spPr>
          <a:xfrm>
            <a:off x="4745736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CONTENT-AWARE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45736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Chunking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45736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Splits when semantic topic shifts
</a:t>
            </a: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 multiple embedding calls
</a:t>
            </a: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Interviews, transcripts, dialogues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638544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75704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25" name="Text 23"/>
          <p:cNvSpPr/>
          <p:nvPr/>
        </p:nvSpPr>
        <p:spPr>
          <a:xfrm>
            <a:off x="6775704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HIERARCHICAL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775704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Document-Structure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75704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Preserves tables, Markdown headers &amp; code
</a:t>
            </a: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 dedicated parser per format
</a:t>
            </a: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10-K filings, API specs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402336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15203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09651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Why Chunk Overlap Matters: Always maintain 10-15% overlap between adjacent chunks. This prevents losing critical context when an important sentence crosses a split boundary.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VECTORS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Embeddings: Meaning in Math 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words and concepts become high-dimensional geometric coordinates.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886200" cy="3154680"/>
          </a:xfrm>
          <a:prstGeom prst="roundRect">
            <a:avLst>
              <a:gd name="adj" fmla="val 2899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 Vector Embedding?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 embedding model maps raw text into a 1536-dimensional array of numbers.
</a:t>
            </a: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Semantic Proximity:
</a:t>
            </a: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Words with similar meanings cluster close together in geometric space, regardless of exact phrasing:
</a:t>
            </a: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"Puppy" ≈ "Dog" ≈ "Canine"
</a:t>
            </a:r>
            <a:r>
              <a:rPr lang="en-US" sz="950" i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"King" - "Man" + "Woman" ≈ "Queen"
</a:t>
            </a: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Unrelated concepts ("Puppy" vs "Airplane") sit far apart with near-zero similarity.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886200" cy="3154680"/>
          </a:xfrm>
          <a:prstGeom prst="roundRect">
            <a:avLst>
              <a:gd name="adj" fmla="val 2899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Mathematical Similarity Engines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Cosine Similarity (Most Popular)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cos(θ) = (A · B) / (||A|| ||B||)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937760" y="2331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 angle between vectors. Length-invariant: a short tweet and a long article on the same topic score high!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37760" y="28072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Dot Product (Inner Product)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37760" y="299008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· B = ∑ (Ai × Bi)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937760" y="31729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Considers both direction and vector magnitude. Extremely fast on normalized embeddings.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37760" y="364845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Euclidean Distance (L2)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383133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d(A, B) = √∑(Ai - Bi)²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37760" y="401421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straight-line distance in space. Shorter distance indicates higher similarity.</a:t>
            </a:r>
            <a:endParaRPr lang="en-US" sz="800" dirty="0"/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STORAGE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Databases: The Long-Term Memory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Storing millions of vectors and searching them in milliseconds.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27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Vector Stores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Pinecone • Qdrant • Milvus • Chroma • Weaviate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 from scratch for ANN (Approximate Nearest Neighbor)
• Sub-10ms search latency across 100M+ vectors
• Built-in HNSW and IVF vector clustering algorithms
• Managed cloud clusters with automatic sharding
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27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 &amp; Hybrid Stores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(pgvector) • OpenSearch • Elasticsearch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1945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Store vectors alongside standard SQL relational tables
• Enables ACID transactions and strict foreign keys
• Easy to adopt if your company already runs Postgres
• Perfect for datasets up to 10 million vectors
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776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Production Must-Have: Metadata Filtering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22452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search the whole database blindly. Always filter vectors by metadata like user_role, department_id, and document_date at query time for strict enterprise security!</a:t>
            </a:r>
            <a:endParaRPr lang="en-US" sz="900" dirty="0"/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4416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344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SEARCH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Retrieval: Beyond Simple Vector Search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pure vector search fails on product codes, acronyms, and names—and how to fix it.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Search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572768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57276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OF BOTH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315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Combines Dense Vectors (semantic concepts) + BM25 (exact keyword match).
</a:t>
            </a: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Fixes vector blind spots for exact part numbers, names, and error codes.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Cross-Encoder Re-Ranking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1572768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157276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 BOOST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463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retrieval gets Top 50; Re-Ranker scores actual relevance for Top 5.
</a:t>
            </a: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Massively boosts precision by analyzing query and chunk together.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108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Expansion &amp; HyDE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3108960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310896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REWRITE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31520" y="34107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Hypothetical Document Embeddings: LLM creates fake answer to search with.
</a:t>
            </a: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Bridges the gap between short vague queries and long informative documents.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108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Compression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0" y="3108960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310896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SAVER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46320" y="34107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Strips out filler sentences before passing the chunk to the LLM.
</a:t>
            </a: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Saves context window tokens and eliminates misleading background noise.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36776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636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5: GENERATION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Augmentation &amp; Grounded Response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exact formula that prevents hallucinations during the final LLM step.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8046720" cy="2194560"/>
          </a:xfrm>
          <a:prstGeom prst="roundRect">
            <a:avLst>
              <a:gd name="adj" fmla="val 416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SYSTEM PROMPT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rules: "Answer ONLY using provided context. If unknown, state unknown."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70048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RETRIEVED CHUNKS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79776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Top-K facts: [Source: HR_Policy_2026.pdf, Page 4] "Maternity leave is 16 weeks."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08576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USER QUESTION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18304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Input: "How many weeks of parental leave do employees get in 2026?"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547104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38544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 GROUNDED ANSWER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56832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 "Employees receive 16 weeks [1]." (Zero guesswork, full citation)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12252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8862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The 3 Non-Negotiable Generation Guardrails: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13308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Source Attribution: Force the model to append [Source ID] to every factual claim.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Fallback Honesty: Explicitly forbid guessing when retrieved chunks do not contain the answer.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Output Structuring: Enforce JSON or Markdown tables for consistent UI integration.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905256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05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vs. Fine-Tuning: When to Use Which?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Fine-tuning trains how a model speaks; RAG provides what the model knows.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20116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CRITERIA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E5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RETRIEVAL-AUGMENTED GEN (RAG)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366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FINE-TUNING (PEFT / LoRA)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 Purpose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E5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Adding dynamic facts, knowledge &amp; documents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366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Teaching style, tone, format &amp; domain jargon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Freshness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Instant (update database record in seconds)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Delayed (requires new GPU training cycle)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Citations &amp; Audit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 transparent (cites source &amp; page number)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Black box (cannot cite where it learned a fact)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Access Control (RBAC)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Easy (filter chunks by user permission role)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Impossible (all data baked into model weights)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79476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141C2E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8862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THE EXECUTIVE DECISION RULE:</a:t>
            </a:r>
            <a:endParaRPr lang="en-US" sz="1000" dirty="0"/>
          </a:p>
        </p:txBody>
      </p:sp>
      <p:sp>
        <p:nvSpPr>
          <p:cNvPr id="8" name="Text 8"/>
          <p:cNvSpPr/>
          <p:nvPr/>
        </p:nvSpPr>
        <p:spPr>
          <a:xfrm>
            <a:off x="731520" y="413308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factual accuracy, changing data, or access control? -&gt; Always choose RAG.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specialized format (e.g. strict SQL), custom persona, or specific medical terminology? -&gt; Use Fine-Tuning.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in class enterprise apps do both: Fine-tune for formatting, RAG for knowledge!</a:t>
            </a:r>
            <a:endParaRPr lang="en-US" sz="850" dirty="0"/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MATURITY LEVELS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Evolution of RAG: Naive to Agentic Systems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enterprise architectures progress from simple lookup to autonomous research agents.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21A2D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27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1: NAIVE RAG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Single-Pass Lookup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5800" y="2121408"/>
            <a:ext cx="228600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402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 Query -&gt; Vector Match -&gt; Answer
• Fails on ambiguous or multi-part questions
• High hallucination if search fetches noise
• No verification or reflection step
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27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2: ADVANCED RAG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 &amp; Post-Retrieval Pipeline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29000" y="2121408"/>
            <a:ext cx="228600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2402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Pre-retrieval query rewriting &amp; HyDE
• Hybrid Search (Dense + BM25 Keywords)
• Cross-Encoder Re-Ranking for Top-5 precision
• Metadata filtering by tenant permissions
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5040" y="146304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21A2D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627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3: AGENTIC RAG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72200" y="1874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Self-Correcting &amp; Autonomous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72200" y="2121408"/>
            <a:ext cx="228600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2402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LLM decides IF retrieval is even needed
• Corrective RAG (CRAG): Fallback to web search
• Self-RAG: Evaluates if generated text is true
• Multi-hop reasoning across SQL, APIs &amp; Docs
</a:t>
            </a:r>
            <a:endParaRPr lang="en-US" sz="850" dirty="0"/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563624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563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&amp; TESTING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Framework: The RAG Triad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objectively measure and benchmark RAG accuracy in production.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Context Relevance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 the search fetch the right information?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 noise in retrieved chunks. If relevance is low, improve chunking, embeddings, or re-ranking.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Distracted by irrelevant sentences.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Groundedness (Faithfulness)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every statement backed by the context?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that every claim and number in the answer is strictly sourced from retrieved text—no wild guesses.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290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Model hallucinates unbacked facts.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350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Answer Relevance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 the LLM answer the user’s actual question?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722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Ensures the model does not dodge the inquiry, give partial answers, or wander off on tangents.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722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Polite refusal or evasive waffle.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141C2F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9776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🛠️ Standard Production Evaluation Stack: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31520" y="422452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Ragas: Automated synthetic evaluation datasets   • TruLens: Real-time hallucination feedback functions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DeepEval: Unit tests in CI/CD pipeline   • LangSmith / Phoenix: Tracing, latency &amp; token telemetry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Critical Production Pitfalls &amp; Hard Fixes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real-world traps teams fall into when going from prototype to scale.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"Lost in the Middle" Trap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LLMs pay attention to top &amp; bottom of prompts, ignoring chunks in the center.
</a:t>
            </a: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 re-ranked chunks strategically: place top 2 critical excerpts at the very start and very end.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Permission Leakage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Employees query the AI and accidentally see payroll, executive emails, or HR notes.
</a:t>
            </a: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 Role-Based Access Control (RBAC) via metadata pre-filtering before vector similarity search.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Dirty Data &amp; Garbage Extraction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34107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Messy scanned PDFs and broken multi-column layouts destroy embedding quality.
</a:t>
            </a: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specialized vision-based parsers (LlamaParse, Unstructured) that output clean Markdown tables.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 &amp; API Cost Explosion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34107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Querying vector stores + re-ranker + frontier LLM creates 4-6 second latency.
</a:t>
            </a: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Semantic Caching (Redis/GPTCache) for similar queries, parallelize retrieval, and stream tokens.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Enterprise RAG Applications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production architectures delivering measurable business ROI.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 Enterprise Internal Copilot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865376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6537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70% fewer IT/HR tickets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213969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 to Notion, Confluence, Jira, and Slack. Employees query company policies, technical runbooks, and benefits in natural language.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Autonomous Customer Support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865376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86537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90% first-contact resolution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0" y="213969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Retrieves from live product manuals, warranty guides, and return policies. Answers customer queries with clickable official help center links.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⚖️  Legal &amp; Contract Intelligence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401568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0156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10x faster review cycles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367588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Audits 300+ page supplier agreements and NDAs. Instantly flags non-compliant clauses and compares vendor terms with exact line citations.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💻  Codebase Q&amp;A &amp; Onboarding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401568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40156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50% faster dev onboarding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46320" y="367588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Indexes multi-repo microservices, API schemas, and git commits. Developers ask architectural questions and locate endpoints instantly.</a:t>
            </a:r>
            <a:endParaRPr lang="en-US" sz="850" dirty="0"/>
          </a:p>
        </p:txBody>
      </p:sp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9047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90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&amp; FUTURE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Frontier: What Comes Next for RAG?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is evolving toward knowledge graphs, multi-modality, and proactive agency.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21A2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GraphRAG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Combines vector search with Knowledge Graphs to uncover complex thematic relationships across documents.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21A2D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Multimodal RAG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9202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Searches and generates across diagrams, blueprints, financial charts, video clips, and audio recordings.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21A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Long-Context Symbiosis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19202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Million-token LLMs do not replace RAG; RAG acts as the precision filter to feed the long context window clean signal.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8046720" cy="1280160"/>
          </a:xfrm>
          <a:prstGeom prst="roundRect">
            <a:avLst>
              <a:gd name="adj" fmla="val 7143"/>
            </a:avLst>
          </a:prstGeom>
          <a:solidFill>
            <a:srgbClr val="101A2F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4747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🌟 KEY TAKEAWAY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73075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"RAG converts creative language models into reliable, grounded, and auditable enterprise experts."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 Open for Questions &amp; Discussion 💬</a:t>
            </a:r>
            <a:endParaRPr lang="en-US" sz="1400" dirty="0"/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2597</Words>
  <Application>Microsoft Office PowerPoint</Application>
  <PresentationFormat>On-screen Show (16:9)</PresentationFormat>
  <Paragraphs>289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(Retrieval-Augmented Generation) Architecture</dc:title>
  <dc:subject>PptxGenJS Presentation</dc:subject>
  <dc:creator>Enterprise AI Architect</dc:creator>
  <cp:lastModifiedBy>Aman Gupta</cp:lastModifiedBy>
  <cp:revision>1</cp:revision>
  <dcterms:created xsi:type="dcterms:W3CDTF">2026-09-28T11:56:30Z</dcterms:created>
  <dcterms:modified xsi:type="dcterms:W3CDTF">2026-09-28T12:44:02Z</dcterms:modified>
</cp:coreProperties>
</file>