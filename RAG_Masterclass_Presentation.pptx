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560320" cy="256032"/>
          </a:xfrm>
          <a:prstGeom prst="roundRect">
            <a:avLst>
              <a:gd name="adj" fmla="val 35714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connect foundation LLMs to your private data for accurate, real-time, and hallucination-free answers.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3310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85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61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Enterprise Privacy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4261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access control &amp; security</a:t>
            </a:r>
            <a:endParaRPr lang="en-US" sz="850" dirty="0"/>
          </a:p>
        </p:txBody>
      </p:sp>
      <p:pic>
        <p:nvPicPr>
          <p:cNvPr id="15" name="Image 0" descr="C:/Users/Aman/.gemini/antigravity/brain/20e5254c-6dde-4596-8e5e-c6e8fa9fa571/rag_hero_banner_17905961255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640080"/>
            <a:ext cx="3840480" cy="3840480"/>
          </a:xfrm>
          <a:prstGeom prst="ellipse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46320" y="640080"/>
            <a:ext cx="3840480" cy="3840480"/>
          </a:xfrm>
          <a:prstGeom prst="rect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63624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SPACE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Raw LLMs Fail in the Real World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models are brilliant reasoning engines, but they cannot replace a database.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6888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training stops at a fixed date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Unaware of recent events or policy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 or live records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6888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FACTS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truth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fabricates non-existent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legal, compliance &amp; reputational risk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6888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CONTEXT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Data Blind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company intranet &amp;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internal codebases or CRMs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questions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6888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 in GPUs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Fine-tuning takes weeks of engineering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Too slow and rigid for dynamic businesses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87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Key Insight: Do not force LLMs to memorize facts. Use them to reason over retrieved facts.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97864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Concept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authoritative references into the prompt.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memory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guesses when unsure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citations or page numbers provided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given the exact reference manual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Reads and synthesizes only the verified facts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Cites exact paragraph, source &amp; page numbers
</a:t>
            </a:r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transparent &amp; verifiable truth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RETRIEVE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top 3-5 relevant chunks from Vector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AUGMENT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context + user query into smart prompt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generates answer with direct source citations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709928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RAG Architecture: End-to-End 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fundamental workflows: Ingestion (Indexing) and Query (Retrieval &amp; Synthesis).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pic>
        <p:nvPicPr>
          <p:cNvPr id="8" name="Image 0" descr="C:/Users/Aman/.gemini/antigravity/brain/20e5254c-6dde-4596-8e5e-c6e8fa9fa571/.user_uploaded/media_1790596018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120640" cy="315468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417320"/>
            <a:ext cx="5120640" cy="3154680"/>
          </a:xfrm>
          <a:prstGeom prst="rect">
            <a:avLst/>
          </a:prstGeom>
          <a:noFill/>
          <a:ln w="15240">
            <a:solidFill>
              <a:srgbClr val="2230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41732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218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5361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43600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Raw PDFs / Docs extracted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Split into text chunks (Chunk 1..4)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Embedding API converts to vectors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Store in Vector DB (Pinecone/Chroma)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306324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218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1821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Query &amp; Generation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0" y="34290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submits question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Query converted to embedding vector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Semantic search ranks Top-K chunks
</a:t>
            </a:r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LLM reads context -&gt; generates Answer!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709928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&amp; FAST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Ideal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Ideal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Ideal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custom parsers per file type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Ideal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context when an important sentence crosses a boundary.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Turns raw text into an array of 1536+ numbers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Example: [0.012, -0.045, 0.891, ...]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 cluster close in space
</a:t>
            </a:r>
            <a:pPr indent="0" marL="0">
              <a:buNone/>
            </a:pPr>
            <a:r>
              <a:rPr lang="en-US" sz="9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is near "Dog", far from "Toaster"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Similarity Metrics: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Cosine Similarity: Measures angle between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Dot Product: Angle + vector magnitude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Euclidean (L2): Direct straight-line distance</a:t>
            </a:r>
            <a:endParaRPr lang="en-US" sz="900" dirty="0"/>
          </a:p>
        </p:txBody>
      </p:sp>
      <p:pic>
        <p:nvPicPr>
          <p:cNvPr id="11" name="Image 0" descr="C:/Users/Aman/.gemini/antigravity/brain/20e5254c-6dde-4596-8e5e-c6e8fa9fa571/vector_embeddings_space_17905961491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3154680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54880" y="1463040"/>
            <a:ext cx="3840480" cy="3154680"/>
          </a:xfrm>
          <a:prstGeom prst="rect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security!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344168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36776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905256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826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826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826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Corrective RAG (CRAG): Fallback to web search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Self-RAG: Evaluates if generated text is true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Multi-hop reasoning across SQL, APIs &amp; Docs
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63624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24712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90472" cy="237744"/>
          </a:xfrm>
          <a:prstGeom prst="roundRect">
            <a:avLst>
              <a:gd name="adj" fmla="val 30769"/>
            </a:avLst>
          </a:prstGeom>
          <a:solidFill>
            <a:srgbClr val="1A23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B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8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82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8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Masterclass</dc:title>
  <dc:subject>A Clear, Visual, and Practical Guide to Retrieval-Augmented Generation</dc:subject>
  <dc:creator>Enterprise AI Architect</dc:creator>
  <cp:lastModifiedBy>Enterprise AI Architect</cp:lastModifiedBy>
  <cp:revision>1</cp:revision>
  <dcterms:created xsi:type="dcterms:W3CDTF">2026-09-28T11:50:58Z</dcterms:created>
  <dcterms:modified xsi:type="dcterms:W3CDTF">2026-09-28T11:50:58Z</dcterms:modified>
</cp:coreProperties>
</file>