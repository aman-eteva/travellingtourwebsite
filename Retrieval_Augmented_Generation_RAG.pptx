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F1D"/>
        </a:solidFill>
      </p:bgPr>
    </p:bg>
    <p:spTree>
      <p:nvGrpSpPr>
        <p:cNvPr id="1" name=""/>
        <p:cNvGrpSpPr/>
        <p:nvPr/>
      </p:nvGrpSpPr>
      <p:grpSpPr>
        <a:xfrm>
          <a:off x="0" y="0"/>
          <a:ext cx="0" cy="0"/>
          <a:chOff x="0" y="0"/>
          <a:chExt cx="0" cy="0"/>
        </a:xfrm>
      </p:grpSpPr>
      <p:sp>
        <p:nvSpPr>
          <p:cNvPr id="2" name="Shape 0"/>
          <p:cNvSpPr/>
          <p:nvPr/>
        </p:nvSpPr>
        <p:spPr>
          <a:xfrm>
            <a:off x="731520" y="731520"/>
            <a:ext cx="7680960" cy="3657600"/>
          </a:xfrm>
          <a:prstGeom prst="roundRect">
            <a:avLst>
              <a:gd name="adj" fmla="val 5000"/>
            </a:avLst>
          </a:prstGeom>
          <a:solidFill>
            <a:srgbClr val="0F172A"/>
          </a:solidFill>
          <a:ln w="19050">
            <a:solidFill>
              <a:srgbClr val="24324F"/>
            </a:solidFill>
            <a:prstDash val="solid"/>
          </a:ln>
        </p:spPr>
      </p:sp>
      <p:sp>
        <p:nvSpPr>
          <p:cNvPr id="3" name="Shape 1"/>
          <p:cNvSpPr/>
          <p:nvPr/>
        </p:nvSpPr>
        <p:spPr>
          <a:xfrm>
            <a:off x="1097280" y="1097280"/>
            <a:ext cx="2926080" cy="292608"/>
          </a:xfrm>
          <a:prstGeom prst="roundRect">
            <a:avLst>
              <a:gd name="adj" fmla="val 31250"/>
            </a:avLst>
          </a:prstGeom>
          <a:solidFill>
            <a:srgbClr val="1E293B"/>
          </a:solidFill>
          <a:ln w="15240">
            <a:solidFill>
              <a:srgbClr val="00D2FF"/>
            </a:solidFill>
            <a:prstDash val="solid"/>
          </a:ln>
        </p:spPr>
      </p:sp>
      <p:sp>
        <p:nvSpPr>
          <p:cNvPr id="4" name="Text 2"/>
          <p:cNvSpPr/>
          <p:nvPr/>
        </p:nvSpPr>
        <p:spPr>
          <a:xfrm>
            <a:off x="1097280" y="1097280"/>
            <a:ext cx="2926080" cy="292608"/>
          </a:xfrm>
          <a:prstGeom prst="rect">
            <a:avLst/>
          </a:prstGeom>
          <a:noFill/>
          <a:ln/>
        </p:spPr>
        <p:txBody>
          <a:bodyPr wrap="square" rtlCol="0" anchor="ctr"/>
          <a:lstStyle/>
          <a:p>
            <a:pPr algn="ctr" indent="0" marL="0">
              <a:buNone/>
            </a:pPr>
            <a:r>
              <a:rPr lang="en-US" sz="1000" b="1" dirty="0">
                <a:solidFill>
                  <a:srgbClr val="00D2FF"/>
                </a:solidFill>
                <a:latin typeface="Segoe UI" pitchFamily="34" charset="0"/>
                <a:ea typeface="Segoe UI" pitchFamily="34" charset="-122"/>
                <a:cs typeface="Segoe UI" pitchFamily="34" charset="-120"/>
              </a:rPr>
              <a:t>ENTERPRISE AI ARCHITECTURE</a:t>
            </a:r>
            <a:endParaRPr lang="en-US" sz="1000" dirty="0"/>
          </a:p>
        </p:txBody>
      </p:sp>
      <p:sp>
        <p:nvSpPr>
          <p:cNvPr id="5" name="Text 3"/>
          <p:cNvSpPr/>
          <p:nvPr/>
        </p:nvSpPr>
        <p:spPr>
          <a:xfrm>
            <a:off x="1097280" y="1463040"/>
            <a:ext cx="6949440" cy="1188720"/>
          </a:xfrm>
          <a:prstGeom prst="rect">
            <a:avLst/>
          </a:prstGeom>
          <a:noFill/>
          <a:ln/>
        </p:spPr>
        <p:txBody>
          <a:bodyPr wrap="square" rtlCol="0" anchor="ctr"/>
          <a:lstStyle/>
          <a:p>
            <a:pPr indent="0" marL="0">
              <a:buNone/>
            </a:pPr>
            <a:r>
              <a:rPr lang="en-US" sz="3400" b="1" dirty="0">
                <a:solidFill>
                  <a:srgbClr val="FFFFFF"/>
                </a:solidFill>
                <a:latin typeface="Segoe UI" pitchFamily="34" charset="0"/>
                <a:ea typeface="Segoe UI" pitchFamily="34" charset="-122"/>
                <a:cs typeface="Segoe UI" pitchFamily="34" charset="-120"/>
              </a:rPr>
              <a:t>Retrieval-Augmented
</a:t>
            </a:r>
            <a:pPr indent="0" marL="0">
              <a:buNone/>
            </a:pPr>
            <a:r>
              <a:rPr lang="en-US" sz="3400" b="1" dirty="0">
                <a:solidFill>
                  <a:srgbClr val="00D2FF"/>
                </a:solidFill>
                <a:latin typeface="Segoe UI" pitchFamily="34" charset="0"/>
                <a:ea typeface="Segoe UI" pitchFamily="34" charset="-122"/>
                <a:cs typeface="Segoe UI" pitchFamily="34" charset="-120"/>
              </a:rPr>
              <a:t>Generation (RAG)</a:t>
            </a:r>
            <a:endParaRPr lang="en-US" sz="3400" dirty="0"/>
          </a:p>
        </p:txBody>
      </p:sp>
      <p:sp>
        <p:nvSpPr>
          <p:cNvPr id="6" name="Text 4"/>
          <p:cNvSpPr/>
          <p:nvPr/>
        </p:nvSpPr>
        <p:spPr>
          <a:xfrm>
            <a:off x="1097280" y="2743200"/>
            <a:ext cx="6949440" cy="457200"/>
          </a:xfrm>
          <a:prstGeom prst="rect">
            <a:avLst/>
          </a:prstGeom>
          <a:noFill/>
          <a:ln/>
        </p:spPr>
        <p:txBody>
          <a:bodyPr wrap="square" rtlCol="0" anchor="ctr"/>
          <a:lstStyle/>
          <a:p>
            <a:pPr indent="0" marL="0">
              <a:buNone/>
            </a:pPr>
            <a:r>
              <a:rPr lang="en-US" sz="1400" dirty="0">
                <a:solidFill>
                  <a:srgbClr val="94A3B8"/>
                </a:solidFill>
                <a:latin typeface="Segoe UI" pitchFamily="34" charset="0"/>
                <a:ea typeface="Segoe UI" pitchFamily="34" charset="-122"/>
                <a:cs typeface="Segoe UI" pitchFamily="34" charset="-120"/>
              </a:rPr>
              <a:t>Bridging the Gap Between Foundation LLMs and Dynamic Enterprise Knowledge with Verifiable Truth &amp; Zero Retraining</a:t>
            </a:r>
            <a:endParaRPr lang="en-US" sz="1400" dirty="0"/>
          </a:p>
        </p:txBody>
      </p:sp>
      <p:sp>
        <p:nvSpPr>
          <p:cNvPr id="7" name="Shape 5"/>
          <p:cNvSpPr/>
          <p:nvPr/>
        </p:nvSpPr>
        <p:spPr>
          <a:xfrm>
            <a:off x="1097280" y="3383280"/>
            <a:ext cx="2240280" cy="777240"/>
          </a:xfrm>
          <a:prstGeom prst="roundRect">
            <a:avLst>
              <a:gd name="adj" fmla="val 14118"/>
            </a:avLst>
          </a:prstGeom>
          <a:solidFill>
            <a:srgbClr val="141C2F"/>
          </a:solidFill>
          <a:ln w="12700">
            <a:solidFill>
              <a:srgbClr val="24324F"/>
            </a:solidFill>
            <a:prstDash val="solid"/>
          </a:ln>
        </p:spPr>
      </p:sp>
      <p:sp>
        <p:nvSpPr>
          <p:cNvPr id="8" name="Text 6"/>
          <p:cNvSpPr/>
          <p:nvPr/>
        </p:nvSpPr>
        <p:spPr>
          <a:xfrm>
            <a:off x="1234440" y="3474720"/>
            <a:ext cx="1965960" cy="256032"/>
          </a:xfrm>
          <a:prstGeom prst="rect">
            <a:avLst/>
          </a:prstGeom>
          <a:noFill/>
          <a:ln/>
        </p:spPr>
        <p:txBody>
          <a:bodyPr wrap="square" rtlCol="0" anchor="ctr"/>
          <a:lstStyle/>
          <a:p>
            <a:pPr indent="0" marL="0">
              <a:buNone/>
            </a:pPr>
            <a:r>
              <a:rPr lang="en-US" sz="1100" b="1" dirty="0">
                <a:solidFill>
                  <a:srgbClr val="10B981"/>
                </a:solidFill>
                <a:latin typeface="Segoe UI" pitchFamily="34" charset="0"/>
                <a:ea typeface="Segoe UI" pitchFamily="34" charset="-122"/>
                <a:cs typeface="Segoe UI" pitchFamily="34" charset="-120"/>
              </a:rPr>
              <a:t>Ground Truth</a:t>
            </a:r>
            <a:endParaRPr lang="en-US" sz="1100" dirty="0"/>
          </a:p>
        </p:txBody>
      </p:sp>
      <p:sp>
        <p:nvSpPr>
          <p:cNvPr id="9" name="Text 7"/>
          <p:cNvSpPr/>
          <p:nvPr/>
        </p:nvSpPr>
        <p:spPr>
          <a:xfrm>
            <a:off x="1234440" y="3749040"/>
            <a:ext cx="1965960" cy="347472"/>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Eliminate hallucinations via citations</a:t>
            </a:r>
            <a:endParaRPr lang="en-US" sz="950" dirty="0"/>
          </a:p>
        </p:txBody>
      </p:sp>
      <p:sp>
        <p:nvSpPr>
          <p:cNvPr id="10" name="Shape 8"/>
          <p:cNvSpPr/>
          <p:nvPr/>
        </p:nvSpPr>
        <p:spPr>
          <a:xfrm>
            <a:off x="3429000" y="3383280"/>
            <a:ext cx="2240280" cy="777240"/>
          </a:xfrm>
          <a:prstGeom prst="roundRect">
            <a:avLst>
              <a:gd name="adj" fmla="val 14118"/>
            </a:avLst>
          </a:prstGeom>
          <a:solidFill>
            <a:srgbClr val="141C2F"/>
          </a:solidFill>
          <a:ln w="12700">
            <a:solidFill>
              <a:srgbClr val="24324F"/>
            </a:solidFill>
            <a:prstDash val="solid"/>
          </a:ln>
        </p:spPr>
      </p:sp>
      <p:sp>
        <p:nvSpPr>
          <p:cNvPr id="11" name="Text 9"/>
          <p:cNvSpPr/>
          <p:nvPr/>
        </p:nvSpPr>
        <p:spPr>
          <a:xfrm>
            <a:off x="3566160" y="3474720"/>
            <a:ext cx="1965960" cy="256032"/>
          </a:xfrm>
          <a:prstGeom prst="rect">
            <a:avLst/>
          </a:prstGeom>
          <a:noFill/>
          <a:ln/>
        </p:spPr>
        <p:txBody>
          <a:bodyPr wrap="square" rtlCol="0" anchor="ctr"/>
          <a:lstStyle/>
          <a:p>
            <a:pPr indent="0" marL="0">
              <a:buNone/>
            </a:pPr>
            <a:r>
              <a:rPr lang="en-US" sz="1100" b="1" dirty="0">
                <a:solidFill>
                  <a:srgbClr val="3B82F6"/>
                </a:solidFill>
                <a:latin typeface="Segoe UI" pitchFamily="34" charset="0"/>
                <a:ea typeface="Segoe UI" pitchFamily="34" charset="-122"/>
                <a:cs typeface="Segoe UI" pitchFamily="34" charset="-120"/>
              </a:rPr>
              <a:t>Dynamic Knowledge</a:t>
            </a:r>
            <a:endParaRPr lang="en-US" sz="1100" dirty="0"/>
          </a:p>
        </p:txBody>
      </p:sp>
      <p:sp>
        <p:nvSpPr>
          <p:cNvPr id="12" name="Text 10"/>
          <p:cNvSpPr/>
          <p:nvPr/>
        </p:nvSpPr>
        <p:spPr>
          <a:xfrm>
            <a:off x="3566160" y="3749040"/>
            <a:ext cx="1965960" cy="347472"/>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Real-time updates without retraining</a:t>
            </a:r>
            <a:endParaRPr lang="en-US" sz="950" dirty="0"/>
          </a:p>
        </p:txBody>
      </p:sp>
      <p:sp>
        <p:nvSpPr>
          <p:cNvPr id="13" name="Shape 11"/>
          <p:cNvSpPr/>
          <p:nvPr/>
        </p:nvSpPr>
        <p:spPr>
          <a:xfrm>
            <a:off x="5760720" y="3383280"/>
            <a:ext cx="2240280" cy="777240"/>
          </a:xfrm>
          <a:prstGeom prst="roundRect">
            <a:avLst>
              <a:gd name="adj" fmla="val 14118"/>
            </a:avLst>
          </a:prstGeom>
          <a:solidFill>
            <a:srgbClr val="141C2F"/>
          </a:solidFill>
          <a:ln w="12700">
            <a:solidFill>
              <a:srgbClr val="24324F"/>
            </a:solidFill>
            <a:prstDash val="solid"/>
          </a:ln>
        </p:spPr>
      </p:sp>
      <p:sp>
        <p:nvSpPr>
          <p:cNvPr id="14" name="Text 12"/>
          <p:cNvSpPr/>
          <p:nvPr/>
        </p:nvSpPr>
        <p:spPr>
          <a:xfrm>
            <a:off x="5897880" y="3474720"/>
            <a:ext cx="1965960" cy="256032"/>
          </a:xfrm>
          <a:prstGeom prst="rect">
            <a:avLst/>
          </a:prstGeom>
          <a:noFill/>
          <a:ln/>
        </p:spPr>
        <p:txBody>
          <a:bodyPr wrap="square" rtlCol="0" anchor="ctr"/>
          <a:lstStyle/>
          <a:p>
            <a:pPr indent="0" marL="0">
              <a:buNone/>
            </a:pPr>
            <a:r>
              <a:rPr lang="en-US" sz="1100" b="1" dirty="0">
                <a:solidFill>
                  <a:srgbClr val="8B5CF6"/>
                </a:solidFill>
                <a:latin typeface="Segoe UI" pitchFamily="34" charset="0"/>
                <a:ea typeface="Segoe UI" pitchFamily="34" charset="-122"/>
                <a:cs typeface="Segoe UI" pitchFamily="34" charset="-120"/>
              </a:rPr>
              <a:t>Enterprise Security</a:t>
            </a:r>
            <a:endParaRPr lang="en-US" sz="1100" dirty="0"/>
          </a:p>
        </p:txBody>
      </p:sp>
      <p:sp>
        <p:nvSpPr>
          <p:cNvPr id="15" name="Text 13"/>
          <p:cNvSpPr/>
          <p:nvPr/>
        </p:nvSpPr>
        <p:spPr>
          <a:xfrm>
            <a:off x="5897880" y="3749040"/>
            <a:ext cx="1965960" cy="347472"/>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Strict RBAC &amp; data isolation</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F1D"/>
        </a:solidFill>
      </p:bgPr>
    </p:bg>
    <p:spTree>
      <p:nvGrpSpPr>
        <p:cNvPr id="1" name=""/>
        <p:cNvGrpSpPr/>
        <p:nvPr/>
      </p:nvGrpSpPr>
      <p:grpSpPr>
        <a:xfrm>
          <a:off x="0" y="0"/>
          <a:ext cx="0" cy="0"/>
          <a:chOff x="0" y="0"/>
          <a:chExt cx="0" cy="0"/>
        </a:xfrm>
      </p:grpSpPr>
      <p:sp>
        <p:nvSpPr>
          <p:cNvPr id="2" name="Shape 0"/>
          <p:cNvSpPr/>
          <p:nvPr/>
        </p:nvSpPr>
        <p:spPr>
          <a:xfrm>
            <a:off x="731520" y="347472"/>
            <a:ext cx="1641348" cy="256032"/>
          </a:xfrm>
          <a:prstGeom prst="roundRect">
            <a:avLst>
              <a:gd name="adj" fmla="val 35714"/>
            </a:avLst>
          </a:prstGeom>
          <a:solidFill>
            <a:srgbClr val="1E293B"/>
          </a:solidFill>
          <a:ln w="12700">
            <a:solidFill>
              <a:srgbClr val="00D2FF"/>
            </a:solidFill>
            <a:prstDash val="solid"/>
          </a:ln>
        </p:spPr>
      </p:sp>
      <p:sp>
        <p:nvSpPr>
          <p:cNvPr id="3" name="Text 1"/>
          <p:cNvSpPr/>
          <p:nvPr/>
        </p:nvSpPr>
        <p:spPr>
          <a:xfrm>
            <a:off x="731520" y="347472"/>
            <a:ext cx="1641348" cy="256032"/>
          </a:xfrm>
          <a:prstGeom prst="rect">
            <a:avLst/>
          </a:prstGeom>
          <a:noFill/>
          <a:ln/>
        </p:spPr>
        <p:txBody>
          <a:bodyPr wrap="square" rtlCol="0" anchor="ctr"/>
          <a:lstStyle/>
          <a:p>
            <a:pPr algn="ctr" indent="0" marL="0">
              <a:buNone/>
            </a:pPr>
            <a:r>
              <a:rPr lang="en-US" sz="900" b="1" dirty="0">
                <a:solidFill>
                  <a:srgbClr val="00D2FF"/>
                </a:solidFill>
                <a:latin typeface="Segoe UI" pitchFamily="34" charset="0"/>
                <a:ea typeface="Segoe UI" pitchFamily="34" charset="-122"/>
                <a:cs typeface="Segoe UI" pitchFamily="34" charset="-120"/>
              </a:rPr>
              <a:t>THE PROBLEM SPACE</a:t>
            </a:r>
            <a:endParaRPr lang="en-US" sz="900" dirty="0"/>
          </a:p>
        </p:txBody>
      </p:sp>
      <p:sp>
        <p:nvSpPr>
          <p:cNvPr id="4" name="Text 2"/>
          <p:cNvSpPr/>
          <p:nvPr/>
        </p:nvSpPr>
        <p:spPr>
          <a:xfrm>
            <a:off x="731520" y="658368"/>
            <a:ext cx="7680960" cy="502920"/>
          </a:xfrm>
          <a:prstGeom prst="rect">
            <a:avLst/>
          </a:prstGeom>
          <a:noFill/>
          <a:ln/>
        </p:spPr>
        <p:txBody>
          <a:bodyPr wrap="square" rtlCol="0" anchor="t"/>
          <a:lstStyle/>
          <a:p>
            <a:pPr indent="0" marL="0">
              <a:buNone/>
            </a:pPr>
            <a:r>
              <a:rPr lang="en-US" sz="2200" b="1" dirty="0">
                <a:solidFill>
                  <a:srgbClr val="FFFFFF"/>
                </a:solidFill>
                <a:latin typeface="Segoe UI" pitchFamily="34" charset="0"/>
                <a:ea typeface="Segoe UI" pitchFamily="34" charset="-122"/>
                <a:cs typeface="Segoe UI" pitchFamily="34" charset="-120"/>
              </a:rPr>
              <a:t>Why Raw Large Language Models Fall Short</a:t>
            </a:r>
            <a:endParaRPr lang="en-US" sz="2200" dirty="0"/>
          </a:p>
        </p:txBody>
      </p:sp>
      <p:sp>
        <p:nvSpPr>
          <p:cNvPr id="5" name="Text 3"/>
          <p:cNvSpPr/>
          <p:nvPr/>
        </p:nvSpPr>
        <p:spPr>
          <a:xfrm>
            <a:off x="731520" y="1143000"/>
            <a:ext cx="7680960" cy="292608"/>
          </a:xfrm>
          <a:prstGeom prst="rect">
            <a:avLst/>
          </a:prstGeom>
          <a:noFill/>
          <a:ln/>
        </p:spPr>
        <p:txBody>
          <a:bodyPr wrap="square" rtlCol="0" anchor="t"/>
          <a:lstStyle/>
          <a:p>
            <a:pPr indent="0" marL="0">
              <a:buNone/>
            </a:pPr>
            <a:r>
              <a:rPr lang="en-US" sz="1200" dirty="0">
                <a:solidFill>
                  <a:srgbClr val="94A3B8"/>
                </a:solidFill>
                <a:latin typeface="Segoe UI" pitchFamily="34" charset="0"/>
                <a:ea typeface="Segoe UI" pitchFamily="34" charset="-122"/>
                <a:cs typeface="Segoe UI" pitchFamily="34" charset="-120"/>
              </a:rPr>
              <a:t>Foundation models are extraordinary reasoning engines, but they suffer from 4 critical limitations in enterprise settings.</a:t>
            </a:r>
            <a:endParaRPr lang="en-US" sz="1200" dirty="0"/>
          </a:p>
        </p:txBody>
      </p:sp>
      <p:sp>
        <p:nvSpPr>
          <p:cNvPr id="6" name="Shape 4"/>
          <p:cNvSpPr/>
          <p:nvPr/>
        </p:nvSpPr>
        <p:spPr>
          <a:xfrm>
            <a:off x="731520" y="4754880"/>
            <a:ext cx="7680960" cy="0"/>
          </a:xfrm>
          <a:prstGeom prst="line">
            <a:avLst/>
          </a:prstGeom>
          <a:noFill/>
          <a:ln w="12700">
            <a:solidFill>
              <a:srgbClr val="1E293B"/>
            </a:solidFill>
            <a:prstDash val="solid"/>
          </a:ln>
        </p:spPr>
      </p:sp>
      <p:sp>
        <p:nvSpPr>
          <p:cNvPr id="7" name="Text 5"/>
          <p:cNvSpPr/>
          <p:nvPr/>
        </p:nvSpPr>
        <p:spPr>
          <a:xfrm>
            <a:off x="731520" y="4800600"/>
            <a:ext cx="5486400" cy="22860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Retrieval-Augmented Generation (RAG) | Enterprise AI Architecture</a:t>
            </a:r>
            <a:endParaRPr lang="en-US" sz="900" dirty="0"/>
          </a:p>
        </p:txBody>
      </p:sp>
      <p:sp>
        <p:nvSpPr>
          <p:cNvPr id="8" name="Shape 6"/>
          <p:cNvSpPr/>
          <p:nvPr/>
        </p:nvSpPr>
        <p:spPr>
          <a:xfrm>
            <a:off x="731520" y="1554480"/>
            <a:ext cx="3749040" cy="1371600"/>
          </a:xfrm>
          <a:prstGeom prst="roundRect">
            <a:avLst>
              <a:gd name="adj" fmla="val 8000"/>
            </a:avLst>
          </a:prstGeom>
          <a:solidFill>
            <a:srgbClr val="141C2F"/>
          </a:solidFill>
          <a:ln w="12700">
            <a:solidFill>
              <a:srgbClr val="24324F"/>
            </a:solidFill>
            <a:prstDash val="solid"/>
          </a:ln>
        </p:spPr>
      </p:sp>
      <p:sp>
        <p:nvSpPr>
          <p:cNvPr id="9" name="Text 7"/>
          <p:cNvSpPr/>
          <p:nvPr/>
        </p:nvSpPr>
        <p:spPr>
          <a:xfrm>
            <a:off x="914400" y="1691640"/>
            <a:ext cx="457200" cy="320040"/>
          </a:xfrm>
          <a:prstGeom prst="rect">
            <a:avLst/>
          </a:prstGeom>
          <a:noFill/>
          <a:ln/>
        </p:spPr>
        <p:txBody>
          <a:bodyPr wrap="square" rtlCol="0" anchor="ctr"/>
          <a:lstStyle/>
          <a:p>
            <a:pPr indent="0" marL="0">
              <a:buNone/>
            </a:pPr>
            <a:r>
              <a:rPr lang="en-US" sz="1600" b="1" dirty="0">
                <a:solidFill>
                  <a:srgbClr val="F59E0B"/>
                </a:solidFill>
                <a:latin typeface="Segoe UI" pitchFamily="34" charset="0"/>
                <a:ea typeface="Segoe UI" pitchFamily="34" charset="-122"/>
                <a:cs typeface="Segoe UI" pitchFamily="34" charset="-120"/>
              </a:rPr>
              <a:t>01</a:t>
            </a:r>
            <a:endParaRPr lang="en-US" sz="1600" dirty="0"/>
          </a:p>
        </p:txBody>
      </p:sp>
      <p:sp>
        <p:nvSpPr>
          <p:cNvPr id="10" name="Text 8"/>
          <p:cNvSpPr/>
          <p:nvPr/>
        </p:nvSpPr>
        <p:spPr>
          <a:xfrm>
            <a:off x="1417320" y="1691640"/>
            <a:ext cx="2926080" cy="32004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Knowledge Cutoff &amp; Staleness</a:t>
            </a:r>
            <a:endParaRPr lang="en-US" sz="1200" dirty="0"/>
          </a:p>
        </p:txBody>
      </p:sp>
      <p:sp>
        <p:nvSpPr>
          <p:cNvPr id="11" name="Text 9"/>
          <p:cNvSpPr/>
          <p:nvPr/>
        </p:nvSpPr>
        <p:spPr>
          <a:xfrm>
            <a:off x="914400" y="2057400"/>
            <a:ext cx="3383280" cy="502920"/>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LLMs are trained on historical snapshots. They are completely unaware of events, news, or policy changes that occurred yesterday or last week.</a:t>
            </a:r>
            <a:endParaRPr lang="en-US" sz="950" dirty="0"/>
          </a:p>
        </p:txBody>
      </p:sp>
      <p:sp>
        <p:nvSpPr>
          <p:cNvPr id="12" name="Text 10"/>
          <p:cNvSpPr/>
          <p:nvPr/>
        </p:nvSpPr>
        <p:spPr>
          <a:xfrm>
            <a:off x="914400" y="2606040"/>
            <a:ext cx="3383280" cy="228600"/>
          </a:xfrm>
          <a:prstGeom prst="rect">
            <a:avLst/>
          </a:prstGeom>
          <a:noFill/>
          <a:ln/>
        </p:spPr>
        <p:txBody>
          <a:bodyPr wrap="square" rtlCol="0" anchor="ctr"/>
          <a:lstStyle/>
          <a:p>
            <a:pPr indent="0" marL="0">
              <a:buNone/>
            </a:pPr>
            <a:r>
              <a:rPr lang="en-US" sz="900" b="1" dirty="0">
                <a:solidFill>
                  <a:srgbClr val="F59E0B"/>
                </a:solidFill>
                <a:latin typeface="Segoe UI" pitchFamily="34" charset="0"/>
                <a:ea typeface="Segoe UI" pitchFamily="34" charset="-122"/>
                <a:cs typeface="Segoe UI" pitchFamily="34" charset="-120"/>
              </a:rPr>
              <a:t>Impact: Produces outdated recommendations</a:t>
            </a:r>
            <a:endParaRPr lang="en-US" sz="900" dirty="0"/>
          </a:p>
        </p:txBody>
      </p:sp>
      <p:sp>
        <p:nvSpPr>
          <p:cNvPr id="13" name="Shape 11"/>
          <p:cNvSpPr/>
          <p:nvPr/>
        </p:nvSpPr>
        <p:spPr>
          <a:xfrm>
            <a:off x="4663440" y="1554480"/>
            <a:ext cx="3749040" cy="1371600"/>
          </a:xfrm>
          <a:prstGeom prst="roundRect">
            <a:avLst>
              <a:gd name="adj" fmla="val 8000"/>
            </a:avLst>
          </a:prstGeom>
          <a:solidFill>
            <a:srgbClr val="141C2F"/>
          </a:solidFill>
          <a:ln w="12700">
            <a:solidFill>
              <a:srgbClr val="24324F"/>
            </a:solidFill>
            <a:prstDash val="solid"/>
          </a:ln>
        </p:spPr>
      </p:sp>
      <p:sp>
        <p:nvSpPr>
          <p:cNvPr id="14" name="Text 12"/>
          <p:cNvSpPr/>
          <p:nvPr/>
        </p:nvSpPr>
        <p:spPr>
          <a:xfrm>
            <a:off x="4846320" y="1691640"/>
            <a:ext cx="457200" cy="320040"/>
          </a:xfrm>
          <a:prstGeom prst="rect">
            <a:avLst/>
          </a:prstGeom>
          <a:noFill/>
          <a:ln/>
        </p:spPr>
        <p:txBody>
          <a:bodyPr wrap="square" rtlCol="0" anchor="ctr"/>
          <a:lstStyle/>
          <a:p>
            <a:pPr indent="0" marL="0">
              <a:buNone/>
            </a:pPr>
            <a:r>
              <a:rPr lang="en-US" sz="1600" b="1" dirty="0">
                <a:solidFill>
                  <a:srgbClr val="EF4444"/>
                </a:solidFill>
                <a:latin typeface="Segoe UI" pitchFamily="34" charset="0"/>
                <a:ea typeface="Segoe UI" pitchFamily="34" charset="-122"/>
                <a:cs typeface="Segoe UI" pitchFamily="34" charset="-120"/>
              </a:rPr>
              <a:t>02</a:t>
            </a:r>
            <a:endParaRPr lang="en-US" sz="1600" dirty="0"/>
          </a:p>
        </p:txBody>
      </p:sp>
      <p:sp>
        <p:nvSpPr>
          <p:cNvPr id="15" name="Text 13"/>
          <p:cNvSpPr/>
          <p:nvPr/>
        </p:nvSpPr>
        <p:spPr>
          <a:xfrm>
            <a:off x="5349240" y="1691640"/>
            <a:ext cx="2926080" cy="32004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Hallucination &amp; Fabrication</a:t>
            </a:r>
            <a:endParaRPr lang="en-US" sz="1200" dirty="0"/>
          </a:p>
        </p:txBody>
      </p:sp>
      <p:sp>
        <p:nvSpPr>
          <p:cNvPr id="16" name="Text 14"/>
          <p:cNvSpPr/>
          <p:nvPr/>
        </p:nvSpPr>
        <p:spPr>
          <a:xfrm>
            <a:off x="4846320" y="2057400"/>
            <a:ext cx="3383280" cy="502920"/>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LLMs are statistical word predictors, not factual databases. When uncertain, they generate convincing falsehoods and nonexistent citations.</a:t>
            </a:r>
            <a:endParaRPr lang="en-US" sz="950" dirty="0"/>
          </a:p>
        </p:txBody>
      </p:sp>
      <p:sp>
        <p:nvSpPr>
          <p:cNvPr id="17" name="Text 15"/>
          <p:cNvSpPr/>
          <p:nvPr/>
        </p:nvSpPr>
        <p:spPr>
          <a:xfrm>
            <a:off x="4846320" y="2606040"/>
            <a:ext cx="3383280" cy="228600"/>
          </a:xfrm>
          <a:prstGeom prst="rect">
            <a:avLst/>
          </a:prstGeom>
          <a:noFill/>
          <a:ln/>
        </p:spPr>
        <p:txBody>
          <a:bodyPr wrap="square" rtlCol="0" anchor="ctr"/>
          <a:lstStyle/>
          <a:p>
            <a:pPr indent="0" marL="0">
              <a:buNone/>
            </a:pPr>
            <a:r>
              <a:rPr lang="en-US" sz="900" b="1" dirty="0">
                <a:solidFill>
                  <a:srgbClr val="EF4444"/>
                </a:solidFill>
                <a:latin typeface="Segoe UI" pitchFamily="34" charset="0"/>
                <a:ea typeface="Segoe UI" pitchFamily="34" charset="-122"/>
                <a:cs typeface="Segoe UI" pitchFamily="34" charset="-120"/>
              </a:rPr>
              <a:t>Impact: Severe legal, financial &amp; brand risk</a:t>
            </a:r>
            <a:endParaRPr lang="en-US" sz="900" dirty="0"/>
          </a:p>
        </p:txBody>
      </p:sp>
      <p:sp>
        <p:nvSpPr>
          <p:cNvPr id="18" name="Shape 16"/>
          <p:cNvSpPr/>
          <p:nvPr/>
        </p:nvSpPr>
        <p:spPr>
          <a:xfrm>
            <a:off x="731520" y="3063240"/>
            <a:ext cx="3749040" cy="1371600"/>
          </a:xfrm>
          <a:prstGeom prst="roundRect">
            <a:avLst>
              <a:gd name="adj" fmla="val 8000"/>
            </a:avLst>
          </a:prstGeom>
          <a:solidFill>
            <a:srgbClr val="141C2F"/>
          </a:solidFill>
          <a:ln w="12700">
            <a:solidFill>
              <a:srgbClr val="24324F"/>
            </a:solidFill>
            <a:prstDash val="solid"/>
          </a:ln>
        </p:spPr>
      </p:sp>
      <p:sp>
        <p:nvSpPr>
          <p:cNvPr id="19" name="Text 17"/>
          <p:cNvSpPr/>
          <p:nvPr/>
        </p:nvSpPr>
        <p:spPr>
          <a:xfrm>
            <a:off x="914400" y="3200400"/>
            <a:ext cx="457200" cy="320040"/>
          </a:xfrm>
          <a:prstGeom prst="rect">
            <a:avLst/>
          </a:prstGeom>
          <a:noFill/>
          <a:ln/>
        </p:spPr>
        <p:txBody>
          <a:bodyPr wrap="square" rtlCol="0" anchor="ctr"/>
          <a:lstStyle/>
          <a:p>
            <a:pPr indent="0" marL="0">
              <a:buNone/>
            </a:pPr>
            <a:r>
              <a:rPr lang="en-US" sz="1600" b="1" dirty="0">
                <a:solidFill>
                  <a:srgbClr val="8B5CF6"/>
                </a:solidFill>
                <a:latin typeface="Segoe UI" pitchFamily="34" charset="0"/>
                <a:ea typeface="Segoe UI" pitchFamily="34" charset="-122"/>
                <a:cs typeface="Segoe UI" pitchFamily="34" charset="-120"/>
              </a:rPr>
              <a:t>03</a:t>
            </a:r>
            <a:endParaRPr lang="en-US" sz="1600" dirty="0"/>
          </a:p>
        </p:txBody>
      </p:sp>
      <p:sp>
        <p:nvSpPr>
          <p:cNvPr id="20" name="Text 18"/>
          <p:cNvSpPr/>
          <p:nvPr/>
        </p:nvSpPr>
        <p:spPr>
          <a:xfrm>
            <a:off x="1417320" y="3200400"/>
            <a:ext cx="2926080" cy="32004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Zero Proprietary Context</a:t>
            </a:r>
            <a:endParaRPr lang="en-US" sz="1200" dirty="0"/>
          </a:p>
        </p:txBody>
      </p:sp>
      <p:sp>
        <p:nvSpPr>
          <p:cNvPr id="21" name="Text 19"/>
          <p:cNvSpPr/>
          <p:nvPr/>
        </p:nvSpPr>
        <p:spPr>
          <a:xfrm>
            <a:off x="914400" y="3566160"/>
            <a:ext cx="3383280" cy="502920"/>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Public LLMs know Wikipedia and public code, but have zero access to your internal roadmaps, Jira tickets, HR policies, or client contracts.</a:t>
            </a:r>
            <a:endParaRPr lang="en-US" sz="950" dirty="0"/>
          </a:p>
        </p:txBody>
      </p:sp>
      <p:sp>
        <p:nvSpPr>
          <p:cNvPr id="22" name="Text 20"/>
          <p:cNvSpPr/>
          <p:nvPr/>
        </p:nvSpPr>
        <p:spPr>
          <a:xfrm>
            <a:off x="914400" y="4114800"/>
            <a:ext cx="3383280" cy="228600"/>
          </a:xfrm>
          <a:prstGeom prst="rect">
            <a:avLst/>
          </a:prstGeom>
          <a:noFill/>
          <a:ln/>
        </p:spPr>
        <p:txBody>
          <a:bodyPr wrap="square" rtlCol="0" anchor="ctr"/>
          <a:lstStyle/>
          <a:p>
            <a:pPr indent="0" marL="0">
              <a:buNone/>
            </a:pPr>
            <a:r>
              <a:rPr lang="en-US" sz="900" b="1" dirty="0">
                <a:solidFill>
                  <a:srgbClr val="8B5CF6"/>
                </a:solidFill>
                <a:latin typeface="Segoe UI" pitchFamily="34" charset="0"/>
                <a:ea typeface="Segoe UI" pitchFamily="34" charset="-122"/>
                <a:cs typeface="Segoe UI" pitchFamily="34" charset="-120"/>
              </a:rPr>
              <a:t>Impact: Cannot answer business-specific queries</a:t>
            </a:r>
            <a:endParaRPr lang="en-US" sz="900" dirty="0"/>
          </a:p>
        </p:txBody>
      </p:sp>
      <p:sp>
        <p:nvSpPr>
          <p:cNvPr id="23" name="Shape 21"/>
          <p:cNvSpPr/>
          <p:nvPr/>
        </p:nvSpPr>
        <p:spPr>
          <a:xfrm>
            <a:off x="4663440" y="3063240"/>
            <a:ext cx="3749040" cy="1371600"/>
          </a:xfrm>
          <a:prstGeom prst="roundRect">
            <a:avLst>
              <a:gd name="adj" fmla="val 8000"/>
            </a:avLst>
          </a:prstGeom>
          <a:solidFill>
            <a:srgbClr val="141C2F"/>
          </a:solidFill>
          <a:ln w="12700">
            <a:solidFill>
              <a:srgbClr val="24324F"/>
            </a:solidFill>
            <a:prstDash val="solid"/>
          </a:ln>
        </p:spPr>
      </p:sp>
      <p:sp>
        <p:nvSpPr>
          <p:cNvPr id="24" name="Text 22"/>
          <p:cNvSpPr/>
          <p:nvPr/>
        </p:nvSpPr>
        <p:spPr>
          <a:xfrm>
            <a:off x="4846320" y="3200400"/>
            <a:ext cx="457200" cy="320040"/>
          </a:xfrm>
          <a:prstGeom prst="rect">
            <a:avLst/>
          </a:prstGeom>
          <a:noFill/>
          <a:ln/>
        </p:spPr>
        <p:txBody>
          <a:bodyPr wrap="square" rtlCol="0" anchor="ctr"/>
          <a:lstStyle/>
          <a:p>
            <a:pPr indent="0" marL="0">
              <a:buNone/>
            </a:pPr>
            <a:r>
              <a:rPr lang="en-US" sz="1600" b="1" dirty="0">
                <a:solidFill>
                  <a:srgbClr val="00D2FF"/>
                </a:solidFill>
                <a:latin typeface="Segoe UI" pitchFamily="34" charset="0"/>
                <a:ea typeface="Segoe UI" pitchFamily="34" charset="-122"/>
                <a:cs typeface="Segoe UI" pitchFamily="34" charset="-120"/>
              </a:rPr>
              <a:t>04</a:t>
            </a:r>
            <a:endParaRPr lang="en-US" sz="1600" dirty="0"/>
          </a:p>
        </p:txBody>
      </p:sp>
      <p:sp>
        <p:nvSpPr>
          <p:cNvPr id="25" name="Text 23"/>
          <p:cNvSpPr/>
          <p:nvPr/>
        </p:nvSpPr>
        <p:spPr>
          <a:xfrm>
            <a:off x="5349240" y="3200400"/>
            <a:ext cx="2926080" cy="32004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Prohibitive Retraining Cost</a:t>
            </a:r>
            <a:endParaRPr lang="en-US" sz="1200" dirty="0"/>
          </a:p>
        </p:txBody>
      </p:sp>
      <p:sp>
        <p:nvSpPr>
          <p:cNvPr id="26" name="Text 24"/>
          <p:cNvSpPr/>
          <p:nvPr/>
        </p:nvSpPr>
        <p:spPr>
          <a:xfrm>
            <a:off x="4846320" y="3566160"/>
            <a:ext cx="3383280" cy="502920"/>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Retraining or continuously fine-tuning 70B+ parameter models costs hundreds of thousands in GPU hours and requires weeks of engineering cycles.</a:t>
            </a:r>
            <a:endParaRPr lang="en-US" sz="950" dirty="0"/>
          </a:p>
        </p:txBody>
      </p:sp>
      <p:sp>
        <p:nvSpPr>
          <p:cNvPr id="27" name="Text 25"/>
          <p:cNvSpPr/>
          <p:nvPr/>
        </p:nvSpPr>
        <p:spPr>
          <a:xfrm>
            <a:off x="4846320" y="4114800"/>
            <a:ext cx="3383280" cy="228600"/>
          </a:xfrm>
          <a:prstGeom prst="rect">
            <a:avLst/>
          </a:prstGeom>
          <a:noFill/>
          <a:ln/>
        </p:spPr>
        <p:txBody>
          <a:bodyPr wrap="square" rtlCol="0" anchor="ctr"/>
          <a:lstStyle/>
          <a:p>
            <a:pPr indent="0" marL="0">
              <a:buNone/>
            </a:pPr>
            <a:r>
              <a:rPr lang="en-US" sz="900" b="1" dirty="0">
                <a:solidFill>
                  <a:srgbClr val="00D2FF"/>
                </a:solidFill>
                <a:latin typeface="Segoe UI" pitchFamily="34" charset="0"/>
                <a:ea typeface="Segoe UI" pitchFamily="34" charset="-122"/>
                <a:cs typeface="Segoe UI" pitchFamily="34" charset="-120"/>
              </a:rPr>
              <a:t>Impact: Inflexible, slow &amp; financially unsustainable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F1D"/>
        </a:solidFill>
      </p:bgPr>
    </p:bg>
    <p:spTree>
      <p:nvGrpSpPr>
        <p:cNvPr id="1" name=""/>
        <p:cNvGrpSpPr/>
        <p:nvPr/>
      </p:nvGrpSpPr>
      <p:grpSpPr>
        <a:xfrm>
          <a:off x="0" y="0"/>
          <a:ext cx="0" cy="0"/>
          <a:chOff x="0" y="0"/>
          <a:chExt cx="0" cy="0"/>
        </a:xfrm>
      </p:grpSpPr>
      <p:sp>
        <p:nvSpPr>
          <p:cNvPr id="2" name="Shape 0"/>
          <p:cNvSpPr/>
          <p:nvPr/>
        </p:nvSpPr>
        <p:spPr>
          <a:xfrm>
            <a:off x="731520" y="347472"/>
            <a:ext cx="1641348" cy="256032"/>
          </a:xfrm>
          <a:prstGeom prst="roundRect">
            <a:avLst>
              <a:gd name="adj" fmla="val 35714"/>
            </a:avLst>
          </a:prstGeom>
          <a:solidFill>
            <a:srgbClr val="1E293B"/>
          </a:solidFill>
          <a:ln w="12700">
            <a:solidFill>
              <a:srgbClr val="00D2FF"/>
            </a:solidFill>
            <a:prstDash val="solid"/>
          </a:ln>
        </p:spPr>
      </p:sp>
      <p:sp>
        <p:nvSpPr>
          <p:cNvPr id="3" name="Text 1"/>
          <p:cNvSpPr/>
          <p:nvPr/>
        </p:nvSpPr>
        <p:spPr>
          <a:xfrm>
            <a:off x="731520" y="347472"/>
            <a:ext cx="1641348" cy="256032"/>
          </a:xfrm>
          <a:prstGeom prst="rect">
            <a:avLst/>
          </a:prstGeom>
          <a:noFill/>
          <a:ln/>
        </p:spPr>
        <p:txBody>
          <a:bodyPr wrap="square" rtlCol="0" anchor="ctr"/>
          <a:lstStyle/>
          <a:p>
            <a:pPr algn="ctr" indent="0" marL="0">
              <a:buNone/>
            </a:pPr>
            <a:r>
              <a:rPr lang="en-US" sz="900" b="1" dirty="0">
                <a:solidFill>
                  <a:srgbClr val="00D2FF"/>
                </a:solidFill>
                <a:latin typeface="Segoe UI" pitchFamily="34" charset="0"/>
                <a:ea typeface="Segoe UI" pitchFamily="34" charset="-122"/>
                <a:cs typeface="Segoe UI" pitchFamily="34" charset="-120"/>
              </a:rPr>
              <a:t>CORE ARCHITECTURE</a:t>
            </a:r>
            <a:endParaRPr lang="en-US" sz="900" dirty="0"/>
          </a:p>
        </p:txBody>
      </p:sp>
      <p:sp>
        <p:nvSpPr>
          <p:cNvPr id="4" name="Text 2"/>
          <p:cNvSpPr/>
          <p:nvPr/>
        </p:nvSpPr>
        <p:spPr>
          <a:xfrm>
            <a:off x="731520" y="658368"/>
            <a:ext cx="7680960" cy="502920"/>
          </a:xfrm>
          <a:prstGeom prst="rect">
            <a:avLst/>
          </a:prstGeom>
          <a:noFill/>
          <a:ln/>
        </p:spPr>
        <p:txBody>
          <a:bodyPr wrap="square" rtlCol="0" anchor="t"/>
          <a:lstStyle/>
          <a:p>
            <a:pPr indent="0" marL="0">
              <a:buNone/>
            </a:pPr>
            <a:r>
              <a:rPr lang="en-US" sz="2200" b="1" dirty="0">
                <a:solidFill>
                  <a:srgbClr val="FFFFFF"/>
                </a:solidFill>
                <a:latin typeface="Segoe UI" pitchFamily="34" charset="0"/>
                <a:ea typeface="Segoe UI" pitchFamily="34" charset="-122"/>
                <a:cs typeface="Segoe UI" pitchFamily="34" charset="-120"/>
              </a:rPr>
              <a:t>What is RAG? The "Open-Book Exam" Analogy</a:t>
            </a:r>
            <a:endParaRPr lang="en-US" sz="2200" dirty="0"/>
          </a:p>
        </p:txBody>
      </p:sp>
      <p:sp>
        <p:nvSpPr>
          <p:cNvPr id="5" name="Text 3"/>
          <p:cNvSpPr/>
          <p:nvPr/>
        </p:nvSpPr>
        <p:spPr>
          <a:xfrm>
            <a:off x="731520" y="1143000"/>
            <a:ext cx="7680960" cy="292608"/>
          </a:xfrm>
          <a:prstGeom prst="rect">
            <a:avLst/>
          </a:prstGeom>
          <a:noFill/>
          <a:ln/>
        </p:spPr>
        <p:txBody>
          <a:bodyPr wrap="square" rtlCol="0" anchor="t"/>
          <a:lstStyle/>
          <a:p>
            <a:pPr indent="0" marL="0">
              <a:buNone/>
            </a:pPr>
            <a:r>
              <a:rPr lang="en-US" sz="1200" dirty="0">
                <a:solidFill>
                  <a:srgbClr val="94A3B8"/>
                </a:solidFill>
                <a:latin typeface="Segoe UI" pitchFamily="34" charset="0"/>
                <a:ea typeface="Segoe UI" pitchFamily="34" charset="-122"/>
                <a:cs typeface="Segoe UI" pitchFamily="34" charset="-120"/>
              </a:rPr>
              <a:t>RAG decouples reasoning from memorization by injecting authoritative reference data dynamically into the prompt.</a:t>
            </a:r>
            <a:endParaRPr lang="en-US" sz="1200" dirty="0"/>
          </a:p>
        </p:txBody>
      </p:sp>
      <p:sp>
        <p:nvSpPr>
          <p:cNvPr id="6" name="Shape 4"/>
          <p:cNvSpPr/>
          <p:nvPr/>
        </p:nvSpPr>
        <p:spPr>
          <a:xfrm>
            <a:off x="731520" y="4754880"/>
            <a:ext cx="7680960" cy="0"/>
          </a:xfrm>
          <a:prstGeom prst="line">
            <a:avLst/>
          </a:prstGeom>
          <a:noFill/>
          <a:ln w="12700">
            <a:solidFill>
              <a:srgbClr val="1E293B"/>
            </a:solidFill>
            <a:prstDash val="solid"/>
          </a:ln>
        </p:spPr>
      </p:sp>
      <p:sp>
        <p:nvSpPr>
          <p:cNvPr id="7" name="Text 5"/>
          <p:cNvSpPr/>
          <p:nvPr/>
        </p:nvSpPr>
        <p:spPr>
          <a:xfrm>
            <a:off x="731520" y="4800600"/>
            <a:ext cx="5486400" cy="22860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Retrieval-Augmented Generation (RAG) | Enterprise AI Architecture</a:t>
            </a:r>
            <a:endParaRPr lang="en-US" sz="900" dirty="0"/>
          </a:p>
        </p:txBody>
      </p:sp>
      <p:sp>
        <p:nvSpPr>
          <p:cNvPr id="8" name="Shape 6"/>
          <p:cNvSpPr/>
          <p:nvPr/>
        </p:nvSpPr>
        <p:spPr>
          <a:xfrm>
            <a:off x="731520" y="1554480"/>
            <a:ext cx="3657600" cy="1417320"/>
          </a:xfrm>
          <a:prstGeom prst="roundRect">
            <a:avLst>
              <a:gd name="adj" fmla="val 7742"/>
            </a:avLst>
          </a:prstGeom>
          <a:solidFill>
            <a:srgbClr val="181524"/>
          </a:solidFill>
          <a:ln w="12700">
            <a:solidFill>
              <a:srgbClr val="4B254E"/>
            </a:solidFill>
            <a:prstDash val="solid"/>
          </a:ln>
        </p:spPr>
      </p:sp>
      <p:sp>
        <p:nvSpPr>
          <p:cNvPr id="9" name="Text 7"/>
          <p:cNvSpPr/>
          <p:nvPr/>
        </p:nvSpPr>
        <p:spPr>
          <a:xfrm>
            <a:off x="960120" y="1691640"/>
            <a:ext cx="3200400" cy="274320"/>
          </a:xfrm>
          <a:prstGeom prst="rect">
            <a:avLst/>
          </a:prstGeom>
          <a:noFill/>
          <a:ln/>
        </p:spPr>
        <p:txBody>
          <a:bodyPr wrap="square" rtlCol="0" anchor="ctr"/>
          <a:lstStyle/>
          <a:p>
            <a:pPr indent="0" marL="0">
              <a:buNone/>
            </a:pPr>
            <a:r>
              <a:rPr lang="en-US" sz="1100" b="1" dirty="0">
                <a:solidFill>
                  <a:srgbClr val="EF4444"/>
                </a:solidFill>
                <a:latin typeface="Segoe UI" pitchFamily="34" charset="0"/>
                <a:ea typeface="Segoe UI" pitchFamily="34" charset="-122"/>
                <a:cs typeface="Segoe UI" pitchFamily="34" charset="-120"/>
              </a:rPr>
              <a:t>WITHOUT RAG: "Closed-Book Exam"</a:t>
            </a:r>
            <a:endParaRPr lang="en-US" sz="1100" dirty="0"/>
          </a:p>
        </p:txBody>
      </p:sp>
      <p:sp>
        <p:nvSpPr>
          <p:cNvPr id="10" name="Text 8"/>
          <p:cNvSpPr/>
          <p:nvPr/>
        </p:nvSpPr>
        <p:spPr>
          <a:xfrm>
            <a:off x="960120" y="2011680"/>
            <a:ext cx="3200400" cy="868680"/>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 Student relies purely on memory from months ago.
</a:t>
            </a:r>
            <a:pPr indent="0" marL="0">
              <a:buNone/>
            </a:pPr>
            <a:r>
              <a:rPr lang="en-US" sz="950" dirty="0">
                <a:solidFill>
                  <a:srgbClr val="94A3B8"/>
                </a:solidFill>
                <a:latin typeface="Segoe UI" pitchFamily="34" charset="0"/>
                <a:ea typeface="Segoe UI" pitchFamily="34" charset="-122"/>
                <a:cs typeface="Segoe UI" pitchFamily="34" charset="-120"/>
              </a:rPr>
              <a:t>• Confidently guesses when memory is fuzzy (hallucination).
</a:t>
            </a:r>
            <a:pPr indent="0" marL="0">
              <a:buNone/>
            </a:pPr>
            <a:r>
              <a:rPr lang="en-US" sz="950" dirty="0">
                <a:solidFill>
                  <a:srgbClr val="94A3B8"/>
                </a:solidFill>
                <a:latin typeface="Segoe UI" pitchFamily="34" charset="0"/>
                <a:ea typeface="Segoe UI" pitchFamily="34" charset="-122"/>
                <a:cs typeface="Segoe UI" pitchFamily="34" charset="-120"/>
              </a:rPr>
              <a:t>• Cannot cite page numbers or original sources.
</a:t>
            </a:r>
            <a:pPr indent="0" marL="0">
              <a:buNone/>
            </a:pPr>
            <a:r>
              <a:rPr lang="en-US" sz="950" dirty="0">
                <a:solidFill>
                  <a:srgbClr val="94A3B8"/>
                </a:solidFill>
                <a:latin typeface="Segoe UI" pitchFamily="34" charset="0"/>
                <a:ea typeface="Segoe UI" pitchFamily="34" charset="-122"/>
                <a:cs typeface="Segoe UI" pitchFamily="34" charset="-120"/>
              </a:rPr>
              <a:t>• Unaware of recent regulatory or company updates.</a:t>
            </a:r>
            <a:endParaRPr lang="en-US" sz="950" dirty="0"/>
          </a:p>
        </p:txBody>
      </p:sp>
      <p:sp>
        <p:nvSpPr>
          <p:cNvPr id="11" name="Shape 9"/>
          <p:cNvSpPr/>
          <p:nvPr/>
        </p:nvSpPr>
        <p:spPr>
          <a:xfrm>
            <a:off x="731520" y="3108960"/>
            <a:ext cx="3657600" cy="1417320"/>
          </a:xfrm>
          <a:prstGeom prst="roundRect">
            <a:avLst>
              <a:gd name="adj" fmla="val 7742"/>
            </a:avLst>
          </a:prstGeom>
          <a:solidFill>
            <a:srgbClr val="122624"/>
          </a:solidFill>
          <a:ln w="12700">
            <a:solidFill>
              <a:srgbClr val="1D574A"/>
            </a:solidFill>
            <a:prstDash val="solid"/>
          </a:ln>
        </p:spPr>
      </p:sp>
      <p:sp>
        <p:nvSpPr>
          <p:cNvPr id="12" name="Text 10"/>
          <p:cNvSpPr/>
          <p:nvPr/>
        </p:nvSpPr>
        <p:spPr>
          <a:xfrm>
            <a:off x="960120" y="3246120"/>
            <a:ext cx="3200400" cy="274320"/>
          </a:xfrm>
          <a:prstGeom prst="rect">
            <a:avLst/>
          </a:prstGeom>
          <a:noFill/>
          <a:ln/>
        </p:spPr>
        <p:txBody>
          <a:bodyPr wrap="square" rtlCol="0" anchor="ctr"/>
          <a:lstStyle/>
          <a:p>
            <a:pPr indent="0" marL="0">
              <a:buNone/>
            </a:pPr>
            <a:r>
              <a:rPr lang="en-US" sz="1100" b="1" dirty="0">
                <a:solidFill>
                  <a:srgbClr val="10B981"/>
                </a:solidFill>
                <a:latin typeface="Segoe UI" pitchFamily="34" charset="0"/>
                <a:ea typeface="Segoe UI" pitchFamily="34" charset="-122"/>
                <a:cs typeface="Segoe UI" pitchFamily="34" charset="-120"/>
              </a:rPr>
              <a:t>WITH RAG: "Open-Book Exam"</a:t>
            </a:r>
            <a:endParaRPr lang="en-US" sz="1100" dirty="0"/>
          </a:p>
        </p:txBody>
      </p:sp>
      <p:sp>
        <p:nvSpPr>
          <p:cNvPr id="13" name="Text 11"/>
          <p:cNvSpPr/>
          <p:nvPr/>
        </p:nvSpPr>
        <p:spPr>
          <a:xfrm>
            <a:off x="960120" y="3566160"/>
            <a:ext cx="3200400" cy="868680"/>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 Student given textbook &amp; reference manual during exam.
</a:t>
            </a:r>
            <a:pPr indent="0" marL="0">
              <a:buNone/>
            </a:pPr>
            <a:r>
              <a:rPr lang="en-US" sz="950" dirty="0">
                <a:solidFill>
                  <a:srgbClr val="94A3B8"/>
                </a:solidFill>
                <a:latin typeface="Segoe UI" pitchFamily="34" charset="0"/>
                <a:ea typeface="Segoe UI" pitchFamily="34" charset="-122"/>
                <a:cs typeface="Segoe UI" pitchFamily="34" charset="-120"/>
              </a:rPr>
              <a:t>• LLM acts as an expert analyst &amp; synthesizer.
</a:t>
            </a:r>
            <a:pPr indent="0" marL="0">
              <a:buNone/>
            </a:pPr>
            <a:r>
              <a:rPr lang="en-US" sz="950" dirty="0">
                <a:solidFill>
                  <a:srgbClr val="94A3B8"/>
                </a:solidFill>
                <a:latin typeface="Segoe UI" pitchFamily="34" charset="0"/>
                <a:ea typeface="Segoe UI" pitchFamily="34" charset="-122"/>
                <a:cs typeface="Segoe UI" pitchFamily="34" charset="-120"/>
              </a:rPr>
              <a:t>• Quotes exact excerpts and provides transparent citations.
</a:t>
            </a:r>
            <a:pPr indent="0" marL="0">
              <a:buNone/>
            </a:pPr>
            <a:r>
              <a:rPr lang="en-US" sz="950" dirty="0">
                <a:solidFill>
                  <a:srgbClr val="94A3B8"/>
                </a:solidFill>
                <a:latin typeface="Segoe UI" pitchFamily="34" charset="0"/>
                <a:ea typeface="Segoe UI" pitchFamily="34" charset="-122"/>
                <a:cs typeface="Segoe UI" pitchFamily="34" charset="-120"/>
              </a:rPr>
              <a:t>• Immediately inherits newly added policy documents.</a:t>
            </a:r>
            <a:endParaRPr lang="en-US" sz="950" dirty="0"/>
          </a:p>
        </p:txBody>
      </p:sp>
      <p:sp>
        <p:nvSpPr>
          <p:cNvPr id="14" name="Shape 12"/>
          <p:cNvSpPr/>
          <p:nvPr/>
        </p:nvSpPr>
        <p:spPr>
          <a:xfrm>
            <a:off x="4663440" y="1554480"/>
            <a:ext cx="3749040" cy="914400"/>
          </a:xfrm>
          <a:prstGeom prst="roundRect">
            <a:avLst>
              <a:gd name="adj" fmla="val 10000"/>
            </a:avLst>
          </a:prstGeom>
          <a:solidFill>
            <a:srgbClr val="141C2F"/>
          </a:solidFill>
          <a:ln w="12700">
            <a:solidFill>
              <a:srgbClr val="24324F"/>
            </a:solidFill>
            <a:prstDash val="solid"/>
          </a:ln>
        </p:spPr>
      </p:sp>
      <p:sp>
        <p:nvSpPr>
          <p:cNvPr id="15" name="Text 13"/>
          <p:cNvSpPr/>
          <p:nvPr/>
        </p:nvSpPr>
        <p:spPr>
          <a:xfrm>
            <a:off x="4846320" y="1664208"/>
            <a:ext cx="3383280" cy="228600"/>
          </a:xfrm>
          <a:prstGeom prst="rect">
            <a:avLst/>
          </a:prstGeom>
          <a:noFill/>
          <a:ln/>
        </p:spPr>
        <p:txBody>
          <a:bodyPr wrap="square" rtlCol="0" anchor="ctr"/>
          <a:lstStyle/>
          <a:p>
            <a:pPr indent="0" marL="0">
              <a:buNone/>
            </a:pPr>
            <a:r>
              <a:rPr lang="en-US" sz="1050" b="1" dirty="0">
                <a:solidFill>
                  <a:srgbClr val="00D2FF"/>
                </a:solidFill>
                <a:latin typeface="Segoe UI" pitchFamily="34" charset="0"/>
                <a:ea typeface="Segoe UI" pitchFamily="34" charset="-122"/>
                <a:cs typeface="Segoe UI" pitchFamily="34" charset="-120"/>
              </a:rPr>
              <a:t>1. RETRIEVAL (The Searcher)</a:t>
            </a:r>
            <a:endParaRPr lang="en-US" sz="1050" dirty="0"/>
          </a:p>
        </p:txBody>
      </p:sp>
      <p:sp>
        <p:nvSpPr>
          <p:cNvPr id="16" name="Text 14"/>
          <p:cNvSpPr/>
          <p:nvPr/>
        </p:nvSpPr>
        <p:spPr>
          <a:xfrm>
            <a:off x="4846320" y="1920240"/>
            <a:ext cx="3383280" cy="457200"/>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Searches through millions of enterprise documents, vectors, or databases to fetch the exact 3-5 relevant paragraphs.</a:t>
            </a:r>
            <a:endParaRPr lang="en-US" sz="900" dirty="0"/>
          </a:p>
        </p:txBody>
      </p:sp>
      <p:sp>
        <p:nvSpPr>
          <p:cNvPr id="17" name="Shape 15"/>
          <p:cNvSpPr/>
          <p:nvPr/>
        </p:nvSpPr>
        <p:spPr>
          <a:xfrm>
            <a:off x="4663440" y="2578608"/>
            <a:ext cx="3749040" cy="914400"/>
          </a:xfrm>
          <a:prstGeom prst="roundRect">
            <a:avLst>
              <a:gd name="adj" fmla="val 10000"/>
            </a:avLst>
          </a:prstGeom>
          <a:solidFill>
            <a:srgbClr val="141C2F"/>
          </a:solidFill>
          <a:ln w="12700">
            <a:solidFill>
              <a:srgbClr val="24324F"/>
            </a:solidFill>
            <a:prstDash val="solid"/>
          </a:ln>
        </p:spPr>
      </p:sp>
      <p:sp>
        <p:nvSpPr>
          <p:cNvPr id="18" name="Text 16"/>
          <p:cNvSpPr/>
          <p:nvPr/>
        </p:nvSpPr>
        <p:spPr>
          <a:xfrm>
            <a:off x="4846320" y="2688336"/>
            <a:ext cx="3383280" cy="228600"/>
          </a:xfrm>
          <a:prstGeom prst="rect">
            <a:avLst/>
          </a:prstGeom>
          <a:noFill/>
          <a:ln/>
        </p:spPr>
        <p:txBody>
          <a:bodyPr wrap="square" rtlCol="0" anchor="ctr"/>
          <a:lstStyle/>
          <a:p>
            <a:pPr indent="0" marL="0">
              <a:buNone/>
            </a:pPr>
            <a:r>
              <a:rPr lang="en-US" sz="1050" b="1" dirty="0">
                <a:solidFill>
                  <a:srgbClr val="8B5CF6"/>
                </a:solidFill>
                <a:latin typeface="Segoe UI" pitchFamily="34" charset="0"/>
                <a:ea typeface="Segoe UI" pitchFamily="34" charset="-122"/>
                <a:cs typeface="Segoe UI" pitchFamily="34" charset="-120"/>
              </a:rPr>
              <a:t>2. AUGMENTATION (The Context Builder)</a:t>
            </a:r>
            <a:endParaRPr lang="en-US" sz="1050" dirty="0"/>
          </a:p>
        </p:txBody>
      </p:sp>
      <p:sp>
        <p:nvSpPr>
          <p:cNvPr id="19" name="Text 17"/>
          <p:cNvSpPr/>
          <p:nvPr/>
        </p:nvSpPr>
        <p:spPr>
          <a:xfrm>
            <a:off x="4846320" y="2944368"/>
            <a:ext cx="3383280" cy="457200"/>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Structures a prompt injecting retrieved excerpts alongside system rules, user query, and historical chat context.</a:t>
            </a:r>
            <a:endParaRPr lang="en-US" sz="900" dirty="0"/>
          </a:p>
        </p:txBody>
      </p:sp>
      <p:sp>
        <p:nvSpPr>
          <p:cNvPr id="20" name="Shape 18"/>
          <p:cNvSpPr/>
          <p:nvPr/>
        </p:nvSpPr>
        <p:spPr>
          <a:xfrm>
            <a:off x="4663440" y="3602736"/>
            <a:ext cx="3749040" cy="914400"/>
          </a:xfrm>
          <a:prstGeom prst="roundRect">
            <a:avLst>
              <a:gd name="adj" fmla="val 10000"/>
            </a:avLst>
          </a:prstGeom>
          <a:solidFill>
            <a:srgbClr val="141C2F"/>
          </a:solidFill>
          <a:ln w="12700">
            <a:solidFill>
              <a:srgbClr val="24324F"/>
            </a:solidFill>
            <a:prstDash val="solid"/>
          </a:ln>
        </p:spPr>
      </p:sp>
      <p:sp>
        <p:nvSpPr>
          <p:cNvPr id="21" name="Text 19"/>
          <p:cNvSpPr/>
          <p:nvPr/>
        </p:nvSpPr>
        <p:spPr>
          <a:xfrm>
            <a:off x="4846320" y="3712464"/>
            <a:ext cx="3383280" cy="228600"/>
          </a:xfrm>
          <a:prstGeom prst="rect">
            <a:avLst/>
          </a:prstGeom>
          <a:noFill/>
          <a:ln/>
        </p:spPr>
        <p:txBody>
          <a:bodyPr wrap="square" rtlCol="0" anchor="ctr"/>
          <a:lstStyle/>
          <a:p>
            <a:pPr indent="0" marL="0">
              <a:buNone/>
            </a:pPr>
            <a:r>
              <a:rPr lang="en-US" sz="1050" b="1" dirty="0">
                <a:solidFill>
                  <a:srgbClr val="10B981"/>
                </a:solidFill>
                <a:latin typeface="Segoe UI" pitchFamily="34" charset="0"/>
                <a:ea typeface="Segoe UI" pitchFamily="34" charset="-122"/>
                <a:cs typeface="Segoe UI" pitchFamily="34" charset="-120"/>
              </a:rPr>
              <a:t>3. GENERATION (The Synthesizer)</a:t>
            </a:r>
            <a:endParaRPr lang="en-US" sz="1050" dirty="0"/>
          </a:p>
        </p:txBody>
      </p:sp>
      <p:sp>
        <p:nvSpPr>
          <p:cNvPr id="22" name="Text 20"/>
          <p:cNvSpPr/>
          <p:nvPr/>
        </p:nvSpPr>
        <p:spPr>
          <a:xfrm>
            <a:off x="4846320" y="3968496"/>
            <a:ext cx="3383280" cy="457200"/>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The LLM processes the augmented prompt and crafts a concise, factual, grounded answer with traceable citations.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F1D"/>
        </a:solidFill>
      </p:bgPr>
    </p:bg>
    <p:spTree>
      <p:nvGrpSpPr>
        <p:cNvPr id="1" name=""/>
        <p:cNvGrpSpPr/>
        <p:nvPr/>
      </p:nvGrpSpPr>
      <p:grpSpPr>
        <a:xfrm>
          <a:off x="0" y="0"/>
          <a:ext cx="0" cy="0"/>
          <a:chOff x="0" y="0"/>
          <a:chExt cx="0" cy="0"/>
        </a:xfrm>
      </p:grpSpPr>
      <p:sp>
        <p:nvSpPr>
          <p:cNvPr id="2" name="Shape 0"/>
          <p:cNvSpPr/>
          <p:nvPr/>
        </p:nvSpPr>
        <p:spPr>
          <a:xfrm>
            <a:off x="731520" y="347472"/>
            <a:ext cx="1485900" cy="256032"/>
          </a:xfrm>
          <a:prstGeom prst="roundRect">
            <a:avLst>
              <a:gd name="adj" fmla="val 35714"/>
            </a:avLst>
          </a:prstGeom>
          <a:solidFill>
            <a:srgbClr val="1E293B"/>
          </a:solidFill>
          <a:ln w="12700">
            <a:solidFill>
              <a:srgbClr val="00D2FF"/>
            </a:solidFill>
            <a:prstDash val="solid"/>
          </a:ln>
        </p:spPr>
      </p:sp>
      <p:sp>
        <p:nvSpPr>
          <p:cNvPr id="3" name="Text 1"/>
          <p:cNvSpPr/>
          <p:nvPr/>
        </p:nvSpPr>
        <p:spPr>
          <a:xfrm>
            <a:off x="731520" y="347472"/>
            <a:ext cx="1485900" cy="256032"/>
          </a:xfrm>
          <a:prstGeom prst="rect">
            <a:avLst/>
          </a:prstGeom>
          <a:noFill/>
          <a:ln/>
        </p:spPr>
        <p:txBody>
          <a:bodyPr wrap="square" rtlCol="0" anchor="ctr"/>
          <a:lstStyle/>
          <a:p>
            <a:pPr algn="ctr" indent="0" marL="0">
              <a:buNone/>
            </a:pPr>
            <a:r>
              <a:rPr lang="en-US" sz="900" b="1" dirty="0">
                <a:solidFill>
                  <a:srgbClr val="00D2FF"/>
                </a:solidFill>
                <a:latin typeface="Segoe UI" pitchFamily="34" charset="0"/>
                <a:ea typeface="Segoe UI" pitchFamily="34" charset="-122"/>
                <a:cs typeface="Segoe UI" pitchFamily="34" charset="-120"/>
              </a:rPr>
              <a:t>SYSTEM WORKFLOW</a:t>
            </a:r>
            <a:endParaRPr lang="en-US" sz="900" dirty="0"/>
          </a:p>
        </p:txBody>
      </p:sp>
      <p:sp>
        <p:nvSpPr>
          <p:cNvPr id="4" name="Text 2"/>
          <p:cNvSpPr/>
          <p:nvPr/>
        </p:nvSpPr>
        <p:spPr>
          <a:xfrm>
            <a:off x="731520" y="658368"/>
            <a:ext cx="7680960" cy="502920"/>
          </a:xfrm>
          <a:prstGeom prst="rect">
            <a:avLst/>
          </a:prstGeom>
          <a:noFill/>
          <a:ln/>
        </p:spPr>
        <p:txBody>
          <a:bodyPr wrap="square" rtlCol="0" anchor="t"/>
          <a:lstStyle/>
          <a:p>
            <a:pPr indent="0" marL="0">
              <a:buNone/>
            </a:pPr>
            <a:r>
              <a:rPr lang="en-US" sz="2200" b="1" dirty="0">
                <a:solidFill>
                  <a:srgbClr val="FFFFFF"/>
                </a:solidFill>
                <a:latin typeface="Segoe UI" pitchFamily="34" charset="0"/>
                <a:ea typeface="Segoe UI" pitchFamily="34" charset="-122"/>
                <a:cs typeface="Segoe UI" pitchFamily="34" charset="-120"/>
              </a:rPr>
              <a:t>End-to-End RAG Architecture Pipeline</a:t>
            </a:r>
            <a:endParaRPr lang="en-US" sz="2200" dirty="0"/>
          </a:p>
        </p:txBody>
      </p:sp>
      <p:sp>
        <p:nvSpPr>
          <p:cNvPr id="5" name="Text 3"/>
          <p:cNvSpPr/>
          <p:nvPr/>
        </p:nvSpPr>
        <p:spPr>
          <a:xfrm>
            <a:off x="731520" y="1143000"/>
            <a:ext cx="7680960" cy="292608"/>
          </a:xfrm>
          <a:prstGeom prst="rect">
            <a:avLst/>
          </a:prstGeom>
          <a:noFill/>
          <a:ln/>
        </p:spPr>
        <p:txBody>
          <a:bodyPr wrap="square" rtlCol="0" anchor="t"/>
          <a:lstStyle/>
          <a:p>
            <a:pPr indent="0" marL="0">
              <a:buNone/>
            </a:pPr>
            <a:r>
              <a:rPr lang="en-US" sz="1200" dirty="0">
                <a:solidFill>
                  <a:srgbClr val="94A3B8"/>
                </a:solidFill>
                <a:latin typeface="Segoe UI" pitchFamily="34" charset="0"/>
                <a:ea typeface="Segoe UI" pitchFamily="34" charset="-122"/>
                <a:cs typeface="Segoe UI" pitchFamily="34" charset="-120"/>
              </a:rPr>
              <a:t>How raw unstructured enterprise documents transform into grounded, real-time AI responses.</a:t>
            </a:r>
            <a:endParaRPr lang="en-US" sz="1200" dirty="0"/>
          </a:p>
        </p:txBody>
      </p:sp>
      <p:sp>
        <p:nvSpPr>
          <p:cNvPr id="6" name="Shape 4"/>
          <p:cNvSpPr/>
          <p:nvPr/>
        </p:nvSpPr>
        <p:spPr>
          <a:xfrm>
            <a:off x="731520" y="4754880"/>
            <a:ext cx="7680960" cy="0"/>
          </a:xfrm>
          <a:prstGeom prst="line">
            <a:avLst/>
          </a:prstGeom>
          <a:noFill/>
          <a:ln w="12700">
            <a:solidFill>
              <a:srgbClr val="1E293B"/>
            </a:solidFill>
            <a:prstDash val="solid"/>
          </a:ln>
        </p:spPr>
      </p:sp>
      <p:sp>
        <p:nvSpPr>
          <p:cNvPr id="7" name="Text 5"/>
          <p:cNvSpPr/>
          <p:nvPr/>
        </p:nvSpPr>
        <p:spPr>
          <a:xfrm>
            <a:off x="731520" y="4800600"/>
            <a:ext cx="5486400" cy="22860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Retrieval-Augmented Generation (RAG) | Enterprise AI Architecture</a:t>
            </a:r>
            <a:endParaRPr lang="en-US" sz="900" dirty="0"/>
          </a:p>
        </p:txBody>
      </p:sp>
      <p:sp>
        <p:nvSpPr>
          <p:cNvPr id="8" name="Shape 6"/>
          <p:cNvSpPr/>
          <p:nvPr/>
        </p:nvSpPr>
        <p:spPr>
          <a:xfrm>
            <a:off x="731520" y="1554480"/>
            <a:ext cx="2423160" cy="2971800"/>
          </a:xfrm>
          <a:prstGeom prst="roundRect">
            <a:avLst>
              <a:gd name="adj" fmla="val 4528"/>
            </a:avLst>
          </a:prstGeom>
          <a:solidFill>
            <a:srgbClr val="141C2F"/>
          </a:solidFill>
          <a:ln w="15240">
            <a:solidFill>
              <a:srgbClr val="24324F"/>
            </a:solidFill>
            <a:prstDash val="solid"/>
          </a:ln>
        </p:spPr>
      </p:sp>
      <p:sp>
        <p:nvSpPr>
          <p:cNvPr id="9" name="Text 7"/>
          <p:cNvSpPr/>
          <p:nvPr/>
        </p:nvSpPr>
        <p:spPr>
          <a:xfrm>
            <a:off x="914400" y="1691640"/>
            <a:ext cx="2057400" cy="182880"/>
          </a:xfrm>
          <a:prstGeom prst="rect">
            <a:avLst/>
          </a:prstGeom>
          <a:noFill/>
          <a:ln/>
        </p:spPr>
        <p:txBody>
          <a:bodyPr wrap="square" rtlCol="0" anchor="ctr"/>
          <a:lstStyle/>
          <a:p>
            <a:pPr indent="0" marL="0">
              <a:buNone/>
            </a:pPr>
            <a:r>
              <a:rPr lang="en-US" sz="900" b="1" dirty="0">
                <a:solidFill>
                  <a:srgbClr val="00D2FF"/>
                </a:solidFill>
                <a:latin typeface="Segoe UI" pitchFamily="34" charset="0"/>
                <a:ea typeface="Segoe UI" pitchFamily="34" charset="-122"/>
                <a:cs typeface="Segoe UI" pitchFamily="34" charset="-120"/>
              </a:rPr>
              <a:t>PHASE 1</a:t>
            </a:r>
            <a:endParaRPr lang="en-US" sz="900" dirty="0"/>
          </a:p>
        </p:txBody>
      </p:sp>
      <p:sp>
        <p:nvSpPr>
          <p:cNvPr id="10" name="Text 8"/>
          <p:cNvSpPr/>
          <p:nvPr/>
        </p:nvSpPr>
        <p:spPr>
          <a:xfrm>
            <a:off x="914400" y="1874520"/>
            <a:ext cx="2057400" cy="320040"/>
          </a:xfrm>
          <a:prstGeom prst="rect">
            <a:avLst/>
          </a:prstGeom>
          <a:noFill/>
          <a:ln/>
        </p:spPr>
        <p:txBody>
          <a:bodyPr wrap="square" rtlCol="0" anchor="ctr"/>
          <a:lstStyle/>
          <a:p>
            <a:pPr indent="0" marL="0">
              <a:buNone/>
            </a:pPr>
            <a:r>
              <a:rPr lang="en-US" sz="1300" b="1" dirty="0">
                <a:solidFill>
                  <a:srgbClr val="FFFFFF"/>
                </a:solidFill>
                <a:latin typeface="Segoe UI" pitchFamily="34" charset="0"/>
                <a:ea typeface="Segoe UI" pitchFamily="34" charset="-122"/>
                <a:cs typeface="Segoe UI" pitchFamily="34" charset="-120"/>
              </a:rPr>
              <a:t>Ingestion &amp; Indexing</a:t>
            </a:r>
            <a:endParaRPr lang="en-US" sz="1300" dirty="0"/>
          </a:p>
        </p:txBody>
      </p:sp>
      <p:sp>
        <p:nvSpPr>
          <p:cNvPr id="11" name="Text 9"/>
          <p:cNvSpPr/>
          <p:nvPr/>
        </p:nvSpPr>
        <p:spPr>
          <a:xfrm>
            <a:off x="914400" y="2194560"/>
            <a:ext cx="2057400" cy="182880"/>
          </a:xfrm>
          <a:prstGeom prst="rect">
            <a:avLst/>
          </a:prstGeom>
          <a:noFill/>
          <a:ln/>
        </p:spPr>
        <p:txBody>
          <a:bodyPr wrap="square" rtlCol="0" anchor="ctr"/>
          <a:lstStyle/>
          <a:p>
            <a:pPr indent="0" marL="0">
              <a:buNone/>
            </a:pPr>
            <a:r>
              <a:rPr lang="en-US" sz="850" i="1" dirty="0">
                <a:solidFill>
                  <a:srgbClr val="64748B"/>
                </a:solidFill>
                <a:latin typeface="Segoe UI" pitchFamily="34" charset="0"/>
                <a:ea typeface="Segoe UI" pitchFamily="34" charset="-122"/>
                <a:cs typeface="Segoe UI" pitchFamily="34" charset="-120"/>
              </a:rPr>
              <a:t>Offline / Scheduled</a:t>
            </a:r>
            <a:endParaRPr lang="en-US" sz="850" dirty="0"/>
          </a:p>
        </p:txBody>
      </p:sp>
      <p:sp>
        <p:nvSpPr>
          <p:cNvPr id="12" name="Shape 10"/>
          <p:cNvSpPr/>
          <p:nvPr/>
        </p:nvSpPr>
        <p:spPr>
          <a:xfrm>
            <a:off x="914400" y="2450592"/>
            <a:ext cx="2057400" cy="0"/>
          </a:xfrm>
          <a:prstGeom prst="line">
            <a:avLst/>
          </a:prstGeom>
          <a:noFill/>
          <a:ln w="12700">
            <a:solidFill>
              <a:srgbClr val="24324F"/>
            </a:solidFill>
            <a:prstDash val="solid"/>
          </a:ln>
        </p:spPr>
      </p:sp>
      <p:sp>
        <p:nvSpPr>
          <p:cNvPr id="13" name="Text 11"/>
          <p:cNvSpPr/>
          <p:nvPr/>
        </p:nvSpPr>
        <p:spPr>
          <a:xfrm>
            <a:off x="914400" y="2560320"/>
            <a:ext cx="2057400" cy="1828800"/>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1. Raw Documents (PDF, MD, SQL)
</a:t>
            </a:r>
            <a:endParaRPr lang="en-US" sz="900" dirty="0"/>
          </a:p>
          <a:p>
            <a:pPr indent="0" marL="0">
              <a:buNone/>
            </a:pPr>
            <a:r>
              <a:rPr lang="en-US" sz="900" dirty="0">
                <a:solidFill>
                  <a:srgbClr val="94A3B8"/>
                </a:solidFill>
                <a:latin typeface="Segoe UI" pitchFamily="34" charset="0"/>
                <a:ea typeface="Segoe UI" pitchFamily="34" charset="-122"/>
                <a:cs typeface="Segoe UI" pitchFamily="34" charset="-120"/>
              </a:rPr>
              <a:t>2. Text Extraction &amp; Cleaning
</a:t>
            </a:r>
            <a:endParaRPr lang="en-US" sz="900" dirty="0"/>
          </a:p>
          <a:p>
            <a:pPr indent="0" marL="0">
              <a:buNone/>
            </a:pPr>
            <a:r>
              <a:rPr lang="en-US" sz="900" dirty="0">
                <a:solidFill>
                  <a:srgbClr val="94A3B8"/>
                </a:solidFill>
                <a:latin typeface="Segoe UI" pitchFamily="34" charset="0"/>
                <a:ea typeface="Segoe UI" pitchFamily="34" charset="-122"/>
                <a:cs typeface="Segoe UI" pitchFamily="34" charset="-120"/>
              </a:rPr>
              <a:t>3. Smart Chunking (300-800 tokens)
</a:t>
            </a:r>
            <a:endParaRPr lang="en-US" sz="900" dirty="0"/>
          </a:p>
          <a:p>
            <a:pPr indent="0" marL="0">
              <a:buNone/>
            </a:pPr>
            <a:r>
              <a:rPr lang="en-US" sz="900" dirty="0">
                <a:solidFill>
                  <a:srgbClr val="94A3B8"/>
                </a:solidFill>
                <a:latin typeface="Segoe UI" pitchFamily="34" charset="0"/>
                <a:ea typeface="Segoe UI" pitchFamily="34" charset="-122"/>
                <a:cs typeface="Segoe UI" pitchFamily="34" charset="-120"/>
              </a:rPr>
              <a:t>4. Embedding Generation (Vectors)
</a:t>
            </a:r>
            <a:endParaRPr lang="en-US" sz="900" dirty="0"/>
          </a:p>
          <a:p>
            <a:pPr indent="0" marL="0">
              <a:buNone/>
            </a:pPr>
            <a:r>
              <a:rPr lang="en-US" sz="900" dirty="0">
                <a:solidFill>
                  <a:srgbClr val="94A3B8"/>
                </a:solidFill>
                <a:latin typeface="Segoe UI" pitchFamily="34" charset="0"/>
                <a:ea typeface="Segoe UI" pitchFamily="34" charset="-122"/>
                <a:cs typeface="Segoe UI" pitchFamily="34" charset="-120"/>
              </a:rPr>
              <a:t>5. Vector Store Indexing (HNSW/IVF)
</a:t>
            </a:r>
            <a:endParaRPr lang="en-US" sz="900" dirty="0"/>
          </a:p>
        </p:txBody>
      </p:sp>
      <p:sp>
        <p:nvSpPr>
          <p:cNvPr id="14" name="Text 12"/>
          <p:cNvSpPr/>
          <p:nvPr/>
        </p:nvSpPr>
        <p:spPr>
          <a:xfrm>
            <a:off x="3172968" y="2834640"/>
            <a:ext cx="182880" cy="274320"/>
          </a:xfrm>
          <a:prstGeom prst="rect">
            <a:avLst/>
          </a:prstGeom>
          <a:noFill/>
          <a:ln/>
        </p:spPr>
        <p:txBody>
          <a:bodyPr wrap="square" rtlCol="0" anchor="ctr"/>
          <a:lstStyle/>
          <a:p>
            <a:pPr algn="ctr" indent="0" marL="0">
              <a:buNone/>
            </a:pPr>
            <a:r>
              <a:rPr lang="en-US" sz="1600" b="1" dirty="0">
                <a:solidFill>
                  <a:srgbClr val="00D2FF"/>
                </a:solidFill>
                <a:latin typeface="Segoe UI" pitchFamily="34" charset="0"/>
                <a:ea typeface="Segoe UI" pitchFamily="34" charset="-122"/>
                <a:cs typeface="Segoe UI" pitchFamily="34" charset="-120"/>
              </a:rPr>
              <a:t>➔</a:t>
            </a:r>
            <a:endParaRPr lang="en-US" sz="1600" dirty="0"/>
          </a:p>
        </p:txBody>
      </p:sp>
      <p:sp>
        <p:nvSpPr>
          <p:cNvPr id="15" name="Shape 13"/>
          <p:cNvSpPr/>
          <p:nvPr/>
        </p:nvSpPr>
        <p:spPr>
          <a:xfrm>
            <a:off x="3364992" y="1554480"/>
            <a:ext cx="2423160" cy="2971800"/>
          </a:xfrm>
          <a:prstGeom prst="roundRect">
            <a:avLst>
              <a:gd name="adj" fmla="val 4528"/>
            </a:avLst>
          </a:prstGeom>
          <a:solidFill>
            <a:srgbClr val="141C2F"/>
          </a:solidFill>
          <a:ln w="15240">
            <a:solidFill>
              <a:srgbClr val="24324F"/>
            </a:solidFill>
            <a:prstDash val="solid"/>
          </a:ln>
        </p:spPr>
      </p:sp>
      <p:sp>
        <p:nvSpPr>
          <p:cNvPr id="16" name="Text 14"/>
          <p:cNvSpPr/>
          <p:nvPr/>
        </p:nvSpPr>
        <p:spPr>
          <a:xfrm>
            <a:off x="3547872" y="1691640"/>
            <a:ext cx="2057400" cy="182880"/>
          </a:xfrm>
          <a:prstGeom prst="rect">
            <a:avLst/>
          </a:prstGeom>
          <a:noFill/>
          <a:ln/>
        </p:spPr>
        <p:txBody>
          <a:bodyPr wrap="square" rtlCol="0" anchor="ctr"/>
          <a:lstStyle/>
          <a:p>
            <a:pPr indent="0" marL="0">
              <a:buNone/>
            </a:pPr>
            <a:r>
              <a:rPr lang="en-US" sz="900" b="1" dirty="0">
                <a:solidFill>
                  <a:srgbClr val="8B5CF6"/>
                </a:solidFill>
                <a:latin typeface="Segoe UI" pitchFamily="34" charset="0"/>
                <a:ea typeface="Segoe UI" pitchFamily="34" charset="-122"/>
                <a:cs typeface="Segoe UI" pitchFamily="34" charset="-120"/>
              </a:rPr>
              <a:t>PHASE 2</a:t>
            </a:r>
            <a:endParaRPr lang="en-US" sz="900" dirty="0"/>
          </a:p>
        </p:txBody>
      </p:sp>
      <p:sp>
        <p:nvSpPr>
          <p:cNvPr id="17" name="Text 15"/>
          <p:cNvSpPr/>
          <p:nvPr/>
        </p:nvSpPr>
        <p:spPr>
          <a:xfrm>
            <a:off x="3547872" y="1874520"/>
            <a:ext cx="2057400" cy="320040"/>
          </a:xfrm>
          <a:prstGeom prst="rect">
            <a:avLst/>
          </a:prstGeom>
          <a:noFill/>
          <a:ln/>
        </p:spPr>
        <p:txBody>
          <a:bodyPr wrap="square" rtlCol="0" anchor="ctr"/>
          <a:lstStyle/>
          <a:p>
            <a:pPr indent="0" marL="0">
              <a:buNone/>
            </a:pPr>
            <a:r>
              <a:rPr lang="en-US" sz="1300" b="1" dirty="0">
                <a:solidFill>
                  <a:srgbClr val="FFFFFF"/>
                </a:solidFill>
                <a:latin typeface="Segoe UI" pitchFamily="34" charset="0"/>
                <a:ea typeface="Segoe UI" pitchFamily="34" charset="-122"/>
                <a:cs typeface="Segoe UI" pitchFamily="34" charset="-120"/>
              </a:rPr>
              <a:t>Search &amp; Retrieval</a:t>
            </a:r>
            <a:endParaRPr lang="en-US" sz="1300" dirty="0"/>
          </a:p>
        </p:txBody>
      </p:sp>
      <p:sp>
        <p:nvSpPr>
          <p:cNvPr id="18" name="Text 16"/>
          <p:cNvSpPr/>
          <p:nvPr/>
        </p:nvSpPr>
        <p:spPr>
          <a:xfrm>
            <a:off x="3547872" y="2194560"/>
            <a:ext cx="2057400" cy="182880"/>
          </a:xfrm>
          <a:prstGeom prst="rect">
            <a:avLst/>
          </a:prstGeom>
          <a:noFill/>
          <a:ln/>
        </p:spPr>
        <p:txBody>
          <a:bodyPr wrap="square" rtlCol="0" anchor="ctr"/>
          <a:lstStyle/>
          <a:p>
            <a:pPr indent="0" marL="0">
              <a:buNone/>
            </a:pPr>
            <a:r>
              <a:rPr lang="en-US" sz="850" i="1" dirty="0">
                <a:solidFill>
                  <a:srgbClr val="64748B"/>
                </a:solidFill>
                <a:latin typeface="Segoe UI" pitchFamily="34" charset="0"/>
                <a:ea typeface="Segoe UI" pitchFamily="34" charset="-122"/>
                <a:cs typeface="Segoe UI" pitchFamily="34" charset="-120"/>
              </a:rPr>
              <a:t>Real-Time (&lt; 150ms)</a:t>
            </a:r>
            <a:endParaRPr lang="en-US" sz="850" dirty="0"/>
          </a:p>
        </p:txBody>
      </p:sp>
      <p:sp>
        <p:nvSpPr>
          <p:cNvPr id="19" name="Shape 17"/>
          <p:cNvSpPr/>
          <p:nvPr/>
        </p:nvSpPr>
        <p:spPr>
          <a:xfrm>
            <a:off x="3547872" y="2450592"/>
            <a:ext cx="2057400" cy="0"/>
          </a:xfrm>
          <a:prstGeom prst="line">
            <a:avLst/>
          </a:prstGeom>
          <a:noFill/>
          <a:ln w="12700">
            <a:solidFill>
              <a:srgbClr val="24324F"/>
            </a:solidFill>
            <a:prstDash val="solid"/>
          </a:ln>
        </p:spPr>
      </p:sp>
      <p:sp>
        <p:nvSpPr>
          <p:cNvPr id="20" name="Text 18"/>
          <p:cNvSpPr/>
          <p:nvPr/>
        </p:nvSpPr>
        <p:spPr>
          <a:xfrm>
            <a:off x="3547872" y="2560320"/>
            <a:ext cx="2057400" cy="1828800"/>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1. User submits natural language query
</a:t>
            </a:r>
            <a:endParaRPr lang="en-US" sz="900" dirty="0"/>
          </a:p>
          <a:p>
            <a:pPr indent="0" marL="0">
              <a:buNone/>
            </a:pPr>
            <a:r>
              <a:rPr lang="en-US" sz="900" dirty="0">
                <a:solidFill>
                  <a:srgbClr val="94A3B8"/>
                </a:solidFill>
                <a:latin typeface="Segoe UI" pitchFamily="34" charset="0"/>
                <a:ea typeface="Segoe UI" pitchFamily="34" charset="-122"/>
                <a:cs typeface="Segoe UI" pitchFamily="34" charset="-120"/>
              </a:rPr>
              <a:t>2. Query embedding generated via API
</a:t>
            </a:r>
            <a:endParaRPr lang="en-US" sz="900" dirty="0"/>
          </a:p>
          <a:p>
            <a:pPr indent="0" marL="0">
              <a:buNone/>
            </a:pPr>
            <a:r>
              <a:rPr lang="en-US" sz="900" dirty="0">
                <a:solidFill>
                  <a:srgbClr val="94A3B8"/>
                </a:solidFill>
                <a:latin typeface="Segoe UI" pitchFamily="34" charset="0"/>
                <a:ea typeface="Segoe UI" pitchFamily="34" charset="-122"/>
                <a:cs typeface="Segoe UI" pitchFamily="34" charset="-120"/>
              </a:rPr>
              <a:t>3. Approximate Nearest Neighbor (ANN)
</a:t>
            </a:r>
            <a:endParaRPr lang="en-US" sz="900" dirty="0"/>
          </a:p>
          <a:p>
            <a:pPr indent="0" marL="0">
              <a:buNone/>
            </a:pPr>
            <a:r>
              <a:rPr lang="en-US" sz="900" dirty="0">
                <a:solidFill>
                  <a:srgbClr val="94A3B8"/>
                </a:solidFill>
                <a:latin typeface="Segoe UI" pitchFamily="34" charset="0"/>
                <a:ea typeface="Segoe UI" pitchFamily="34" charset="-122"/>
                <a:cs typeface="Segoe UI" pitchFamily="34" charset="-120"/>
              </a:rPr>
              <a:t>4. Hybrid Search (Dense + BM25 sparse)
</a:t>
            </a:r>
            <a:endParaRPr lang="en-US" sz="900" dirty="0"/>
          </a:p>
          <a:p>
            <a:pPr indent="0" marL="0">
              <a:buNone/>
            </a:pPr>
            <a:r>
              <a:rPr lang="en-US" sz="900" dirty="0">
                <a:solidFill>
                  <a:srgbClr val="94A3B8"/>
                </a:solidFill>
                <a:latin typeface="Segoe UI" pitchFamily="34" charset="0"/>
                <a:ea typeface="Segoe UI" pitchFamily="34" charset="-122"/>
                <a:cs typeface="Segoe UI" pitchFamily="34" charset="-120"/>
              </a:rPr>
              <a:t>5. Cross-Encoder Re-Ranking (Top-K)
</a:t>
            </a:r>
            <a:endParaRPr lang="en-US" sz="900" dirty="0"/>
          </a:p>
        </p:txBody>
      </p:sp>
      <p:sp>
        <p:nvSpPr>
          <p:cNvPr id="21" name="Text 19"/>
          <p:cNvSpPr/>
          <p:nvPr/>
        </p:nvSpPr>
        <p:spPr>
          <a:xfrm>
            <a:off x="5806440" y="2834640"/>
            <a:ext cx="182880" cy="274320"/>
          </a:xfrm>
          <a:prstGeom prst="rect">
            <a:avLst/>
          </a:prstGeom>
          <a:noFill/>
          <a:ln/>
        </p:spPr>
        <p:txBody>
          <a:bodyPr wrap="square" rtlCol="0" anchor="ctr"/>
          <a:lstStyle/>
          <a:p>
            <a:pPr algn="ctr" indent="0" marL="0">
              <a:buNone/>
            </a:pPr>
            <a:r>
              <a:rPr lang="en-US" sz="1600" b="1" dirty="0">
                <a:solidFill>
                  <a:srgbClr val="00D2FF"/>
                </a:solidFill>
                <a:latin typeface="Segoe UI" pitchFamily="34" charset="0"/>
                <a:ea typeface="Segoe UI" pitchFamily="34" charset="-122"/>
                <a:cs typeface="Segoe UI" pitchFamily="34" charset="-120"/>
              </a:rPr>
              <a:t>➔</a:t>
            </a:r>
            <a:endParaRPr lang="en-US" sz="1600" dirty="0"/>
          </a:p>
        </p:txBody>
      </p:sp>
      <p:sp>
        <p:nvSpPr>
          <p:cNvPr id="22" name="Shape 20"/>
          <p:cNvSpPr/>
          <p:nvPr/>
        </p:nvSpPr>
        <p:spPr>
          <a:xfrm>
            <a:off x="5998464" y="1554480"/>
            <a:ext cx="2423160" cy="2971800"/>
          </a:xfrm>
          <a:prstGeom prst="roundRect">
            <a:avLst>
              <a:gd name="adj" fmla="val 4528"/>
            </a:avLst>
          </a:prstGeom>
          <a:solidFill>
            <a:srgbClr val="141C2F"/>
          </a:solidFill>
          <a:ln w="15240">
            <a:solidFill>
              <a:srgbClr val="24324F"/>
            </a:solidFill>
            <a:prstDash val="solid"/>
          </a:ln>
        </p:spPr>
      </p:sp>
      <p:sp>
        <p:nvSpPr>
          <p:cNvPr id="23" name="Text 21"/>
          <p:cNvSpPr/>
          <p:nvPr/>
        </p:nvSpPr>
        <p:spPr>
          <a:xfrm>
            <a:off x="6181344" y="1691640"/>
            <a:ext cx="2057400" cy="182880"/>
          </a:xfrm>
          <a:prstGeom prst="rect">
            <a:avLst/>
          </a:prstGeom>
          <a:noFill/>
          <a:ln/>
        </p:spPr>
        <p:txBody>
          <a:bodyPr wrap="square" rtlCol="0" anchor="ctr"/>
          <a:lstStyle/>
          <a:p>
            <a:pPr indent="0" marL="0">
              <a:buNone/>
            </a:pPr>
            <a:r>
              <a:rPr lang="en-US" sz="900" b="1" dirty="0">
                <a:solidFill>
                  <a:srgbClr val="10B981"/>
                </a:solidFill>
                <a:latin typeface="Segoe UI" pitchFamily="34" charset="0"/>
                <a:ea typeface="Segoe UI" pitchFamily="34" charset="-122"/>
                <a:cs typeface="Segoe UI" pitchFamily="34" charset="-120"/>
              </a:rPr>
              <a:t>PHASE 3</a:t>
            </a:r>
            <a:endParaRPr lang="en-US" sz="900" dirty="0"/>
          </a:p>
        </p:txBody>
      </p:sp>
      <p:sp>
        <p:nvSpPr>
          <p:cNvPr id="24" name="Text 22"/>
          <p:cNvSpPr/>
          <p:nvPr/>
        </p:nvSpPr>
        <p:spPr>
          <a:xfrm>
            <a:off x="6181344" y="1874520"/>
            <a:ext cx="2057400" cy="320040"/>
          </a:xfrm>
          <a:prstGeom prst="rect">
            <a:avLst/>
          </a:prstGeom>
          <a:noFill/>
          <a:ln/>
        </p:spPr>
        <p:txBody>
          <a:bodyPr wrap="square" rtlCol="0" anchor="ctr"/>
          <a:lstStyle/>
          <a:p>
            <a:pPr indent="0" marL="0">
              <a:buNone/>
            </a:pPr>
            <a:r>
              <a:rPr lang="en-US" sz="1300" b="1" dirty="0">
                <a:solidFill>
                  <a:srgbClr val="FFFFFF"/>
                </a:solidFill>
                <a:latin typeface="Segoe UI" pitchFamily="34" charset="0"/>
                <a:ea typeface="Segoe UI" pitchFamily="34" charset="-122"/>
                <a:cs typeface="Segoe UI" pitchFamily="34" charset="-120"/>
              </a:rPr>
              <a:t>Prompt Augment &amp; Gen</a:t>
            </a:r>
            <a:endParaRPr lang="en-US" sz="1300" dirty="0"/>
          </a:p>
        </p:txBody>
      </p:sp>
      <p:sp>
        <p:nvSpPr>
          <p:cNvPr id="25" name="Text 23"/>
          <p:cNvSpPr/>
          <p:nvPr/>
        </p:nvSpPr>
        <p:spPr>
          <a:xfrm>
            <a:off x="6181344" y="2194560"/>
            <a:ext cx="2057400" cy="182880"/>
          </a:xfrm>
          <a:prstGeom prst="rect">
            <a:avLst/>
          </a:prstGeom>
          <a:noFill/>
          <a:ln/>
        </p:spPr>
        <p:txBody>
          <a:bodyPr wrap="square" rtlCol="0" anchor="ctr"/>
          <a:lstStyle/>
          <a:p>
            <a:pPr indent="0" marL="0">
              <a:buNone/>
            </a:pPr>
            <a:r>
              <a:rPr lang="en-US" sz="850" i="1" dirty="0">
                <a:solidFill>
                  <a:srgbClr val="64748B"/>
                </a:solidFill>
                <a:latin typeface="Segoe UI" pitchFamily="34" charset="0"/>
                <a:ea typeface="Segoe UI" pitchFamily="34" charset="-122"/>
                <a:cs typeface="Segoe UI" pitchFamily="34" charset="-120"/>
              </a:rPr>
              <a:t>Inference (&lt; 1.5s)</a:t>
            </a:r>
            <a:endParaRPr lang="en-US" sz="850" dirty="0"/>
          </a:p>
        </p:txBody>
      </p:sp>
      <p:sp>
        <p:nvSpPr>
          <p:cNvPr id="26" name="Shape 24"/>
          <p:cNvSpPr/>
          <p:nvPr/>
        </p:nvSpPr>
        <p:spPr>
          <a:xfrm>
            <a:off x="6181344" y="2450592"/>
            <a:ext cx="2057400" cy="0"/>
          </a:xfrm>
          <a:prstGeom prst="line">
            <a:avLst/>
          </a:prstGeom>
          <a:noFill/>
          <a:ln w="12700">
            <a:solidFill>
              <a:srgbClr val="24324F"/>
            </a:solidFill>
            <a:prstDash val="solid"/>
          </a:ln>
        </p:spPr>
      </p:sp>
      <p:sp>
        <p:nvSpPr>
          <p:cNvPr id="27" name="Text 25"/>
          <p:cNvSpPr/>
          <p:nvPr/>
        </p:nvSpPr>
        <p:spPr>
          <a:xfrm>
            <a:off x="6181344" y="2560320"/>
            <a:ext cx="2057400" cy="1828800"/>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1. Inject Top-K chunks into prompt
</a:t>
            </a:r>
            <a:endParaRPr lang="en-US" sz="900" dirty="0"/>
          </a:p>
          <a:p>
            <a:pPr indent="0" marL="0">
              <a:buNone/>
            </a:pPr>
            <a:r>
              <a:rPr lang="en-US" sz="900" dirty="0">
                <a:solidFill>
                  <a:srgbClr val="94A3B8"/>
                </a:solidFill>
                <a:latin typeface="Segoe UI" pitchFamily="34" charset="0"/>
                <a:ea typeface="Segoe UI" pitchFamily="34" charset="-122"/>
                <a:cs typeface="Segoe UI" pitchFamily="34" charset="-120"/>
              </a:rPr>
              <a:t>2. Enforce system guardrails &amp; role
</a:t>
            </a:r>
            <a:endParaRPr lang="en-US" sz="900" dirty="0"/>
          </a:p>
          <a:p>
            <a:pPr indent="0" marL="0">
              <a:buNone/>
            </a:pPr>
            <a:r>
              <a:rPr lang="en-US" sz="900" dirty="0">
                <a:solidFill>
                  <a:srgbClr val="94A3B8"/>
                </a:solidFill>
                <a:latin typeface="Segoe UI" pitchFamily="34" charset="0"/>
                <a:ea typeface="Segoe UI" pitchFamily="34" charset="-122"/>
                <a:cs typeface="Segoe UI" pitchFamily="34" charset="-120"/>
              </a:rPr>
              <a:t>3. Send augmented prompt to LLM
</a:t>
            </a:r>
            <a:endParaRPr lang="en-US" sz="900" dirty="0"/>
          </a:p>
          <a:p>
            <a:pPr indent="0" marL="0">
              <a:buNone/>
            </a:pPr>
            <a:r>
              <a:rPr lang="en-US" sz="900" dirty="0">
                <a:solidFill>
                  <a:srgbClr val="94A3B8"/>
                </a:solidFill>
                <a:latin typeface="Segoe UI" pitchFamily="34" charset="0"/>
                <a:ea typeface="Segoe UI" pitchFamily="34" charset="-122"/>
                <a:cs typeface="Segoe UI" pitchFamily="34" charset="-120"/>
              </a:rPr>
              <a:t>4. Generate grounded answer + citations
</a:t>
            </a:r>
            <a:endParaRPr lang="en-US" sz="900" dirty="0"/>
          </a:p>
          <a:p>
            <a:pPr indent="0" marL="0">
              <a:buNone/>
            </a:pPr>
            <a:r>
              <a:rPr lang="en-US" sz="900" dirty="0">
                <a:solidFill>
                  <a:srgbClr val="94A3B8"/>
                </a:solidFill>
                <a:latin typeface="Segoe UI" pitchFamily="34" charset="0"/>
                <a:ea typeface="Segoe UI" pitchFamily="34" charset="-122"/>
                <a:cs typeface="Segoe UI" pitchFamily="34" charset="-120"/>
              </a:rPr>
              <a:t>5. Stream response back to user
</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F1D"/>
        </a:solidFill>
      </p:bgPr>
    </p:bg>
    <p:spTree>
      <p:nvGrpSpPr>
        <p:cNvPr id="1" name=""/>
        <p:cNvGrpSpPr/>
        <p:nvPr/>
      </p:nvGrpSpPr>
      <p:grpSpPr>
        <a:xfrm>
          <a:off x="0" y="0"/>
          <a:ext cx="0" cy="0"/>
          <a:chOff x="0" y="0"/>
          <a:chExt cx="0" cy="0"/>
        </a:xfrm>
      </p:grpSpPr>
      <p:sp>
        <p:nvSpPr>
          <p:cNvPr id="2" name="Shape 0"/>
          <p:cNvSpPr/>
          <p:nvPr/>
        </p:nvSpPr>
        <p:spPr>
          <a:xfrm>
            <a:off x="731520" y="347472"/>
            <a:ext cx="1563624" cy="256032"/>
          </a:xfrm>
          <a:prstGeom prst="roundRect">
            <a:avLst>
              <a:gd name="adj" fmla="val 35714"/>
            </a:avLst>
          </a:prstGeom>
          <a:solidFill>
            <a:srgbClr val="1E293B"/>
          </a:solidFill>
          <a:ln w="12700">
            <a:solidFill>
              <a:srgbClr val="00D2FF"/>
            </a:solidFill>
            <a:prstDash val="solid"/>
          </a:ln>
        </p:spPr>
      </p:sp>
      <p:sp>
        <p:nvSpPr>
          <p:cNvPr id="3" name="Text 1"/>
          <p:cNvSpPr/>
          <p:nvPr/>
        </p:nvSpPr>
        <p:spPr>
          <a:xfrm>
            <a:off x="731520" y="347472"/>
            <a:ext cx="1563624" cy="256032"/>
          </a:xfrm>
          <a:prstGeom prst="rect">
            <a:avLst/>
          </a:prstGeom>
          <a:noFill/>
          <a:ln/>
        </p:spPr>
        <p:txBody>
          <a:bodyPr wrap="square" rtlCol="0" anchor="ctr"/>
          <a:lstStyle/>
          <a:p>
            <a:pPr algn="ctr" indent="0" marL="0">
              <a:buNone/>
            </a:pPr>
            <a:r>
              <a:rPr lang="en-US" sz="900" b="1" dirty="0">
                <a:solidFill>
                  <a:srgbClr val="00D2FF"/>
                </a:solidFill>
                <a:latin typeface="Segoe UI" pitchFamily="34" charset="0"/>
                <a:ea typeface="Segoe UI" pitchFamily="34" charset="-122"/>
                <a:cs typeface="Segoe UI" pitchFamily="34" charset="-120"/>
              </a:rPr>
              <a:t>DATA PREPARATION</a:t>
            </a:r>
            <a:endParaRPr lang="en-US" sz="900" dirty="0"/>
          </a:p>
        </p:txBody>
      </p:sp>
      <p:sp>
        <p:nvSpPr>
          <p:cNvPr id="4" name="Text 2"/>
          <p:cNvSpPr/>
          <p:nvPr/>
        </p:nvSpPr>
        <p:spPr>
          <a:xfrm>
            <a:off x="731520" y="658368"/>
            <a:ext cx="7680960" cy="502920"/>
          </a:xfrm>
          <a:prstGeom prst="rect">
            <a:avLst/>
          </a:prstGeom>
          <a:noFill/>
          <a:ln/>
        </p:spPr>
        <p:txBody>
          <a:bodyPr wrap="square" rtlCol="0" anchor="t"/>
          <a:lstStyle/>
          <a:p>
            <a:pPr indent="0" marL="0">
              <a:buNone/>
            </a:pPr>
            <a:r>
              <a:rPr lang="en-US" sz="2200" b="1" dirty="0">
                <a:solidFill>
                  <a:srgbClr val="FFFFFF"/>
                </a:solidFill>
                <a:latin typeface="Segoe UI" pitchFamily="34" charset="0"/>
                <a:ea typeface="Segoe UI" pitchFamily="34" charset="-122"/>
                <a:cs typeface="Segoe UI" pitchFamily="34" charset="-120"/>
              </a:rPr>
              <a:t>Deep Dive: Chunking Strategies &amp; Ingestion</a:t>
            </a:r>
            <a:endParaRPr lang="en-US" sz="2200" dirty="0"/>
          </a:p>
        </p:txBody>
      </p:sp>
      <p:sp>
        <p:nvSpPr>
          <p:cNvPr id="5" name="Text 3"/>
          <p:cNvSpPr/>
          <p:nvPr/>
        </p:nvSpPr>
        <p:spPr>
          <a:xfrm>
            <a:off x="731520" y="1143000"/>
            <a:ext cx="7680960" cy="292608"/>
          </a:xfrm>
          <a:prstGeom prst="rect">
            <a:avLst/>
          </a:prstGeom>
          <a:noFill/>
          <a:ln/>
        </p:spPr>
        <p:txBody>
          <a:bodyPr wrap="square" rtlCol="0" anchor="t"/>
          <a:lstStyle/>
          <a:p>
            <a:pPr indent="0" marL="0">
              <a:buNone/>
            </a:pPr>
            <a:r>
              <a:rPr lang="en-US" sz="1200" dirty="0">
                <a:solidFill>
                  <a:srgbClr val="94A3B8"/>
                </a:solidFill>
                <a:latin typeface="Segoe UI" pitchFamily="34" charset="0"/>
                <a:ea typeface="Segoe UI" pitchFamily="34" charset="-122"/>
                <a:cs typeface="Segoe UI" pitchFamily="34" charset="-120"/>
              </a:rPr>
              <a:t>Chunking is the single most critical lever determining retrieval precision and context relevance.</a:t>
            </a:r>
            <a:endParaRPr lang="en-US" sz="1200" dirty="0"/>
          </a:p>
        </p:txBody>
      </p:sp>
      <p:sp>
        <p:nvSpPr>
          <p:cNvPr id="6" name="Shape 4"/>
          <p:cNvSpPr/>
          <p:nvPr/>
        </p:nvSpPr>
        <p:spPr>
          <a:xfrm>
            <a:off x="731520" y="4754880"/>
            <a:ext cx="7680960" cy="0"/>
          </a:xfrm>
          <a:prstGeom prst="line">
            <a:avLst/>
          </a:prstGeom>
          <a:noFill/>
          <a:ln w="12700">
            <a:solidFill>
              <a:srgbClr val="1E293B"/>
            </a:solidFill>
            <a:prstDash val="solid"/>
          </a:ln>
        </p:spPr>
      </p:sp>
      <p:sp>
        <p:nvSpPr>
          <p:cNvPr id="7" name="Text 5"/>
          <p:cNvSpPr/>
          <p:nvPr/>
        </p:nvSpPr>
        <p:spPr>
          <a:xfrm>
            <a:off x="731520" y="4800600"/>
            <a:ext cx="5486400" cy="22860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Retrieval-Augmented Generation (RAG) | Enterprise AI Architecture</a:t>
            </a:r>
            <a:endParaRPr lang="en-US" sz="900" dirty="0"/>
          </a:p>
        </p:txBody>
      </p:sp>
      <p:sp>
        <p:nvSpPr>
          <p:cNvPr id="8" name="Shape 6"/>
          <p:cNvSpPr/>
          <p:nvPr/>
        </p:nvSpPr>
        <p:spPr>
          <a:xfrm>
            <a:off x="731520" y="1554480"/>
            <a:ext cx="3749040" cy="1371600"/>
          </a:xfrm>
          <a:prstGeom prst="roundRect">
            <a:avLst>
              <a:gd name="adj" fmla="val 6667"/>
            </a:avLst>
          </a:prstGeom>
          <a:solidFill>
            <a:srgbClr val="141C2F"/>
          </a:solidFill>
          <a:ln w="12700">
            <a:solidFill>
              <a:srgbClr val="24324F"/>
            </a:solidFill>
            <a:prstDash val="solid"/>
          </a:ln>
        </p:spPr>
      </p:sp>
      <p:sp>
        <p:nvSpPr>
          <p:cNvPr id="9" name="Text 7"/>
          <p:cNvSpPr/>
          <p:nvPr/>
        </p:nvSpPr>
        <p:spPr>
          <a:xfrm>
            <a:off x="914400" y="1664208"/>
            <a:ext cx="3383280" cy="256032"/>
          </a:xfrm>
          <a:prstGeom prst="rect">
            <a:avLst/>
          </a:prstGeom>
          <a:noFill/>
          <a:ln/>
        </p:spPr>
        <p:txBody>
          <a:bodyPr wrap="square" rtlCol="0" anchor="ctr"/>
          <a:lstStyle/>
          <a:p>
            <a:pPr indent="0" marL="0">
              <a:buNone/>
            </a:pPr>
            <a:r>
              <a:rPr lang="en-US" sz="1100" b="1" dirty="0">
                <a:solidFill>
                  <a:srgbClr val="00D2FF"/>
                </a:solidFill>
                <a:latin typeface="Segoe UI" pitchFamily="34" charset="0"/>
                <a:ea typeface="Segoe UI" pitchFamily="34" charset="-122"/>
                <a:cs typeface="Segoe UI" pitchFamily="34" charset="-120"/>
              </a:rPr>
              <a:t>Fixed-Size Chunking</a:t>
            </a:r>
            <a:endParaRPr lang="en-US" sz="1100" dirty="0"/>
          </a:p>
        </p:txBody>
      </p:sp>
      <p:sp>
        <p:nvSpPr>
          <p:cNvPr id="10" name="Text 8"/>
          <p:cNvSpPr/>
          <p:nvPr/>
        </p:nvSpPr>
        <p:spPr>
          <a:xfrm>
            <a:off x="914400" y="1901952"/>
            <a:ext cx="3383280" cy="201168"/>
          </a:xfrm>
          <a:prstGeom prst="rect">
            <a:avLst/>
          </a:prstGeom>
          <a:noFill/>
          <a:ln/>
        </p:spPr>
        <p:txBody>
          <a:bodyPr wrap="square" rtlCol="0" anchor="ctr"/>
          <a:lstStyle/>
          <a:p>
            <a:pPr indent="0" marL="0">
              <a:buNone/>
            </a:pPr>
            <a:r>
              <a:rPr lang="en-US" sz="850" i="1" dirty="0">
                <a:solidFill>
                  <a:srgbClr val="F59E0B"/>
                </a:solidFill>
                <a:latin typeface="Segoe UI" pitchFamily="34" charset="0"/>
                <a:ea typeface="Segoe UI" pitchFamily="34" charset="-122"/>
                <a:cs typeface="Segoe UI" pitchFamily="34" charset="-120"/>
              </a:rPr>
              <a:t>e.g. 500 characters with 10% overlap</a:t>
            </a:r>
            <a:endParaRPr lang="en-US" sz="850" dirty="0"/>
          </a:p>
        </p:txBody>
      </p:sp>
      <p:sp>
        <p:nvSpPr>
          <p:cNvPr id="11" name="Text 9"/>
          <p:cNvSpPr/>
          <p:nvPr/>
        </p:nvSpPr>
        <p:spPr>
          <a:xfrm>
            <a:off x="914400" y="2139696"/>
            <a:ext cx="3383280" cy="731520"/>
          </a:xfrm>
          <a:prstGeom prst="rect">
            <a:avLst/>
          </a:prstGeom>
          <a:noFill/>
          <a:ln/>
        </p:spPr>
        <p:txBody>
          <a:bodyPr wrap="square" rtlCol="0" anchor="ctr"/>
          <a:lstStyle/>
          <a:p>
            <a:pPr indent="0" marL="0">
              <a:buNone/>
            </a:pPr>
            <a:r>
              <a:rPr lang="en-US" sz="850" b="1" dirty="0">
                <a:solidFill>
                  <a:srgbClr val="10B981"/>
                </a:solidFill>
                <a:latin typeface="Segoe UI" pitchFamily="34" charset="0"/>
                <a:ea typeface="Segoe UI" pitchFamily="34" charset="-122"/>
                <a:cs typeface="Segoe UI" pitchFamily="34" charset="-120"/>
              </a:rPr>
              <a:t>✓ Pro: </a:t>
            </a:r>
            <a:pPr indent="0" marL="0">
              <a:buNone/>
            </a:pPr>
            <a:r>
              <a:rPr lang="en-US" sz="850" dirty="0">
                <a:solidFill>
                  <a:srgbClr val="94A3B8"/>
                </a:solidFill>
                <a:latin typeface="Segoe UI" pitchFamily="34" charset="0"/>
                <a:ea typeface="Segoe UI" pitchFamily="34" charset="-122"/>
                <a:cs typeface="Segoe UI" pitchFamily="34" charset="-120"/>
              </a:rPr>
              <a:t>Extremely fast, easy to implement, uniform size.
</a:t>
            </a:r>
            <a:pPr indent="0" marL="0">
              <a:buNone/>
            </a:pPr>
            <a:r>
              <a:rPr lang="en-US" sz="850" b="1" dirty="0">
                <a:solidFill>
                  <a:srgbClr val="EF4444"/>
                </a:solidFill>
                <a:latin typeface="Segoe UI" pitchFamily="34" charset="0"/>
                <a:ea typeface="Segoe UI" pitchFamily="34" charset="-122"/>
                <a:cs typeface="Segoe UI" pitchFamily="34" charset="-120"/>
              </a:rPr>
              <a:t>✗ Con: </a:t>
            </a:r>
            <a:pPr indent="0" marL="0">
              <a:buNone/>
            </a:pPr>
            <a:r>
              <a:rPr lang="en-US" sz="850" dirty="0">
                <a:solidFill>
                  <a:srgbClr val="94A3B8"/>
                </a:solidFill>
                <a:latin typeface="Segoe UI" pitchFamily="34" charset="0"/>
                <a:ea typeface="Segoe UI" pitchFamily="34" charset="-122"/>
                <a:cs typeface="Segoe UI" pitchFamily="34" charset="-120"/>
              </a:rPr>
              <a:t>Splits sentences mid-thought; loses table and diagram structure.
</a:t>
            </a:r>
            <a:pPr indent="0" marL="0">
              <a:buNone/>
            </a:pPr>
            <a:r>
              <a:rPr lang="en-US" sz="850" b="1" dirty="0">
                <a:solidFill>
                  <a:srgbClr val="FFFFFF"/>
                </a:solidFill>
                <a:latin typeface="Segoe UI" pitchFamily="34" charset="0"/>
                <a:ea typeface="Segoe UI" pitchFamily="34" charset="-122"/>
                <a:cs typeface="Segoe UI" pitchFamily="34" charset="-120"/>
              </a:rPr>
              <a:t>★ Best For: </a:t>
            </a:r>
            <a:pPr indent="0" marL="0">
              <a:buNone/>
            </a:pPr>
            <a:r>
              <a:rPr lang="en-US" sz="850" dirty="0">
                <a:solidFill>
                  <a:srgbClr val="94A3B8"/>
                </a:solidFill>
                <a:latin typeface="Segoe UI" pitchFamily="34" charset="0"/>
                <a:ea typeface="Segoe UI" pitchFamily="34" charset="-122"/>
                <a:cs typeface="Segoe UI" pitchFamily="34" charset="-120"/>
              </a:rPr>
              <a:t>General prose, blog posts, raw documentation.</a:t>
            </a:r>
            <a:endParaRPr lang="en-US" sz="850" dirty="0"/>
          </a:p>
        </p:txBody>
      </p:sp>
      <p:sp>
        <p:nvSpPr>
          <p:cNvPr id="12" name="Shape 10"/>
          <p:cNvSpPr/>
          <p:nvPr/>
        </p:nvSpPr>
        <p:spPr>
          <a:xfrm>
            <a:off x="4663440" y="1554480"/>
            <a:ext cx="3749040" cy="1371600"/>
          </a:xfrm>
          <a:prstGeom prst="roundRect">
            <a:avLst>
              <a:gd name="adj" fmla="val 6667"/>
            </a:avLst>
          </a:prstGeom>
          <a:solidFill>
            <a:srgbClr val="141C2F"/>
          </a:solidFill>
          <a:ln w="12700">
            <a:solidFill>
              <a:srgbClr val="24324F"/>
            </a:solidFill>
            <a:prstDash val="solid"/>
          </a:ln>
        </p:spPr>
      </p:sp>
      <p:sp>
        <p:nvSpPr>
          <p:cNvPr id="13" name="Text 11"/>
          <p:cNvSpPr/>
          <p:nvPr/>
        </p:nvSpPr>
        <p:spPr>
          <a:xfrm>
            <a:off x="4846320" y="1664208"/>
            <a:ext cx="3383280" cy="256032"/>
          </a:xfrm>
          <a:prstGeom prst="rect">
            <a:avLst/>
          </a:prstGeom>
          <a:noFill/>
          <a:ln/>
        </p:spPr>
        <p:txBody>
          <a:bodyPr wrap="square" rtlCol="0" anchor="ctr"/>
          <a:lstStyle/>
          <a:p>
            <a:pPr indent="0" marL="0">
              <a:buNone/>
            </a:pPr>
            <a:r>
              <a:rPr lang="en-US" sz="1100" b="1" dirty="0">
                <a:solidFill>
                  <a:srgbClr val="00D2FF"/>
                </a:solidFill>
                <a:latin typeface="Segoe UI" pitchFamily="34" charset="0"/>
                <a:ea typeface="Segoe UI" pitchFamily="34" charset="-122"/>
                <a:cs typeface="Segoe UI" pitchFamily="34" charset="-120"/>
              </a:rPr>
              <a:t>Recursive Character Chunking</a:t>
            </a:r>
            <a:endParaRPr lang="en-US" sz="1100" dirty="0"/>
          </a:p>
        </p:txBody>
      </p:sp>
      <p:sp>
        <p:nvSpPr>
          <p:cNvPr id="14" name="Text 12"/>
          <p:cNvSpPr/>
          <p:nvPr/>
        </p:nvSpPr>
        <p:spPr>
          <a:xfrm>
            <a:off x="4846320" y="1901952"/>
            <a:ext cx="3383280" cy="201168"/>
          </a:xfrm>
          <a:prstGeom prst="rect">
            <a:avLst/>
          </a:prstGeom>
          <a:noFill/>
          <a:ln/>
        </p:spPr>
        <p:txBody>
          <a:bodyPr wrap="square" rtlCol="0" anchor="ctr"/>
          <a:lstStyle/>
          <a:p>
            <a:pPr indent="0" marL="0">
              <a:buNone/>
            </a:pPr>
            <a:r>
              <a:rPr lang="en-US" sz="850" i="1" dirty="0">
                <a:solidFill>
                  <a:srgbClr val="F59E0B"/>
                </a:solidFill>
                <a:latin typeface="Segoe UI" pitchFamily="34" charset="0"/>
                <a:ea typeface="Segoe UI" pitchFamily="34" charset="-122"/>
                <a:cs typeface="Segoe UI" pitchFamily="34" charset="-120"/>
              </a:rPr>
              <a:t>Splits hierarchically: \n\n -&gt; \n -&gt; space -&gt; char</a:t>
            </a:r>
            <a:endParaRPr lang="en-US" sz="850" dirty="0"/>
          </a:p>
        </p:txBody>
      </p:sp>
      <p:sp>
        <p:nvSpPr>
          <p:cNvPr id="15" name="Text 13"/>
          <p:cNvSpPr/>
          <p:nvPr/>
        </p:nvSpPr>
        <p:spPr>
          <a:xfrm>
            <a:off x="4846320" y="2139696"/>
            <a:ext cx="3383280" cy="731520"/>
          </a:xfrm>
          <a:prstGeom prst="rect">
            <a:avLst/>
          </a:prstGeom>
          <a:noFill/>
          <a:ln/>
        </p:spPr>
        <p:txBody>
          <a:bodyPr wrap="square" rtlCol="0" anchor="ctr"/>
          <a:lstStyle/>
          <a:p>
            <a:pPr indent="0" marL="0">
              <a:buNone/>
            </a:pPr>
            <a:r>
              <a:rPr lang="en-US" sz="850" b="1" dirty="0">
                <a:solidFill>
                  <a:srgbClr val="10B981"/>
                </a:solidFill>
                <a:latin typeface="Segoe UI" pitchFamily="34" charset="0"/>
                <a:ea typeface="Segoe UI" pitchFamily="34" charset="-122"/>
                <a:cs typeface="Segoe UI" pitchFamily="34" charset="-120"/>
              </a:rPr>
              <a:t>✓ Pro: </a:t>
            </a:r>
            <a:pPr indent="0" marL="0">
              <a:buNone/>
            </a:pPr>
            <a:r>
              <a:rPr lang="en-US" sz="850" dirty="0">
                <a:solidFill>
                  <a:srgbClr val="94A3B8"/>
                </a:solidFill>
                <a:latin typeface="Segoe UI" pitchFamily="34" charset="0"/>
                <a:ea typeface="Segoe UI" pitchFamily="34" charset="-122"/>
                <a:cs typeface="Segoe UI" pitchFamily="34" charset="-120"/>
              </a:rPr>
              <a:t>Keeps paragraphs and semantic thoughts intact together.
</a:t>
            </a:r>
            <a:pPr indent="0" marL="0">
              <a:buNone/>
            </a:pPr>
            <a:r>
              <a:rPr lang="en-US" sz="850" b="1" dirty="0">
                <a:solidFill>
                  <a:srgbClr val="EF4444"/>
                </a:solidFill>
                <a:latin typeface="Segoe UI" pitchFamily="34" charset="0"/>
                <a:ea typeface="Segoe UI" pitchFamily="34" charset="-122"/>
                <a:cs typeface="Segoe UI" pitchFamily="34" charset="-120"/>
              </a:rPr>
              <a:t>✗ Con: </a:t>
            </a:r>
            <a:pPr indent="0" marL="0">
              <a:buNone/>
            </a:pPr>
            <a:r>
              <a:rPr lang="en-US" sz="850" dirty="0">
                <a:solidFill>
                  <a:srgbClr val="94A3B8"/>
                </a:solidFill>
                <a:latin typeface="Segoe UI" pitchFamily="34" charset="0"/>
                <a:ea typeface="Segoe UI" pitchFamily="34" charset="-122"/>
                <a:cs typeface="Segoe UI" pitchFamily="34" charset="-120"/>
              </a:rPr>
              <a:t>Variable chunk sizes; requires tuning thresholds.
</a:t>
            </a:r>
            <a:pPr indent="0" marL="0">
              <a:buNone/>
            </a:pPr>
            <a:r>
              <a:rPr lang="en-US" sz="850" b="1" dirty="0">
                <a:solidFill>
                  <a:srgbClr val="FFFFFF"/>
                </a:solidFill>
                <a:latin typeface="Segoe UI" pitchFamily="34" charset="0"/>
                <a:ea typeface="Segoe UI" pitchFamily="34" charset="-122"/>
                <a:cs typeface="Segoe UI" pitchFamily="34" charset="-120"/>
              </a:rPr>
              <a:t>★ Best For: </a:t>
            </a:r>
            <a:pPr indent="0" marL="0">
              <a:buNone/>
            </a:pPr>
            <a:r>
              <a:rPr lang="en-US" sz="850" dirty="0">
                <a:solidFill>
                  <a:srgbClr val="94A3B8"/>
                </a:solidFill>
                <a:latin typeface="Segoe UI" pitchFamily="34" charset="0"/>
                <a:ea typeface="Segoe UI" pitchFamily="34" charset="-122"/>
                <a:cs typeface="Segoe UI" pitchFamily="34" charset="-120"/>
              </a:rPr>
              <a:t>Articles, standard technical manuals, wikis.</a:t>
            </a:r>
            <a:endParaRPr lang="en-US" sz="850" dirty="0"/>
          </a:p>
        </p:txBody>
      </p:sp>
      <p:sp>
        <p:nvSpPr>
          <p:cNvPr id="16" name="Shape 14"/>
          <p:cNvSpPr/>
          <p:nvPr/>
        </p:nvSpPr>
        <p:spPr>
          <a:xfrm>
            <a:off x="731520" y="3063240"/>
            <a:ext cx="3749040" cy="1371600"/>
          </a:xfrm>
          <a:prstGeom prst="roundRect">
            <a:avLst>
              <a:gd name="adj" fmla="val 6667"/>
            </a:avLst>
          </a:prstGeom>
          <a:solidFill>
            <a:srgbClr val="141C2F"/>
          </a:solidFill>
          <a:ln w="12700">
            <a:solidFill>
              <a:srgbClr val="24324F"/>
            </a:solidFill>
            <a:prstDash val="solid"/>
          </a:ln>
        </p:spPr>
      </p:sp>
      <p:sp>
        <p:nvSpPr>
          <p:cNvPr id="17" name="Text 15"/>
          <p:cNvSpPr/>
          <p:nvPr/>
        </p:nvSpPr>
        <p:spPr>
          <a:xfrm>
            <a:off x="914400" y="3172968"/>
            <a:ext cx="3383280" cy="256032"/>
          </a:xfrm>
          <a:prstGeom prst="rect">
            <a:avLst/>
          </a:prstGeom>
          <a:noFill/>
          <a:ln/>
        </p:spPr>
        <p:txBody>
          <a:bodyPr wrap="square" rtlCol="0" anchor="ctr"/>
          <a:lstStyle/>
          <a:p>
            <a:pPr indent="0" marL="0">
              <a:buNone/>
            </a:pPr>
            <a:r>
              <a:rPr lang="en-US" sz="1100" b="1" dirty="0">
                <a:solidFill>
                  <a:srgbClr val="00D2FF"/>
                </a:solidFill>
                <a:latin typeface="Segoe UI" pitchFamily="34" charset="0"/>
                <a:ea typeface="Segoe UI" pitchFamily="34" charset="-122"/>
                <a:cs typeface="Segoe UI" pitchFamily="34" charset="-120"/>
              </a:rPr>
              <a:t>Semantic &amp; Sentence-Based Chunking</a:t>
            </a:r>
            <a:endParaRPr lang="en-US" sz="1100" dirty="0"/>
          </a:p>
        </p:txBody>
      </p:sp>
      <p:sp>
        <p:nvSpPr>
          <p:cNvPr id="18" name="Text 16"/>
          <p:cNvSpPr/>
          <p:nvPr/>
        </p:nvSpPr>
        <p:spPr>
          <a:xfrm>
            <a:off x="914400" y="3410712"/>
            <a:ext cx="3383280" cy="201168"/>
          </a:xfrm>
          <a:prstGeom prst="rect">
            <a:avLst/>
          </a:prstGeom>
          <a:noFill/>
          <a:ln/>
        </p:spPr>
        <p:txBody>
          <a:bodyPr wrap="square" rtlCol="0" anchor="ctr"/>
          <a:lstStyle/>
          <a:p>
            <a:pPr indent="0" marL="0">
              <a:buNone/>
            </a:pPr>
            <a:r>
              <a:rPr lang="en-US" sz="850" i="1" dirty="0">
                <a:solidFill>
                  <a:srgbClr val="F59E0B"/>
                </a:solidFill>
                <a:latin typeface="Segoe UI" pitchFamily="34" charset="0"/>
                <a:ea typeface="Segoe UI" pitchFamily="34" charset="-122"/>
                <a:cs typeface="Segoe UI" pitchFamily="34" charset="-120"/>
              </a:rPr>
              <a:t>Calculates cosine distance between consecutive sentences</a:t>
            </a:r>
            <a:endParaRPr lang="en-US" sz="850" dirty="0"/>
          </a:p>
        </p:txBody>
      </p:sp>
      <p:sp>
        <p:nvSpPr>
          <p:cNvPr id="19" name="Text 17"/>
          <p:cNvSpPr/>
          <p:nvPr/>
        </p:nvSpPr>
        <p:spPr>
          <a:xfrm>
            <a:off x="914400" y="3648456"/>
            <a:ext cx="3383280" cy="731520"/>
          </a:xfrm>
          <a:prstGeom prst="rect">
            <a:avLst/>
          </a:prstGeom>
          <a:noFill/>
          <a:ln/>
        </p:spPr>
        <p:txBody>
          <a:bodyPr wrap="square" rtlCol="0" anchor="ctr"/>
          <a:lstStyle/>
          <a:p>
            <a:pPr indent="0" marL="0">
              <a:buNone/>
            </a:pPr>
            <a:r>
              <a:rPr lang="en-US" sz="850" b="1" dirty="0">
                <a:solidFill>
                  <a:srgbClr val="10B981"/>
                </a:solidFill>
                <a:latin typeface="Segoe UI" pitchFamily="34" charset="0"/>
                <a:ea typeface="Segoe UI" pitchFamily="34" charset="-122"/>
                <a:cs typeface="Segoe UI" pitchFamily="34" charset="-120"/>
              </a:rPr>
              <a:t>✓ Pro: </a:t>
            </a:r>
            <a:pPr indent="0" marL="0">
              <a:buNone/>
            </a:pPr>
            <a:r>
              <a:rPr lang="en-US" sz="850" dirty="0">
                <a:solidFill>
                  <a:srgbClr val="94A3B8"/>
                </a:solidFill>
                <a:latin typeface="Segoe UI" pitchFamily="34" charset="0"/>
                <a:ea typeface="Segoe UI" pitchFamily="34" charset="-122"/>
                <a:cs typeface="Segoe UI" pitchFamily="34" charset="-120"/>
              </a:rPr>
              <a:t>Breaks chunks only when topic/meaning shifts significantly.
</a:t>
            </a:r>
            <a:pPr indent="0" marL="0">
              <a:buNone/>
            </a:pPr>
            <a:r>
              <a:rPr lang="en-US" sz="850" b="1" dirty="0">
                <a:solidFill>
                  <a:srgbClr val="EF4444"/>
                </a:solidFill>
                <a:latin typeface="Segoe UI" pitchFamily="34" charset="0"/>
                <a:ea typeface="Segoe UI" pitchFamily="34" charset="-122"/>
                <a:cs typeface="Segoe UI" pitchFamily="34" charset="-120"/>
              </a:rPr>
              <a:t>✗ Con: </a:t>
            </a:r>
            <a:pPr indent="0" marL="0">
              <a:buNone/>
            </a:pPr>
            <a:r>
              <a:rPr lang="en-US" sz="850" dirty="0">
                <a:solidFill>
                  <a:srgbClr val="94A3B8"/>
                </a:solidFill>
                <a:latin typeface="Segoe UI" pitchFamily="34" charset="0"/>
                <a:ea typeface="Segoe UI" pitchFamily="34" charset="-122"/>
                <a:cs typeface="Segoe UI" pitchFamily="34" charset="-120"/>
              </a:rPr>
              <a:t>Higher latency during ingestion due to multiple embeddings.
</a:t>
            </a:r>
            <a:pPr indent="0" marL="0">
              <a:buNone/>
            </a:pPr>
            <a:r>
              <a:rPr lang="en-US" sz="850" b="1" dirty="0">
                <a:solidFill>
                  <a:srgbClr val="FFFFFF"/>
                </a:solidFill>
                <a:latin typeface="Segoe UI" pitchFamily="34" charset="0"/>
                <a:ea typeface="Segoe UI" pitchFamily="34" charset="-122"/>
                <a:cs typeface="Segoe UI" pitchFamily="34" charset="-120"/>
              </a:rPr>
              <a:t>★ Best For: </a:t>
            </a:r>
            <a:pPr indent="0" marL="0">
              <a:buNone/>
            </a:pPr>
            <a:r>
              <a:rPr lang="en-US" sz="850" dirty="0">
                <a:solidFill>
                  <a:srgbClr val="94A3B8"/>
                </a:solidFill>
                <a:latin typeface="Segoe UI" pitchFamily="34" charset="0"/>
                <a:ea typeface="Segoe UI" pitchFamily="34" charset="-122"/>
                <a:cs typeface="Segoe UI" pitchFamily="34" charset="-120"/>
              </a:rPr>
              <a:t>Transcripts, customer support dialogues, legal depositions.</a:t>
            </a:r>
            <a:endParaRPr lang="en-US" sz="850" dirty="0"/>
          </a:p>
        </p:txBody>
      </p:sp>
      <p:sp>
        <p:nvSpPr>
          <p:cNvPr id="20" name="Shape 18"/>
          <p:cNvSpPr/>
          <p:nvPr/>
        </p:nvSpPr>
        <p:spPr>
          <a:xfrm>
            <a:off x="4663440" y="3063240"/>
            <a:ext cx="3749040" cy="1371600"/>
          </a:xfrm>
          <a:prstGeom prst="roundRect">
            <a:avLst>
              <a:gd name="adj" fmla="val 6667"/>
            </a:avLst>
          </a:prstGeom>
          <a:solidFill>
            <a:srgbClr val="141C2F"/>
          </a:solidFill>
          <a:ln w="12700">
            <a:solidFill>
              <a:srgbClr val="24324F"/>
            </a:solidFill>
            <a:prstDash val="solid"/>
          </a:ln>
        </p:spPr>
      </p:sp>
      <p:sp>
        <p:nvSpPr>
          <p:cNvPr id="21" name="Text 19"/>
          <p:cNvSpPr/>
          <p:nvPr/>
        </p:nvSpPr>
        <p:spPr>
          <a:xfrm>
            <a:off x="4846320" y="3172968"/>
            <a:ext cx="3383280" cy="256032"/>
          </a:xfrm>
          <a:prstGeom prst="rect">
            <a:avLst/>
          </a:prstGeom>
          <a:noFill/>
          <a:ln/>
        </p:spPr>
        <p:txBody>
          <a:bodyPr wrap="square" rtlCol="0" anchor="ctr"/>
          <a:lstStyle/>
          <a:p>
            <a:pPr indent="0" marL="0">
              <a:buNone/>
            </a:pPr>
            <a:r>
              <a:rPr lang="en-US" sz="1100" b="1" dirty="0">
                <a:solidFill>
                  <a:srgbClr val="00D2FF"/>
                </a:solidFill>
                <a:latin typeface="Segoe UI" pitchFamily="34" charset="0"/>
                <a:ea typeface="Segoe UI" pitchFamily="34" charset="-122"/>
                <a:cs typeface="Segoe UI" pitchFamily="34" charset="-120"/>
              </a:rPr>
              <a:t>Document-Structure Aware Chunking</a:t>
            </a:r>
            <a:endParaRPr lang="en-US" sz="1100" dirty="0"/>
          </a:p>
        </p:txBody>
      </p:sp>
      <p:sp>
        <p:nvSpPr>
          <p:cNvPr id="22" name="Text 20"/>
          <p:cNvSpPr/>
          <p:nvPr/>
        </p:nvSpPr>
        <p:spPr>
          <a:xfrm>
            <a:off x="4846320" y="3410712"/>
            <a:ext cx="3383280" cy="201168"/>
          </a:xfrm>
          <a:prstGeom prst="rect">
            <a:avLst/>
          </a:prstGeom>
          <a:noFill/>
          <a:ln/>
        </p:spPr>
        <p:txBody>
          <a:bodyPr wrap="square" rtlCol="0" anchor="ctr"/>
          <a:lstStyle/>
          <a:p>
            <a:pPr indent="0" marL="0">
              <a:buNone/>
            </a:pPr>
            <a:r>
              <a:rPr lang="en-US" sz="850" i="1" dirty="0">
                <a:solidFill>
                  <a:srgbClr val="F59E0B"/>
                </a:solidFill>
                <a:latin typeface="Segoe UI" pitchFamily="34" charset="0"/>
                <a:ea typeface="Segoe UI" pitchFamily="34" charset="-122"/>
                <a:cs typeface="Segoe UI" pitchFamily="34" charset="-120"/>
              </a:rPr>
              <a:t>Parses Markdown headers (H1/H2), XML tags, table rows</a:t>
            </a:r>
            <a:endParaRPr lang="en-US" sz="850" dirty="0"/>
          </a:p>
        </p:txBody>
      </p:sp>
      <p:sp>
        <p:nvSpPr>
          <p:cNvPr id="23" name="Text 21"/>
          <p:cNvSpPr/>
          <p:nvPr/>
        </p:nvSpPr>
        <p:spPr>
          <a:xfrm>
            <a:off x="4846320" y="3648456"/>
            <a:ext cx="3383280" cy="731520"/>
          </a:xfrm>
          <a:prstGeom prst="rect">
            <a:avLst/>
          </a:prstGeom>
          <a:noFill/>
          <a:ln/>
        </p:spPr>
        <p:txBody>
          <a:bodyPr wrap="square" rtlCol="0" anchor="ctr"/>
          <a:lstStyle/>
          <a:p>
            <a:pPr indent="0" marL="0">
              <a:buNone/>
            </a:pPr>
            <a:r>
              <a:rPr lang="en-US" sz="850" b="1" dirty="0">
                <a:solidFill>
                  <a:srgbClr val="10B981"/>
                </a:solidFill>
                <a:latin typeface="Segoe UI" pitchFamily="34" charset="0"/>
                <a:ea typeface="Segoe UI" pitchFamily="34" charset="-122"/>
                <a:cs typeface="Segoe UI" pitchFamily="34" charset="-120"/>
              </a:rPr>
              <a:t>✓ Pro: </a:t>
            </a:r>
            <a:pPr indent="0" marL="0">
              <a:buNone/>
            </a:pPr>
            <a:r>
              <a:rPr lang="en-US" sz="850" dirty="0">
                <a:solidFill>
                  <a:srgbClr val="94A3B8"/>
                </a:solidFill>
                <a:latin typeface="Segoe UI" pitchFamily="34" charset="0"/>
                <a:ea typeface="Segoe UI" pitchFamily="34" charset="-122"/>
                <a:cs typeface="Segoe UI" pitchFamily="34" charset="-120"/>
              </a:rPr>
              <a:t>Preserves table rows, code blocks, and section hierarchies.
</a:t>
            </a:r>
            <a:pPr indent="0" marL="0">
              <a:buNone/>
            </a:pPr>
            <a:r>
              <a:rPr lang="en-US" sz="850" b="1" dirty="0">
                <a:solidFill>
                  <a:srgbClr val="EF4444"/>
                </a:solidFill>
                <a:latin typeface="Segoe UI" pitchFamily="34" charset="0"/>
                <a:ea typeface="Segoe UI" pitchFamily="34" charset="-122"/>
                <a:cs typeface="Segoe UI" pitchFamily="34" charset="-120"/>
              </a:rPr>
              <a:t>✗ Con: </a:t>
            </a:r>
            <a:pPr indent="0" marL="0">
              <a:buNone/>
            </a:pPr>
            <a:r>
              <a:rPr lang="en-US" sz="850" dirty="0">
                <a:solidFill>
                  <a:srgbClr val="94A3B8"/>
                </a:solidFill>
                <a:latin typeface="Segoe UI" pitchFamily="34" charset="0"/>
                <a:ea typeface="Segoe UI" pitchFamily="34" charset="-122"/>
                <a:cs typeface="Segoe UI" pitchFamily="34" charset="-120"/>
              </a:rPr>
              <a:t>Requires dedicated parsers for each document format.
</a:t>
            </a:r>
            <a:pPr indent="0" marL="0">
              <a:buNone/>
            </a:pPr>
            <a:r>
              <a:rPr lang="en-US" sz="850" b="1" dirty="0">
                <a:solidFill>
                  <a:srgbClr val="FFFFFF"/>
                </a:solidFill>
                <a:latin typeface="Segoe UI" pitchFamily="34" charset="0"/>
                <a:ea typeface="Segoe UI" pitchFamily="34" charset="-122"/>
                <a:cs typeface="Segoe UI" pitchFamily="34" charset="-120"/>
              </a:rPr>
              <a:t>★ Best For: </a:t>
            </a:r>
            <a:pPr indent="0" marL="0">
              <a:buNone/>
            </a:pPr>
            <a:r>
              <a:rPr lang="en-US" sz="850" dirty="0">
                <a:solidFill>
                  <a:srgbClr val="94A3B8"/>
                </a:solidFill>
                <a:latin typeface="Segoe UI" pitchFamily="34" charset="0"/>
                <a:ea typeface="Segoe UI" pitchFamily="34" charset="-122"/>
                <a:cs typeface="Segoe UI" pitchFamily="34" charset="-120"/>
              </a:rPr>
              <a:t>Financial reports (10-K filings), API documentation.</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F1D"/>
        </a:solidFill>
      </p:bgPr>
    </p:bg>
    <p:spTree>
      <p:nvGrpSpPr>
        <p:cNvPr id="1" name=""/>
        <p:cNvGrpSpPr/>
        <p:nvPr/>
      </p:nvGrpSpPr>
      <p:grpSpPr>
        <a:xfrm>
          <a:off x="0" y="0"/>
          <a:ext cx="0" cy="0"/>
          <a:chOff x="0" y="0"/>
          <a:chExt cx="0" cy="0"/>
        </a:xfrm>
      </p:grpSpPr>
      <p:sp>
        <p:nvSpPr>
          <p:cNvPr id="2" name="Shape 0"/>
          <p:cNvSpPr/>
          <p:nvPr/>
        </p:nvSpPr>
        <p:spPr>
          <a:xfrm>
            <a:off x="731520" y="347472"/>
            <a:ext cx="1641348" cy="256032"/>
          </a:xfrm>
          <a:prstGeom prst="roundRect">
            <a:avLst>
              <a:gd name="adj" fmla="val 35714"/>
            </a:avLst>
          </a:prstGeom>
          <a:solidFill>
            <a:srgbClr val="1E293B"/>
          </a:solidFill>
          <a:ln w="12700">
            <a:solidFill>
              <a:srgbClr val="00D2FF"/>
            </a:solidFill>
            <a:prstDash val="solid"/>
          </a:ln>
        </p:spPr>
      </p:sp>
      <p:sp>
        <p:nvSpPr>
          <p:cNvPr id="3" name="Text 1"/>
          <p:cNvSpPr/>
          <p:nvPr/>
        </p:nvSpPr>
        <p:spPr>
          <a:xfrm>
            <a:off x="731520" y="347472"/>
            <a:ext cx="1641348" cy="256032"/>
          </a:xfrm>
          <a:prstGeom prst="rect">
            <a:avLst/>
          </a:prstGeom>
          <a:noFill/>
          <a:ln/>
        </p:spPr>
        <p:txBody>
          <a:bodyPr wrap="square" rtlCol="0" anchor="ctr"/>
          <a:lstStyle/>
          <a:p>
            <a:pPr algn="ctr" indent="0" marL="0">
              <a:buNone/>
            </a:pPr>
            <a:r>
              <a:rPr lang="en-US" sz="900" b="1" dirty="0">
                <a:solidFill>
                  <a:srgbClr val="00D2FF"/>
                </a:solidFill>
                <a:latin typeface="Segoe UI" pitchFamily="34" charset="0"/>
                <a:ea typeface="Segoe UI" pitchFamily="34" charset="-122"/>
                <a:cs typeface="Segoe UI" pitchFamily="34" charset="-120"/>
              </a:rPr>
              <a:t>STORAGE &amp; VECTORS</a:t>
            </a:r>
            <a:endParaRPr lang="en-US" sz="900" dirty="0"/>
          </a:p>
        </p:txBody>
      </p:sp>
      <p:sp>
        <p:nvSpPr>
          <p:cNvPr id="4" name="Text 2"/>
          <p:cNvSpPr/>
          <p:nvPr/>
        </p:nvSpPr>
        <p:spPr>
          <a:xfrm>
            <a:off x="731520" y="658368"/>
            <a:ext cx="7680960" cy="502920"/>
          </a:xfrm>
          <a:prstGeom prst="rect">
            <a:avLst/>
          </a:prstGeom>
          <a:noFill/>
          <a:ln/>
        </p:spPr>
        <p:txBody>
          <a:bodyPr wrap="square" rtlCol="0" anchor="t"/>
          <a:lstStyle/>
          <a:p>
            <a:pPr indent="0" marL="0">
              <a:buNone/>
            </a:pPr>
            <a:r>
              <a:rPr lang="en-US" sz="2200" b="1" dirty="0">
                <a:solidFill>
                  <a:srgbClr val="FFFFFF"/>
                </a:solidFill>
                <a:latin typeface="Segoe UI" pitchFamily="34" charset="0"/>
                <a:ea typeface="Segoe UI" pitchFamily="34" charset="-122"/>
                <a:cs typeface="Segoe UI" pitchFamily="34" charset="-120"/>
              </a:rPr>
              <a:t>Vector Embeddings &amp; Vector Databases</a:t>
            </a:r>
            <a:endParaRPr lang="en-US" sz="2200" dirty="0"/>
          </a:p>
        </p:txBody>
      </p:sp>
      <p:sp>
        <p:nvSpPr>
          <p:cNvPr id="5" name="Text 3"/>
          <p:cNvSpPr/>
          <p:nvPr/>
        </p:nvSpPr>
        <p:spPr>
          <a:xfrm>
            <a:off x="731520" y="1143000"/>
            <a:ext cx="7680960" cy="292608"/>
          </a:xfrm>
          <a:prstGeom prst="rect">
            <a:avLst/>
          </a:prstGeom>
          <a:noFill/>
          <a:ln/>
        </p:spPr>
        <p:txBody>
          <a:bodyPr wrap="square" rtlCol="0" anchor="t"/>
          <a:lstStyle/>
          <a:p>
            <a:pPr indent="0" marL="0">
              <a:buNone/>
            </a:pPr>
            <a:r>
              <a:rPr lang="en-US" sz="1200" dirty="0">
                <a:solidFill>
                  <a:srgbClr val="94A3B8"/>
                </a:solidFill>
                <a:latin typeface="Segoe UI" pitchFamily="34" charset="0"/>
                <a:ea typeface="Segoe UI" pitchFamily="34" charset="-122"/>
                <a:cs typeface="Segoe UI" pitchFamily="34" charset="-120"/>
              </a:rPr>
              <a:t>Converting human semantics into high-dimensional geometric coordinates for rapid mathematical similarity search.</a:t>
            </a:r>
            <a:endParaRPr lang="en-US" sz="1200" dirty="0"/>
          </a:p>
        </p:txBody>
      </p:sp>
      <p:sp>
        <p:nvSpPr>
          <p:cNvPr id="6" name="Shape 4"/>
          <p:cNvSpPr/>
          <p:nvPr/>
        </p:nvSpPr>
        <p:spPr>
          <a:xfrm>
            <a:off x="731520" y="4754880"/>
            <a:ext cx="7680960" cy="0"/>
          </a:xfrm>
          <a:prstGeom prst="line">
            <a:avLst/>
          </a:prstGeom>
          <a:noFill/>
          <a:ln w="12700">
            <a:solidFill>
              <a:srgbClr val="1E293B"/>
            </a:solidFill>
            <a:prstDash val="solid"/>
          </a:ln>
        </p:spPr>
      </p:sp>
      <p:sp>
        <p:nvSpPr>
          <p:cNvPr id="7" name="Text 5"/>
          <p:cNvSpPr/>
          <p:nvPr/>
        </p:nvSpPr>
        <p:spPr>
          <a:xfrm>
            <a:off x="731520" y="4800600"/>
            <a:ext cx="5486400" cy="22860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Retrieval-Augmented Generation (RAG) | Enterprise AI Architecture</a:t>
            </a:r>
            <a:endParaRPr lang="en-US" sz="900" dirty="0"/>
          </a:p>
        </p:txBody>
      </p:sp>
      <p:sp>
        <p:nvSpPr>
          <p:cNvPr id="8" name="Shape 6"/>
          <p:cNvSpPr/>
          <p:nvPr/>
        </p:nvSpPr>
        <p:spPr>
          <a:xfrm>
            <a:off x="731520" y="1554480"/>
            <a:ext cx="3657600" cy="2971800"/>
          </a:xfrm>
          <a:prstGeom prst="roundRect">
            <a:avLst>
              <a:gd name="adj" fmla="val 3692"/>
            </a:avLst>
          </a:prstGeom>
          <a:solidFill>
            <a:srgbClr val="141C2F"/>
          </a:solidFill>
          <a:ln w="12700">
            <a:solidFill>
              <a:srgbClr val="24324F"/>
            </a:solidFill>
            <a:prstDash val="solid"/>
          </a:ln>
        </p:spPr>
      </p:sp>
      <p:sp>
        <p:nvSpPr>
          <p:cNvPr id="9" name="Text 7"/>
          <p:cNvSpPr/>
          <p:nvPr/>
        </p:nvSpPr>
        <p:spPr>
          <a:xfrm>
            <a:off x="960120" y="1691640"/>
            <a:ext cx="3200400" cy="274320"/>
          </a:xfrm>
          <a:prstGeom prst="rect">
            <a:avLst/>
          </a:prstGeom>
          <a:noFill/>
          <a:ln/>
        </p:spPr>
        <p:txBody>
          <a:bodyPr wrap="square" rtlCol="0" anchor="ctr"/>
          <a:lstStyle/>
          <a:p>
            <a:pPr indent="0" marL="0">
              <a:buNone/>
            </a:pPr>
            <a:r>
              <a:rPr lang="en-US" sz="1200" b="1" dirty="0">
                <a:solidFill>
                  <a:srgbClr val="00D2FF"/>
                </a:solidFill>
                <a:latin typeface="Segoe UI" pitchFamily="34" charset="0"/>
                <a:ea typeface="Segoe UI" pitchFamily="34" charset="-122"/>
                <a:cs typeface="Segoe UI" pitchFamily="34" charset="-120"/>
              </a:rPr>
              <a:t>What Are Vector Embeddings?</a:t>
            </a:r>
            <a:endParaRPr lang="en-US" sz="1200" dirty="0"/>
          </a:p>
        </p:txBody>
      </p:sp>
      <p:sp>
        <p:nvSpPr>
          <p:cNvPr id="10" name="Text 8"/>
          <p:cNvSpPr/>
          <p:nvPr/>
        </p:nvSpPr>
        <p:spPr>
          <a:xfrm>
            <a:off x="960120" y="2011680"/>
            <a:ext cx="3200400" cy="2377440"/>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 An embedding model maps text chunks into a 1536- or 3072-dimensional space (e.g. text-embedding-3-small).
</a:t>
            </a:r>
            <a:pPr indent="0" marL="0">
              <a:buNone/>
            </a:pPr>
            <a:r>
              <a:rPr lang="en-US" sz="950" dirty="0">
                <a:solidFill>
                  <a:srgbClr val="94A3B8"/>
                </a:solidFill>
                <a:latin typeface="Segoe UI" pitchFamily="34" charset="0"/>
                <a:ea typeface="Segoe UI" pitchFamily="34" charset="-122"/>
                <a:cs typeface="Segoe UI" pitchFamily="34" charset="-120"/>
              </a:rPr>
              <a:t>• Semantically identical concepts cluster closely together regardless of exact wording ("car" ≈ "automobile").
</a:t>
            </a:r>
            <a:pPr indent="0" marL="0">
              <a:buNone/>
            </a:pPr>
            <a:r>
              <a:rPr lang="en-US" sz="950" b="1" dirty="0">
                <a:solidFill>
                  <a:srgbClr val="FFFFFF"/>
                </a:solidFill>
                <a:latin typeface="Segoe UI" pitchFamily="34" charset="0"/>
                <a:ea typeface="Segoe UI" pitchFamily="34" charset="-122"/>
                <a:cs typeface="Segoe UI" pitchFamily="34" charset="-120"/>
              </a:rPr>
              <a:t>• Similarity Metrics:
</a:t>
            </a:r>
            <a:pPr indent="0" marL="0">
              <a:buNone/>
            </a:pPr>
            <a:r>
              <a:rPr lang="en-US" sz="950" dirty="0">
                <a:solidFill>
                  <a:srgbClr val="94A3B8"/>
                </a:solidFill>
                <a:latin typeface="Segoe UI" pitchFamily="34" charset="0"/>
                <a:ea typeface="Segoe UI" pitchFamily="34" charset="-122"/>
                <a:cs typeface="Segoe UI" pitchFamily="34" charset="-120"/>
              </a:rPr>
              <a:t>  - Cosine Similarity: Measures angle between vectors (length invariant).
</a:t>
            </a:r>
            <a:pPr indent="0" marL="0">
              <a:buNone/>
            </a:pPr>
            <a:r>
              <a:rPr lang="en-US" sz="950" dirty="0">
                <a:solidFill>
                  <a:srgbClr val="94A3B8"/>
                </a:solidFill>
                <a:latin typeface="Segoe UI" pitchFamily="34" charset="0"/>
                <a:ea typeface="Segoe UI" pitchFamily="34" charset="-122"/>
                <a:cs typeface="Segoe UI" pitchFamily="34" charset="-120"/>
              </a:rPr>
              <a:t>  - Dot Product: Considers both direction and magnitude.
</a:t>
            </a:r>
            <a:pPr indent="0" marL="0">
              <a:buNone/>
            </a:pPr>
            <a:r>
              <a:rPr lang="en-US" sz="950" dirty="0">
                <a:solidFill>
                  <a:srgbClr val="94A3B8"/>
                </a:solidFill>
                <a:latin typeface="Segoe UI" pitchFamily="34" charset="0"/>
                <a:ea typeface="Segoe UI" pitchFamily="34" charset="-122"/>
                <a:cs typeface="Segoe UI" pitchFamily="34" charset="-120"/>
              </a:rPr>
              <a:t>  - Euclidean Distance (L2): Straight-line spatial distance.</a:t>
            </a:r>
            <a:endParaRPr lang="en-US" sz="950" dirty="0"/>
          </a:p>
        </p:txBody>
      </p:sp>
      <p:sp>
        <p:nvSpPr>
          <p:cNvPr id="11" name="Shape 9"/>
          <p:cNvSpPr/>
          <p:nvPr/>
        </p:nvSpPr>
        <p:spPr>
          <a:xfrm>
            <a:off x="4663440" y="1554480"/>
            <a:ext cx="3749040" cy="2971800"/>
          </a:xfrm>
          <a:prstGeom prst="roundRect">
            <a:avLst>
              <a:gd name="adj" fmla="val 3692"/>
            </a:avLst>
          </a:prstGeom>
          <a:solidFill>
            <a:srgbClr val="141C2F"/>
          </a:solidFill>
          <a:ln w="12700">
            <a:solidFill>
              <a:srgbClr val="24324F"/>
            </a:solidFill>
            <a:prstDash val="solid"/>
          </a:ln>
        </p:spPr>
      </p:sp>
      <p:sp>
        <p:nvSpPr>
          <p:cNvPr id="12" name="Text 10"/>
          <p:cNvSpPr/>
          <p:nvPr/>
        </p:nvSpPr>
        <p:spPr>
          <a:xfrm>
            <a:off x="4892040" y="1691640"/>
            <a:ext cx="3291840" cy="274320"/>
          </a:xfrm>
          <a:prstGeom prst="rect">
            <a:avLst/>
          </a:prstGeom>
          <a:noFill/>
          <a:ln/>
        </p:spPr>
        <p:txBody>
          <a:bodyPr wrap="square" rtlCol="0" anchor="ctr"/>
          <a:lstStyle/>
          <a:p>
            <a:pPr indent="0" marL="0">
              <a:buNone/>
            </a:pPr>
            <a:r>
              <a:rPr lang="en-US" sz="1200" b="1" dirty="0">
                <a:solidFill>
                  <a:srgbClr val="8B5CF6"/>
                </a:solidFill>
                <a:latin typeface="Segoe UI" pitchFamily="34" charset="0"/>
                <a:ea typeface="Segoe UI" pitchFamily="34" charset="-122"/>
                <a:cs typeface="Segoe UI" pitchFamily="34" charset="-120"/>
              </a:rPr>
              <a:t>Vector Database Ecosystem</a:t>
            </a:r>
            <a:endParaRPr lang="en-US" sz="1200" dirty="0"/>
          </a:p>
        </p:txBody>
      </p:sp>
      <p:sp>
        <p:nvSpPr>
          <p:cNvPr id="13" name="Text 11"/>
          <p:cNvSpPr/>
          <p:nvPr/>
        </p:nvSpPr>
        <p:spPr>
          <a:xfrm>
            <a:off x="4892040" y="2057400"/>
            <a:ext cx="3291840" cy="201168"/>
          </a:xfrm>
          <a:prstGeom prst="rect">
            <a:avLst/>
          </a:prstGeom>
          <a:noFill/>
          <a:ln/>
        </p:spPr>
        <p:txBody>
          <a:bodyPr wrap="square" rtlCol="0" anchor="ctr"/>
          <a:lstStyle/>
          <a:p>
            <a:pPr indent="0" marL="0">
              <a:buNone/>
            </a:pPr>
            <a:r>
              <a:rPr lang="en-US" sz="1000" b="1" dirty="0">
                <a:solidFill>
                  <a:srgbClr val="FFFFFF"/>
                </a:solidFill>
                <a:latin typeface="Segoe UI" pitchFamily="34" charset="0"/>
                <a:ea typeface="Segoe UI" pitchFamily="34" charset="-122"/>
                <a:cs typeface="Segoe UI" pitchFamily="34" charset="-120"/>
              </a:rPr>
              <a:t>Dedicated Vector Databases</a:t>
            </a:r>
            <a:endParaRPr lang="en-US" sz="1000" dirty="0"/>
          </a:p>
        </p:txBody>
      </p:sp>
      <p:sp>
        <p:nvSpPr>
          <p:cNvPr id="14" name="Text 12"/>
          <p:cNvSpPr/>
          <p:nvPr/>
        </p:nvSpPr>
        <p:spPr>
          <a:xfrm>
            <a:off x="4892040" y="2258568"/>
            <a:ext cx="3291840" cy="182880"/>
          </a:xfrm>
          <a:prstGeom prst="rect">
            <a:avLst/>
          </a:prstGeom>
          <a:noFill/>
          <a:ln/>
        </p:spPr>
        <p:txBody>
          <a:bodyPr wrap="square" rtlCol="0" anchor="ctr"/>
          <a:lstStyle/>
          <a:p>
            <a:pPr indent="0" marL="0">
              <a:buNone/>
            </a:pPr>
            <a:r>
              <a:rPr lang="en-US" sz="850" b="1" dirty="0">
                <a:solidFill>
                  <a:srgbClr val="00D2FF"/>
                </a:solidFill>
                <a:latin typeface="Segoe UI" pitchFamily="34" charset="0"/>
                <a:ea typeface="Segoe UI" pitchFamily="34" charset="-122"/>
                <a:cs typeface="Segoe UI" pitchFamily="34" charset="-120"/>
              </a:rPr>
              <a:t>Pinecone, Qdrant, Milvus, Chroma, Weaviate</a:t>
            </a:r>
            <a:endParaRPr lang="en-US" sz="850" dirty="0"/>
          </a:p>
        </p:txBody>
      </p:sp>
      <p:sp>
        <p:nvSpPr>
          <p:cNvPr id="15" name="Text 13"/>
          <p:cNvSpPr/>
          <p:nvPr/>
        </p:nvSpPr>
        <p:spPr>
          <a:xfrm>
            <a:off x="4892040" y="2441448"/>
            <a:ext cx="3291840" cy="36576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Optimized for billion-scale vector indexes (HNSW, ScaNN, IVF), sub-millisecond latency, managed clustering.</a:t>
            </a:r>
            <a:endParaRPr lang="en-US" sz="850" dirty="0"/>
          </a:p>
        </p:txBody>
      </p:sp>
      <p:sp>
        <p:nvSpPr>
          <p:cNvPr id="16" name="Text 14"/>
          <p:cNvSpPr/>
          <p:nvPr/>
        </p:nvSpPr>
        <p:spPr>
          <a:xfrm>
            <a:off x="4892040" y="2862072"/>
            <a:ext cx="3291840" cy="201168"/>
          </a:xfrm>
          <a:prstGeom prst="rect">
            <a:avLst/>
          </a:prstGeom>
          <a:noFill/>
          <a:ln/>
        </p:spPr>
        <p:txBody>
          <a:bodyPr wrap="square" rtlCol="0" anchor="ctr"/>
          <a:lstStyle/>
          <a:p>
            <a:pPr indent="0" marL="0">
              <a:buNone/>
            </a:pPr>
            <a:r>
              <a:rPr lang="en-US" sz="1000" b="1" dirty="0">
                <a:solidFill>
                  <a:srgbClr val="FFFFFF"/>
                </a:solidFill>
                <a:latin typeface="Segoe UI" pitchFamily="34" charset="0"/>
                <a:ea typeface="Segoe UI" pitchFamily="34" charset="-122"/>
                <a:cs typeface="Segoe UI" pitchFamily="34" charset="-120"/>
              </a:rPr>
              <a:t>Relational &amp; Search Vector Extensions</a:t>
            </a:r>
            <a:endParaRPr lang="en-US" sz="1000" dirty="0"/>
          </a:p>
        </p:txBody>
      </p:sp>
      <p:sp>
        <p:nvSpPr>
          <p:cNvPr id="17" name="Text 15"/>
          <p:cNvSpPr/>
          <p:nvPr/>
        </p:nvSpPr>
        <p:spPr>
          <a:xfrm>
            <a:off x="4892040" y="3063240"/>
            <a:ext cx="3291840" cy="182880"/>
          </a:xfrm>
          <a:prstGeom prst="rect">
            <a:avLst/>
          </a:prstGeom>
          <a:noFill/>
          <a:ln/>
        </p:spPr>
        <p:txBody>
          <a:bodyPr wrap="square" rtlCol="0" anchor="ctr"/>
          <a:lstStyle/>
          <a:p>
            <a:pPr indent="0" marL="0">
              <a:buNone/>
            </a:pPr>
            <a:r>
              <a:rPr lang="en-US" sz="850" b="1" dirty="0">
                <a:solidFill>
                  <a:srgbClr val="00D2FF"/>
                </a:solidFill>
                <a:latin typeface="Segoe UI" pitchFamily="34" charset="0"/>
                <a:ea typeface="Segoe UI" pitchFamily="34" charset="-122"/>
                <a:cs typeface="Segoe UI" pitchFamily="34" charset="-120"/>
              </a:rPr>
              <a:t>PostgreSQL + pgvector, Elasticsearch, OpenSearch</a:t>
            </a:r>
            <a:endParaRPr lang="en-US" sz="850" dirty="0"/>
          </a:p>
        </p:txBody>
      </p:sp>
      <p:sp>
        <p:nvSpPr>
          <p:cNvPr id="18" name="Text 16"/>
          <p:cNvSpPr/>
          <p:nvPr/>
        </p:nvSpPr>
        <p:spPr>
          <a:xfrm>
            <a:off x="4892040" y="3246120"/>
            <a:ext cx="3291840" cy="36576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Allows vector search alongside SQL joins, relational constraints, and ACID transactions. Ideal for existing enterprise stacks.</a:t>
            </a:r>
            <a:endParaRPr lang="en-US" sz="850" dirty="0"/>
          </a:p>
        </p:txBody>
      </p:sp>
      <p:sp>
        <p:nvSpPr>
          <p:cNvPr id="19" name="Text 17"/>
          <p:cNvSpPr/>
          <p:nvPr/>
        </p:nvSpPr>
        <p:spPr>
          <a:xfrm>
            <a:off x="4892040" y="3666744"/>
            <a:ext cx="3291840" cy="201168"/>
          </a:xfrm>
          <a:prstGeom prst="rect">
            <a:avLst/>
          </a:prstGeom>
          <a:noFill/>
          <a:ln/>
        </p:spPr>
        <p:txBody>
          <a:bodyPr wrap="square" rtlCol="0" anchor="ctr"/>
          <a:lstStyle/>
          <a:p>
            <a:pPr indent="0" marL="0">
              <a:buNone/>
            </a:pPr>
            <a:r>
              <a:rPr lang="en-US" sz="1000" b="1" dirty="0">
                <a:solidFill>
                  <a:srgbClr val="FFFFFF"/>
                </a:solidFill>
                <a:latin typeface="Segoe UI" pitchFamily="34" charset="0"/>
                <a:ea typeface="Segoe UI" pitchFamily="34" charset="-122"/>
                <a:cs typeface="Segoe UI" pitchFamily="34" charset="-120"/>
              </a:rPr>
              <a:t>Key Production Selection Criteria</a:t>
            </a:r>
            <a:endParaRPr lang="en-US" sz="1000" dirty="0"/>
          </a:p>
        </p:txBody>
      </p:sp>
      <p:sp>
        <p:nvSpPr>
          <p:cNvPr id="20" name="Text 18"/>
          <p:cNvSpPr/>
          <p:nvPr/>
        </p:nvSpPr>
        <p:spPr>
          <a:xfrm>
            <a:off x="4892040" y="3867912"/>
            <a:ext cx="3291840" cy="182880"/>
          </a:xfrm>
          <a:prstGeom prst="rect">
            <a:avLst/>
          </a:prstGeom>
          <a:noFill/>
          <a:ln/>
        </p:spPr>
        <p:txBody>
          <a:bodyPr wrap="square" rtlCol="0" anchor="ctr"/>
          <a:lstStyle/>
          <a:p>
            <a:pPr indent="0" marL="0">
              <a:buNone/>
            </a:pPr>
            <a:r>
              <a:rPr lang="en-US" sz="850" b="1" dirty="0">
                <a:solidFill>
                  <a:srgbClr val="00D2FF"/>
                </a:solidFill>
                <a:latin typeface="Segoe UI" pitchFamily="34" charset="0"/>
                <a:ea typeface="Segoe UI" pitchFamily="34" charset="-122"/>
                <a:cs typeface="Segoe UI" pitchFamily="34" charset="-120"/>
              </a:rPr>
              <a:t>Indexing Speed • Metadata Filtering • Sharding • Multi-Tenancy</a:t>
            </a:r>
            <a:endParaRPr lang="en-US" sz="850" dirty="0"/>
          </a:p>
        </p:txBody>
      </p:sp>
      <p:sp>
        <p:nvSpPr>
          <p:cNvPr id="21" name="Text 19"/>
          <p:cNvSpPr/>
          <p:nvPr/>
        </p:nvSpPr>
        <p:spPr>
          <a:xfrm>
            <a:off x="4892040" y="4050792"/>
            <a:ext cx="3291840" cy="36576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Always ensure your vector DB supports instant metadata filtering by tenant_id, department_id, and access_level!</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F1D"/>
        </a:solidFill>
      </p:bgPr>
    </p:bg>
    <p:spTree>
      <p:nvGrpSpPr>
        <p:cNvPr id="1" name=""/>
        <p:cNvGrpSpPr/>
        <p:nvPr/>
      </p:nvGrpSpPr>
      <p:grpSpPr>
        <a:xfrm>
          <a:off x="0" y="0"/>
          <a:ext cx="0" cy="0"/>
          <a:chOff x="0" y="0"/>
          <a:chExt cx="0" cy="0"/>
        </a:xfrm>
      </p:grpSpPr>
      <p:sp>
        <p:nvSpPr>
          <p:cNvPr id="2" name="Shape 0"/>
          <p:cNvSpPr/>
          <p:nvPr/>
        </p:nvSpPr>
        <p:spPr>
          <a:xfrm>
            <a:off x="731520" y="347472"/>
            <a:ext cx="1952244" cy="256032"/>
          </a:xfrm>
          <a:prstGeom prst="roundRect">
            <a:avLst>
              <a:gd name="adj" fmla="val 35714"/>
            </a:avLst>
          </a:prstGeom>
          <a:solidFill>
            <a:srgbClr val="1E293B"/>
          </a:solidFill>
          <a:ln w="12700">
            <a:solidFill>
              <a:srgbClr val="00D2FF"/>
            </a:solidFill>
            <a:prstDash val="solid"/>
          </a:ln>
        </p:spPr>
      </p:sp>
      <p:sp>
        <p:nvSpPr>
          <p:cNvPr id="3" name="Text 1"/>
          <p:cNvSpPr/>
          <p:nvPr/>
        </p:nvSpPr>
        <p:spPr>
          <a:xfrm>
            <a:off x="731520" y="347472"/>
            <a:ext cx="1952244" cy="256032"/>
          </a:xfrm>
          <a:prstGeom prst="rect">
            <a:avLst/>
          </a:prstGeom>
          <a:noFill/>
          <a:ln/>
        </p:spPr>
        <p:txBody>
          <a:bodyPr wrap="square" rtlCol="0" anchor="ctr"/>
          <a:lstStyle/>
          <a:p>
            <a:pPr algn="ctr" indent="0" marL="0">
              <a:buNone/>
            </a:pPr>
            <a:r>
              <a:rPr lang="en-US" sz="900" b="1" dirty="0">
                <a:solidFill>
                  <a:srgbClr val="00D2FF"/>
                </a:solidFill>
                <a:latin typeface="Segoe UI" pitchFamily="34" charset="0"/>
                <a:ea typeface="Segoe UI" pitchFamily="34" charset="-122"/>
                <a:cs typeface="Segoe UI" pitchFamily="34" charset="-120"/>
              </a:rPr>
              <a:t>RETRIEVAL ENGINEERING</a:t>
            </a:r>
            <a:endParaRPr lang="en-US" sz="900" dirty="0"/>
          </a:p>
        </p:txBody>
      </p:sp>
      <p:sp>
        <p:nvSpPr>
          <p:cNvPr id="4" name="Text 2"/>
          <p:cNvSpPr/>
          <p:nvPr/>
        </p:nvSpPr>
        <p:spPr>
          <a:xfrm>
            <a:off x="731520" y="658368"/>
            <a:ext cx="7680960" cy="502920"/>
          </a:xfrm>
          <a:prstGeom prst="rect">
            <a:avLst/>
          </a:prstGeom>
          <a:noFill/>
          <a:ln/>
        </p:spPr>
        <p:txBody>
          <a:bodyPr wrap="square" rtlCol="0" anchor="t"/>
          <a:lstStyle/>
          <a:p>
            <a:pPr indent="0" marL="0">
              <a:buNone/>
            </a:pPr>
            <a:r>
              <a:rPr lang="en-US" sz="2200" b="1" dirty="0">
                <a:solidFill>
                  <a:srgbClr val="FFFFFF"/>
                </a:solidFill>
                <a:latin typeface="Segoe UI" pitchFamily="34" charset="0"/>
                <a:ea typeface="Segoe UI" pitchFamily="34" charset="-122"/>
                <a:cs typeface="Segoe UI" pitchFamily="34" charset="-120"/>
              </a:rPr>
              <a:t>Advanced Retrieval: Beyond Naive Vector Search</a:t>
            </a:r>
            <a:endParaRPr lang="en-US" sz="2200" dirty="0"/>
          </a:p>
        </p:txBody>
      </p:sp>
      <p:sp>
        <p:nvSpPr>
          <p:cNvPr id="5" name="Text 3"/>
          <p:cNvSpPr/>
          <p:nvPr/>
        </p:nvSpPr>
        <p:spPr>
          <a:xfrm>
            <a:off x="731520" y="1143000"/>
            <a:ext cx="7680960" cy="292608"/>
          </a:xfrm>
          <a:prstGeom prst="rect">
            <a:avLst/>
          </a:prstGeom>
          <a:noFill/>
          <a:ln/>
        </p:spPr>
        <p:txBody>
          <a:bodyPr wrap="square" rtlCol="0" anchor="t"/>
          <a:lstStyle/>
          <a:p>
            <a:pPr indent="0" marL="0">
              <a:buNone/>
            </a:pPr>
            <a:r>
              <a:rPr lang="en-US" sz="1200" dirty="0">
                <a:solidFill>
                  <a:srgbClr val="94A3B8"/>
                </a:solidFill>
                <a:latin typeface="Segoe UI" pitchFamily="34" charset="0"/>
                <a:ea typeface="Segoe UI" pitchFamily="34" charset="-122"/>
                <a:cs typeface="Segoe UI" pitchFamily="34" charset="-120"/>
              </a:rPr>
              <a:t>Why pure vector search fails on product codes, acronyms, and names—and how to fix it.</a:t>
            </a:r>
            <a:endParaRPr lang="en-US" sz="1200" dirty="0"/>
          </a:p>
        </p:txBody>
      </p:sp>
      <p:sp>
        <p:nvSpPr>
          <p:cNvPr id="6" name="Shape 4"/>
          <p:cNvSpPr/>
          <p:nvPr/>
        </p:nvSpPr>
        <p:spPr>
          <a:xfrm>
            <a:off x="731520" y="4754880"/>
            <a:ext cx="7680960" cy="0"/>
          </a:xfrm>
          <a:prstGeom prst="line">
            <a:avLst/>
          </a:prstGeom>
          <a:noFill/>
          <a:ln w="12700">
            <a:solidFill>
              <a:srgbClr val="1E293B"/>
            </a:solidFill>
            <a:prstDash val="solid"/>
          </a:ln>
        </p:spPr>
      </p:sp>
      <p:sp>
        <p:nvSpPr>
          <p:cNvPr id="7" name="Text 5"/>
          <p:cNvSpPr/>
          <p:nvPr/>
        </p:nvSpPr>
        <p:spPr>
          <a:xfrm>
            <a:off x="731520" y="4800600"/>
            <a:ext cx="5486400" cy="22860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Retrieval-Augmented Generation (RAG) | Enterprise AI Architecture</a:t>
            </a:r>
            <a:endParaRPr lang="en-US" sz="900" dirty="0"/>
          </a:p>
        </p:txBody>
      </p:sp>
      <p:sp>
        <p:nvSpPr>
          <p:cNvPr id="8" name="Shape 6"/>
          <p:cNvSpPr/>
          <p:nvPr/>
        </p:nvSpPr>
        <p:spPr>
          <a:xfrm>
            <a:off x="731520" y="1554480"/>
            <a:ext cx="3749040" cy="1371600"/>
          </a:xfrm>
          <a:prstGeom prst="roundRect">
            <a:avLst>
              <a:gd name="adj" fmla="val 6667"/>
            </a:avLst>
          </a:prstGeom>
          <a:solidFill>
            <a:srgbClr val="141C2F"/>
          </a:solidFill>
          <a:ln w="12700">
            <a:solidFill>
              <a:srgbClr val="24324F"/>
            </a:solidFill>
            <a:prstDash val="solid"/>
          </a:ln>
        </p:spPr>
      </p:sp>
      <p:sp>
        <p:nvSpPr>
          <p:cNvPr id="9" name="Text 7"/>
          <p:cNvSpPr/>
          <p:nvPr/>
        </p:nvSpPr>
        <p:spPr>
          <a:xfrm>
            <a:off x="914400" y="1691640"/>
            <a:ext cx="2377440" cy="22860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Hybrid Search (Dense + Sparse)</a:t>
            </a:r>
            <a:endParaRPr lang="en-US" sz="1100" dirty="0"/>
          </a:p>
        </p:txBody>
      </p:sp>
      <p:sp>
        <p:nvSpPr>
          <p:cNvPr id="10" name="Shape 8"/>
          <p:cNvSpPr/>
          <p:nvPr/>
        </p:nvSpPr>
        <p:spPr>
          <a:xfrm>
            <a:off x="3108960" y="1664208"/>
            <a:ext cx="1234440" cy="219456"/>
          </a:xfrm>
          <a:prstGeom prst="roundRect">
            <a:avLst>
              <a:gd name="adj" fmla="val 33333"/>
            </a:avLst>
          </a:prstGeom>
          <a:solidFill>
            <a:srgbClr val="1E293B"/>
          </a:solidFill>
          <a:ln w="10160">
            <a:solidFill>
              <a:srgbClr val="00D2FF"/>
            </a:solidFill>
            <a:prstDash val="solid"/>
          </a:ln>
        </p:spPr>
      </p:sp>
      <p:sp>
        <p:nvSpPr>
          <p:cNvPr id="11" name="Text 9"/>
          <p:cNvSpPr/>
          <p:nvPr/>
        </p:nvSpPr>
        <p:spPr>
          <a:xfrm>
            <a:off x="3108960" y="1664208"/>
            <a:ext cx="1234440" cy="219456"/>
          </a:xfrm>
          <a:prstGeom prst="rect">
            <a:avLst/>
          </a:prstGeom>
          <a:noFill/>
          <a:ln/>
        </p:spPr>
        <p:txBody>
          <a:bodyPr wrap="square" rtlCol="0" anchor="ctr"/>
          <a:lstStyle/>
          <a:p>
            <a:pPr algn="ctr" indent="0" marL="0">
              <a:buNone/>
            </a:pPr>
            <a:r>
              <a:rPr lang="en-US" sz="750" b="1" dirty="0">
                <a:solidFill>
                  <a:srgbClr val="00D2FF"/>
                </a:solidFill>
                <a:latin typeface="Segoe UI" pitchFamily="34" charset="0"/>
                <a:ea typeface="Segoe UI" pitchFamily="34" charset="-122"/>
                <a:cs typeface="Segoe UI" pitchFamily="34" charset="-120"/>
              </a:rPr>
              <a:t>BM25 + Dense Vectors</a:t>
            </a:r>
            <a:endParaRPr lang="en-US" sz="750" dirty="0"/>
          </a:p>
        </p:txBody>
      </p:sp>
      <p:sp>
        <p:nvSpPr>
          <p:cNvPr id="12" name="Text 10"/>
          <p:cNvSpPr/>
          <p:nvPr/>
        </p:nvSpPr>
        <p:spPr>
          <a:xfrm>
            <a:off x="914400" y="1993392"/>
            <a:ext cx="3383280" cy="868680"/>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Vector search captures conceptual meaning but struggles with exact SKU numbers, names, or error codes. Hybrid combines BM25 keyword search with dense vector embeddings via Reciprocal Rank Fusion (RRF) for the best of both worlds.</a:t>
            </a:r>
            <a:endParaRPr lang="en-US" sz="900" dirty="0"/>
          </a:p>
        </p:txBody>
      </p:sp>
      <p:sp>
        <p:nvSpPr>
          <p:cNvPr id="13" name="Shape 11"/>
          <p:cNvSpPr/>
          <p:nvPr/>
        </p:nvSpPr>
        <p:spPr>
          <a:xfrm>
            <a:off x="4663440" y="1554480"/>
            <a:ext cx="3749040" cy="1371600"/>
          </a:xfrm>
          <a:prstGeom prst="roundRect">
            <a:avLst>
              <a:gd name="adj" fmla="val 6667"/>
            </a:avLst>
          </a:prstGeom>
          <a:solidFill>
            <a:srgbClr val="141C2F"/>
          </a:solidFill>
          <a:ln w="12700">
            <a:solidFill>
              <a:srgbClr val="24324F"/>
            </a:solidFill>
            <a:prstDash val="solid"/>
          </a:ln>
        </p:spPr>
      </p:sp>
      <p:sp>
        <p:nvSpPr>
          <p:cNvPr id="14" name="Text 12"/>
          <p:cNvSpPr/>
          <p:nvPr/>
        </p:nvSpPr>
        <p:spPr>
          <a:xfrm>
            <a:off x="4846320" y="1691640"/>
            <a:ext cx="2377440" cy="22860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Cross-Encoder Re-Ranking</a:t>
            </a:r>
            <a:endParaRPr lang="en-US" sz="1100" dirty="0"/>
          </a:p>
        </p:txBody>
      </p:sp>
      <p:sp>
        <p:nvSpPr>
          <p:cNvPr id="15" name="Shape 13"/>
          <p:cNvSpPr/>
          <p:nvPr/>
        </p:nvSpPr>
        <p:spPr>
          <a:xfrm>
            <a:off x="7040880" y="1664208"/>
            <a:ext cx="1234440" cy="219456"/>
          </a:xfrm>
          <a:prstGeom prst="roundRect">
            <a:avLst>
              <a:gd name="adj" fmla="val 33333"/>
            </a:avLst>
          </a:prstGeom>
          <a:solidFill>
            <a:srgbClr val="1E293B"/>
          </a:solidFill>
          <a:ln w="10160">
            <a:solidFill>
              <a:srgbClr val="8B5CF6"/>
            </a:solidFill>
            <a:prstDash val="solid"/>
          </a:ln>
        </p:spPr>
      </p:sp>
      <p:sp>
        <p:nvSpPr>
          <p:cNvPr id="16" name="Text 14"/>
          <p:cNvSpPr/>
          <p:nvPr/>
        </p:nvSpPr>
        <p:spPr>
          <a:xfrm>
            <a:off x="7040880" y="1664208"/>
            <a:ext cx="1234440" cy="219456"/>
          </a:xfrm>
          <a:prstGeom prst="rect">
            <a:avLst/>
          </a:prstGeom>
          <a:noFill/>
          <a:ln/>
        </p:spPr>
        <p:txBody>
          <a:bodyPr wrap="square" rtlCol="0" anchor="ctr"/>
          <a:lstStyle/>
          <a:p>
            <a:pPr algn="ctr" indent="0" marL="0">
              <a:buNone/>
            </a:pPr>
            <a:r>
              <a:rPr lang="en-US" sz="750" b="1" dirty="0">
                <a:solidFill>
                  <a:srgbClr val="8B5CF6"/>
                </a:solidFill>
                <a:latin typeface="Segoe UI" pitchFamily="34" charset="0"/>
                <a:ea typeface="Segoe UI" pitchFamily="34" charset="-122"/>
                <a:cs typeface="Segoe UI" pitchFamily="34" charset="-120"/>
              </a:rPr>
              <a:t>Cohere Rerank / BGE-Reranker</a:t>
            </a:r>
            <a:endParaRPr lang="en-US" sz="750" dirty="0"/>
          </a:p>
        </p:txBody>
      </p:sp>
      <p:sp>
        <p:nvSpPr>
          <p:cNvPr id="17" name="Text 15"/>
          <p:cNvSpPr/>
          <p:nvPr/>
        </p:nvSpPr>
        <p:spPr>
          <a:xfrm>
            <a:off x="4846320" y="1993392"/>
            <a:ext cx="3383280" cy="868680"/>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Bi-encoder retrieval fast-fetches candidate chunks (Top 50). A heavier Cross-Encoder model then compares the exact query and each chunk together, scoring true contextual relevance and passing only the pristine Top 5 to the LLM.</a:t>
            </a:r>
            <a:endParaRPr lang="en-US" sz="900" dirty="0"/>
          </a:p>
        </p:txBody>
      </p:sp>
      <p:sp>
        <p:nvSpPr>
          <p:cNvPr id="18" name="Shape 16"/>
          <p:cNvSpPr/>
          <p:nvPr/>
        </p:nvSpPr>
        <p:spPr>
          <a:xfrm>
            <a:off x="731520" y="3063240"/>
            <a:ext cx="3749040" cy="1371600"/>
          </a:xfrm>
          <a:prstGeom prst="roundRect">
            <a:avLst>
              <a:gd name="adj" fmla="val 6667"/>
            </a:avLst>
          </a:prstGeom>
          <a:solidFill>
            <a:srgbClr val="141C2F"/>
          </a:solidFill>
          <a:ln w="12700">
            <a:solidFill>
              <a:srgbClr val="24324F"/>
            </a:solidFill>
            <a:prstDash val="solid"/>
          </a:ln>
        </p:spPr>
      </p:sp>
      <p:sp>
        <p:nvSpPr>
          <p:cNvPr id="19" name="Text 17"/>
          <p:cNvSpPr/>
          <p:nvPr/>
        </p:nvSpPr>
        <p:spPr>
          <a:xfrm>
            <a:off x="914400" y="3200400"/>
            <a:ext cx="2377440" cy="22860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Query Expansion &amp; HyDE</a:t>
            </a:r>
            <a:endParaRPr lang="en-US" sz="1100" dirty="0"/>
          </a:p>
        </p:txBody>
      </p:sp>
      <p:sp>
        <p:nvSpPr>
          <p:cNvPr id="20" name="Shape 18"/>
          <p:cNvSpPr/>
          <p:nvPr/>
        </p:nvSpPr>
        <p:spPr>
          <a:xfrm>
            <a:off x="3108960" y="3172968"/>
            <a:ext cx="1234440" cy="219456"/>
          </a:xfrm>
          <a:prstGeom prst="roundRect">
            <a:avLst>
              <a:gd name="adj" fmla="val 33333"/>
            </a:avLst>
          </a:prstGeom>
          <a:solidFill>
            <a:srgbClr val="1E293B"/>
          </a:solidFill>
          <a:ln w="10160">
            <a:solidFill>
              <a:srgbClr val="F59E0B"/>
            </a:solidFill>
            <a:prstDash val="solid"/>
          </a:ln>
        </p:spPr>
      </p:sp>
      <p:sp>
        <p:nvSpPr>
          <p:cNvPr id="21" name="Text 19"/>
          <p:cNvSpPr/>
          <p:nvPr/>
        </p:nvSpPr>
        <p:spPr>
          <a:xfrm>
            <a:off x="3108960" y="3172968"/>
            <a:ext cx="1234440" cy="219456"/>
          </a:xfrm>
          <a:prstGeom prst="rect">
            <a:avLst/>
          </a:prstGeom>
          <a:noFill/>
          <a:ln/>
        </p:spPr>
        <p:txBody>
          <a:bodyPr wrap="square" rtlCol="0" anchor="ctr"/>
          <a:lstStyle/>
          <a:p>
            <a:pPr algn="ctr" indent="0" marL="0">
              <a:buNone/>
            </a:pPr>
            <a:r>
              <a:rPr lang="en-US" sz="750" b="1" dirty="0">
                <a:solidFill>
                  <a:srgbClr val="F59E0B"/>
                </a:solidFill>
                <a:latin typeface="Segoe UI" pitchFamily="34" charset="0"/>
                <a:ea typeface="Segoe UI" pitchFamily="34" charset="-122"/>
                <a:cs typeface="Segoe UI" pitchFamily="34" charset="-120"/>
              </a:rPr>
              <a:t>Hypothetical Doc Embeddings</a:t>
            </a:r>
            <a:endParaRPr lang="en-US" sz="750" dirty="0"/>
          </a:p>
        </p:txBody>
      </p:sp>
      <p:sp>
        <p:nvSpPr>
          <p:cNvPr id="22" name="Text 20"/>
          <p:cNvSpPr/>
          <p:nvPr/>
        </p:nvSpPr>
        <p:spPr>
          <a:xfrm>
            <a:off x="914400" y="3502152"/>
            <a:ext cx="3383280" cy="868680"/>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Users ask ambiguous questions. HyDE asks the LLM to generate a hypothetical answer first, then embeds that synthetic answer to search documents. Multi-query expansion breaks complex questions into 3 sub-queries.</a:t>
            </a:r>
            <a:endParaRPr lang="en-US" sz="900" dirty="0"/>
          </a:p>
        </p:txBody>
      </p:sp>
      <p:sp>
        <p:nvSpPr>
          <p:cNvPr id="23" name="Shape 21"/>
          <p:cNvSpPr/>
          <p:nvPr/>
        </p:nvSpPr>
        <p:spPr>
          <a:xfrm>
            <a:off x="4663440" y="3063240"/>
            <a:ext cx="3749040" cy="1371600"/>
          </a:xfrm>
          <a:prstGeom prst="roundRect">
            <a:avLst>
              <a:gd name="adj" fmla="val 6667"/>
            </a:avLst>
          </a:prstGeom>
          <a:solidFill>
            <a:srgbClr val="141C2F"/>
          </a:solidFill>
          <a:ln w="12700">
            <a:solidFill>
              <a:srgbClr val="24324F"/>
            </a:solidFill>
            <a:prstDash val="solid"/>
          </a:ln>
        </p:spPr>
      </p:sp>
      <p:sp>
        <p:nvSpPr>
          <p:cNvPr id="24" name="Text 22"/>
          <p:cNvSpPr/>
          <p:nvPr/>
        </p:nvSpPr>
        <p:spPr>
          <a:xfrm>
            <a:off x="4846320" y="3200400"/>
            <a:ext cx="2377440" cy="22860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Contextual Compression</a:t>
            </a:r>
            <a:endParaRPr lang="en-US" sz="1100" dirty="0"/>
          </a:p>
        </p:txBody>
      </p:sp>
      <p:sp>
        <p:nvSpPr>
          <p:cNvPr id="25" name="Shape 23"/>
          <p:cNvSpPr/>
          <p:nvPr/>
        </p:nvSpPr>
        <p:spPr>
          <a:xfrm>
            <a:off x="7040880" y="3172968"/>
            <a:ext cx="1234440" cy="219456"/>
          </a:xfrm>
          <a:prstGeom prst="roundRect">
            <a:avLst>
              <a:gd name="adj" fmla="val 33333"/>
            </a:avLst>
          </a:prstGeom>
          <a:solidFill>
            <a:srgbClr val="1E293B"/>
          </a:solidFill>
          <a:ln w="10160">
            <a:solidFill>
              <a:srgbClr val="10B981"/>
            </a:solidFill>
            <a:prstDash val="solid"/>
          </a:ln>
        </p:spPr>
      </p:sp>
      <p:sp>
        <p:nvSpPr>
          <p:cNvPr id="26" name="Text 24"/>
          <p:cNvSpPr/>
          <p:nvPr/>
        </p:nvSpPr>
        <p:spPr>
          <a:xfrm>
            <a:off x="7040880" y="3172968"/>
            <a:ext cx="1234440" cy="219456"/>
          </a:xfrm>
          <a:prstGeom prst="rect">
            <a:avLst/>
          </a:prstGeom>
          <a:noFill/>
          <a:ln/>
        </p:spPr>
        <p:txBody>
          <a:bodyPr wrap="square" rtlCol="0" anchor="ctr"/>
          <a:lstStyle/>
          <a:p>
            <a:pPr algn="ctr" indent="0" marL="0">
              <a:buNone/>
            </a:pPr>
            <a:r>
              <a:rPr lang="en-US" sz="750" b="1" dirty="0">
                <a:solidFill>
                  <a:srgbClr val="10B981"/>
                </a:solidFill>
                <a:latin typeface="Segoe UI" pitchFamily="34" charset="0"/>
                <a:ea typeface="Segoe UI" pitchFamily="34" charset="-122"/>
                <a:cs typeface="Segoe UI" pitchFamily="34" charset="-120"/>
              </a:rPr>
              <a:t>Lost in the Middle Fix</a:t>
            </a:r>
            <a:endParaRPr lang="en-US" sz="750" dirty="0"/>
          </a:p>
        </p:txBody>
      </p:sp>
      <p:sp>
        <p:nvSpPr>
          <p:cNvPr id="27" name="Text 25"/>
          <p:cNvSpPr/>
          <p:nvPr/>
        </p:nvSpPr>
        <p:spPr>
          <a:xfrm>
            <a:off x="4846320" y="3502152"/>
            <a:ext cx="3383280" cy="868680"/>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Instead of passing entire 1,000-word chunks containing 90% fluff, compression filters out irrelevant sentences within the chunk, leaving only the punchy factual sentences. Keeps token costs low and precision high.</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F1D"/>
        </a:solidFill>
      </p:bgPr>
    </p:bg>
    <p:spTree>
      <p:nvGrpSpPr>
        <p:cNvPr id="1" name=""/>
        <p:cNvGrpSpPr/>
        <p:nvPr/>
      </p:nvGrpSpPr>
      <p:grpSpPr>
        <a:xfrm>
          <a:off x="0" y="0"/>
          <a:ext cx="0" cy="0"/>
          <a:chOff x="0" y="0"/>
          <a:chExt cx="0" cy="0"/>
        </a:xfrm>
      </p:grpSpPr>
      <p:sp>
        <p:nvSpPr>
          <p:cNvPr id="2" name="Shape 0"/>
          <p:cNvSpPr/>
          <p:nvPr/>
        </p:nvSpPr>
        <p:spPr>
          <a:xfrm>
            <a:off x="731520" y="347472"/>
            <a:ext cx="1719072" cy="256032"/>
          </a:xfrm>
          <a:prstGeom prst="roundRect">
            <a:avLst>
              <a:gd name="adj" fmla="val 35714"/>
            </a:avLst>
          </a:prstGeom>
          <a:solidFill>
            <a:srgbClr val="1E293B"/>
          </a:solidFill>
          <a:ln w="12700">
            <a:solidFill>
              <a:srgbClr val="00D2FF"/>
            </a:solidFill>
            <a:prstDash val="solid"/>
          </a:ln>
        </p:spPr>
      </p:sp>
      <p:sp>
        <p:nvSpPr>
          <p:cNvPr id="3" name="Text 1"/>
          <p:cNvSpPr/>
          <p:nvPr/>
        </p:nvSpPr>
        <p:spPr>
          <a:xfrm>
            <a:off x="731520" y="347472"/>
            <a:ext cx="1719072" cy="256032"/>
          </a:xfrm>
          <a:prstGeom prst="rect">
            <a:avLst/>
          </a:prstGeom>
          <a:noFill/>
          <a:ln/>
        </p:spPr>
        <p:txBody>
          <a:bodyPr wrap="square" rtlCol="0" anchor="ctr"/>
          <a:lstStyle/>
          <a:p>
            <a:pPr algn="ctr" indent="0" marL="0">
              <a:buNone/>
            </a:pPr>
            <a:r>
              <a:rPr lang="en-US" sz="900" b="1" dirty="0">
                <a:solidFill>
                  <a:srgbClr val="00D2FF"/>
                </a:solidFill>
                <a:latin typeface="Segoe UI" pitchFamily="34" charset="0"/>
                <a:ea typeface="Segoe UI" pitchFamily="34" charset="-122"/>
                <a:cs typeface="Segoe UI" pitchFamily="34" charset="-120"/>
              </a:rPr>
              <a:t>STRATEGIC DECISION</a:t>
            </a:r>
            <a:endParaRPr lang="en-US" sz="900" dirty="0"/>
          </a:p>
        </p:txBody>
      </p:sp>
      <p:sp>
        <p:nvSpPr>
          <p:cNvPr id="4" name="Text 2"/>
          <p:cNvSpPr/>
          <p:nvPr/>
        </p:nvSpPr>
        <p:spPr>
          <a:xfrm>
            <a:off x="731520" y="658368"/>
            <a:ext cx="7680960" cy="502920"/>
          </a:xfrm>
          <a:prstGeom prst="rect">
            <a:avLst/>
          </a:prstGeom>
          <a:noFill/>
          <a:ln/>
        </p:spPr>
        <p:txBody>
          <a:bodyPr wrap="square" rtlCol="0" anchor="t"/>
          <a:lstStyle/>
          <a:p>
            <a:pPr indent="0" marL="0">
              <a:buNone/>
            </a:pPr>
            <a:r>
              <a:rPr lang="en-US" sz="2200" b="1" dirty="0">
                <a:solidFill>
                  <a:srgbClr val="FFFFFF"/>
                </a:solidFill>
                <a:latin typeface="Segoe UI" pitchFamily="34" charset="0"/>
                <a:ea typeface="Segoe UI" pitchFamily="34" charset="-122"/>
                <a:cs typeface="Segoe UI" pitchFamily="34" charset="-120"/>
              </a:rPr>
              <a:t>RAG vs. Fine-Tuning: Making the Right Choice</a:t>
            </a:r>
            <a:endParaRPr lang="en-US" sz="2200" dirty="0"/>
          </a:p>
        </p:txBody>
      </p:sp>
      <p:sp>
        <p:nvSpPr>
          <p:cNvPr id="5" name="Text 3"/>
          <p:cNvSpPr/>
          <p:nvPr/>
        </p:nvSpPr>
        <p:spPr>
          <a:xfrm>
            <a:off x="731520" y="1143000"/>
            <a:ext cx="7680960" cy="292608"/>
          </a:xfrm>
          <a:prstGeom prst="rect">
            <a:avLst/>
          </a:prstGeom>
          <a:noFill/>
          <a:ln/>
        </p:spPr>
        <p:txBody>
          <a:bodyPr wrap="square" rtlCol="0" anchor="t"/>
          <a:lstStyle/>
          <a:p>
            <a:pPr indent="0" marL="0">
              <a:buNone/>
            </a:pPr>
            <a:r>
              <a:rPr lang="en-US" sz="1200" dirty="0">
                <a:solidFill>
                  <a:srgbClr val="94A3B8"/>
                </a:solidFill>
                <a:latin typeface="Segoe UI" pitchFamily="34" charset="0"/>
                <a:ea typeface="Segoe UI" pitchFamily="34" charset="-122"/>
                <a:cs typeface="Segoe UI" pitchFamily="34" charset="-120"/>
              </a:rPr>
              <a:t>Fine-tuning changes behavior and tone; RAG provides knowledge, facts, and verifiable context.</a:t>
            </a:r>
            <a:endParaRPr lang="en-US" sz="1200" dirty="0"/>
          </a:p>
        </p:txBody>
      </p:sp>
      <p:sp>
        <p:nvSpPr>
          <p:cNvPr id="6" name="Shape 4"/>
          <p:cNvSpPr/>
          <p:nvPr/>
        </p:nvSpPr>
        <p:spPr>
          <a:xfrm>
            <a:off x="731520" y="4754880"/>
            <a:ext cx="7680960" cy="0"/>
          </a:xfrm>
          <a:prstGeom prst="line">
            <a:avLst/>
          </a:prstGeom>
          <a:noFill/>
          <a:ln w="12700">
            <a:solidFill>
              <a:srgbClr val="1E293B"/>
            </a:solidFill>
            <a:prstDash val="solid"/>
          </a:ln>
        </p:spPr>
      </p:sp>
      <p:sp>
        <p:nvSpPr>
          <p:cNvPr id="7" name="Text 5"/>
          <p:cNvSpPr/>
          <p:nvPr/>
        </p:nvSpPr>
        <p:spPr>
          <a:xfrm>
            <a:off x="731520" y="4800600"/>
            <a:ext cx="5486400" cy="22860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Retrieval-Augmented Generation (RAG) | Enterprise AI Architecture</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31520" y="1554480"/>
          <a:ext cx="7680960" cy="2103120"/>
        </p:xfrm>
        <a:graphic>
          <a:graphicData uri="http://schemas.openxmlformats.org/drawingml/2006/table">
            <a:tbl>
              <a:tblPr/>
              <a:tblGrid>
                <a:gridCol w="2011680"/>
                <a:gridCol w="2834640"/>
                <a:gridCol w="2834640"/>
              </a:tblGrid>
              <a:tr h="350520">
                <a:tc>
                  <a:txBody>
                    <a:bodyPr/>
                    <a:lstStyle/>
                    <a:p>
                      <a:pPr indent="0" marL="0">
                        <a:buNone/>
                      </a:pPr>
                      <a:r>
                        <a:rPr lang="en-US" sz="900" b="1" dirty="0">
                          <a:solidFill>
                            <a:srgbClr val="FFFFFF"/>
                          </a:solidFill>
                          <a:latin typeface="Segoe UI" pitchFamily="34" charset="0"/>
                          <a:ea typeface="Segoe UI" pitchFamily="34" charset="-122"/>
                          <a:cs typeface="Segoe UI" pitchFamily="34" charset="-120"/>
                        </a:rPr>
                        <a:t>Evaluation Dimension</a:t>
                      </a:r>
                      <a:endParaRPr lang="en-US" sz="900" dirty="0">
                        <a:latin typeface="Segoe UI" charset="0"/>
                        <a:ea typeface="Segoe UI" charset="0"/>
                        <a:cs typeface="Segoe UI" charset="0"/>
                      </a:endParaRPr>
                    </a:p>
                  </a:txBody>
                  <a:tcPr marL="91440" marR="91440" marT="45720" marB="45720">
                    <a:lnL w="12700" cap="flat" cmpd="sng" algn="ctr">
                      <a:solidFill>
                        <a:srgbClr val="24324F"/>
                      </a:solidFill>
                      <a:prstDash val="solid"/>
                      <a:round/>
                      <a:headEnd type="none" w="med" len="med"/>
                      <a:tailEnd type="none" w="med" len="med"/>
                    </a:lnL>
                    <a:lnR w="12700" cap="flat" cmpd="sng" algn="ctr">
                      <a:solidFill>
                        <a:srgbClr val="24324F"/>
                      </a:solidFill>
                      <a:prstDash val="solid"/>
                      <a:round/>
                      <a:headEnd type="none" w="med" len="med"/>
                      <a:tailEnd type="none" w="med" len="med"/>
                    </a:lnR>
                    <a:lnT w="12700" cap="flat" cmpd="sng" algn="ctr">
                      <a:solidFill>
                        <a:srgbClr val="24324F"/>
                      </a:solidFill>
                      <a:prstDash val="solid"/>
                      <a:round/>
                      <a:headEnd type="none" w="med" len="med"/>
                      <a:tailEnd type="none" w="med" len="med"/>
                    </a:lnT>
                    <a:lnB w="12700" cap="flat" cmpd="sng" algn="ctr">
                      <a:solidFill>
                        <a:srgbClr val="24324F"/>
                      </a:solidFill>
                      <a:prstDash val="solid"/>
                      <a:round/>
                      <a:headEnd type="none" w="med" len="med"/>
                      <a:tailEnd type="none" w="med" len="med"/>
                    </a:lnB>
                    <a:solidFill>
                      <a:srgbClr val="1E293B"/>
                    </a:solidFill>
                  </a:tcPr>
                </a:tc>
                <a:tc>
                  <a:txBody>
                    <a:bodyPr/>
                    <a:lstStyle/>
                    <a:p>
                      <a:pPr indent="0" marL="0">
                        <a:buNone/>
                      </a:pPr>
                      <a:r>
                        <a:rPr lang="en-US" sz="900" b="1" dirty="0">
                          <a:solidFill>
                            <a:srgbClr val="00D2FF"/>
                          </a:solidFill>
                          <a:latin typeface="Segoe UI" pitchFamily="34" charset="0"/>
                          <a:ea typeface="Segoe UI" pitchFamily="34" charset="-122"/>
                          <a:cs typeface="Segoe UI" pitchFamily="34" charset="-120"/>
                        </a:rPr>
                        <a:t>Retrieval-Augmented Gen (RAG)</a:t>
                      </a:r>
                      <a:endParaRPr lang="en-US" sz="900" dirty="0">
                        <a:latin typeface="Segoe UI" charset="0"/>
                        <a:ea typeface="Segoe UI" charset="0"/>
                        <a:cs typeface="Segoe UI" charset="0"/>
                      </a:endParaRPr>
                    </a:p>
                  </a:txBody>
                  <a:tcPr marL="91440" marR="91440" marT="45720" marB="45720">
                    <a:lnL w="12700" cap="flat" cmpd="sng" algn="ctr">
                      <a:solidFill>
                        <a:srgbClr val="24324F"/>
                      </a:solidFill>
                      <a:prstDash val="solid"/>
                      <a:round/>
                      <a:headEnd type="none" w="med" len="med"/>
                      <a:tailEnd type="none" w="med" len="med"/>
                    </a:lnL>
                    <a:lnR w="12700" cap="flat" cmpd="sng" algn="ctr">
                      <a:solidFill>
                        <a:srgbClr val="24324F"/>
                      </a:solidFill>
                      <a:prstDash val="solid"/>
                      <a:round/>
                      <a:headEnd type="none" w="med" len="med"/>
                      <a:tailEnd type="none" w="med" len="med"/>
                    </a:lnR>
                    <a:lnT w="12700" cap="flat" cmpd="sng" algn="ctr">
                      <a:solidFill>
                        <a:srgbClr val="24324F"/>
                      </a:solidFill>
                      <a:prstDash val="solid"/>
                      <a:round/>
                      <a:headEnd type="none" w="med" len="med"/>
                      <a:tailEnd type="none" w="med" len="med"/>
                    </a:lnT>
                    <a:lnB w="12700" cap="flat" cmpd="sng" algn="ctr">
                      <a:solidFill>
                        <a:srgbClr val="24324F"/>
                      </a:solidFill>
                      <a:prstDash val="solid"/>
                      <a:round/>
                      <a:headEnd type="none" w="med" len="med"/>
                      <a:tailEnd type="none" w="med" len="med"/>
                    </a:lnB>
                    <a:solidFill>
                      <a:srgbClr val="1E293B"/>
                    </a:solidFill>
                  </a:tcPr>
                </a:tc>
                <a:tc>
                  <a:txBody>
                    <a:bodyPr/>
                    <a:lstStyle/>
                    <a:p>
                      <a:pPr indent="0" marL="0">
                        <a:buNone/>
                      </a:pPr>
                      <a:r>
                        <a:rPr lang="en-US" sz="900" b="1" dirty="0">
                          <a:solidFill>
                            <a:srgbClr val="8B5CF6"/>
                          </a:solidFill>
                          <a:latin typeface="Segoe UI" pitchFamily="34" charset="0"/>
                          <a:ea typeface="Segoe UI" pitchFamily="34" charset="-122"/>
                          <a:cs typeface="Segoe UI" pitchFamily="34" charset="-120"/>
                        </a:rPr>
                        <a:t>Model Fine-Tuning (PEFT/LoRA)</a:t>
                      </a:r>
                      <a:endParaRPr lang="en-US" sz="900" dirty="0">
                        <a:latin typeface="Segoe UI" charset="0"/>
                        <a:ea typeface="Segoe UI" charset="0"/>
                        <a:cs typeface="Segoe UI" charset="0"/>
                      </a:endParaRPr>
                    </a:p>
                  </a:txBody>
                  <a:tcPr marL="91440" marR="91440" marT="45720" marB="45720">
                    <a:lnL w="12700" cap="flat" cmpd="sng" algn="ctr">
                      <a:solidFill>
                        <a:srgbClr val="24324F"/>
                      </a:solidFill>
                      <a:prstDash val="solid"/>
                      <a:round/>
                      <a:headEnd type="none" w="med" len="med"/>
                      <a:tailEnd type="none" w="med" len="med"/>
                    </a:lnL>
                    <a:lnR w="12700" cap="flat" cmpd="sng" algn="ctr">
                      <a:solidFill>
                        <a:srgbClr val="24324F"/>
                      </a:solidFill>
                      <a:prstDash val="solid"/>
                      <a:round/>
                      <a:headEnd type="none" w="med" len="med"/>
                      <a:tailEnd type="none" w="med" len="med"/>
                    </a:lnR>
                    <a:lnT w="12700" cap="flat" cmpd="sng" algn="ctr">
                      <a:solidFill>
                        <a:srgbClr val="24324F"/>
                      </a:solidFill>
                      <a:prstDash val="solid"/>
                      <a:round/>
                      <a:headEnd type="none" w="med" len="med"/>
                      <a:tailEnd type="none" w="med" len="med"/>
                    </a:lnT>
                    <a:lnB w="12700" cap="flat" cmpd="sng" algn="ctr">
                      <a:solidFill>
                        <a:srgbClr val="24324F"/>
                      </a:solidFill>
                      <a:prstDash val="solid"/>
                      <a:round/>
                      <a:headEnd type="none" w="med" len="med"/>
                      <a:tailEnd type="none" w="med" len="med"/>
                    </a:lnB>
                    <a:solidFill>
                      <a:srgbClr val="1E293B"/>
                    </a:solidFill>
                  </a:tcPr>
                </a:tc>
              </a:tr>
              <a:tr h="350520">
                <a:tc>
                  <a:txBody>
                    <a:bodyPr/>
                    <a:lstStyle/>
                    <a:p>
                      <a:pPr indent="0" marL="0">
                        <a:buNone/>
                      </a:pPr>
                      <a:r>
                        <a:rPr lang="en-US" sz="900" b="1" dirty="0">
                          <a:solidFill>
                            <a:srgbClr val="FFFFFF"/>
                          </a:solidFill>
                          <a:latin typeface="Segoe UI" pitchFamily="34" charset="0"/>
                          <a:ea typeface="Segoe UI" pitchFamily="34" charset="-122"/>
                          <a:cs typeface="Segoe UI" pitchFamily="34" charset="-120"/>
                        </a:rPr>
                        <a:t>Primary Superpower</a:t>
                      </a:r>
                      <a:endParaRPr lang="en-US" sz="900" dirty="0">
                        <a:latin typeface="Segoe UI" charset="0"/>
                        <a:ea typeface="Segoe UI" charset="0"/>
                        <a:cs typeface="Segoe UI" charset="0"/>
                      </a:endParaRPr>
                    </a:p>
                  </a:txBody>
                  <a:tcPr marL="91440" marR="91440" marT="45720" marB="45720">
                    <a:lnL w="12700" cap="flat" cmpd="sng" algn="ctr">
                      <a:solidFill>
                        <a:srgbClr val="24324F"/>
                      </a:solidFill>
                      <a:prstDash val="solid"/>
                      <a:round/>
                      <a:headEnd type="none" w="med" len="med"/>
                      <a:tailEnd type="none" w="med" len="med"/>
                    </a:lnL>
                    <a:lnR w="12700" cap="flat" cmpd="sng" algn="ctr">
                      <a:solidFill>
                        <a:srgbClr val="24324F"/>
                      </a:solidFill>
                      <a:prstDash val="solid"/>
                      <a:round/>
                      <a:headEnd type="none" w="med" len="med"/>
                      <a:tailEnd type="none" w="med" len="med"/>
                    </a:lnR>
                    <a:lnT w="12700" cap="flat" cmpd="sng" algn="ctr">
                      <a:solidFill>
                        <a:srgbClr val="24324F"/>
                      </a:solidFill>
                      <a:prstDash val="solid"/>
                      <a:round/>
                      <a:headEnd type="none" w="med" len="med"/>
                      <a:tailEnd type="none" w="med" len="med"/>
                    </a:lnT>
                    <a:lnB w="12700" cap="flat" cmpd="sng" algn="ctr">
                      <a:solidFill>
                        <a:srgbClr val="24324F"/>
                      </a:solidFill>
                      <a:prstDash val="solid"/>
                      <a:round/>
                      <a:headEnd type="none" w="med" len="med"/>
                      <a:tailEnd type="none" w="med" len="med"/>
                    </a:lnB>
                    <a:solidFill>
                      <a:srgbClr val="141C2F"/>
                    </a:solidFill>
                  </a:tcPr>
                </a:tc>
                <a:tc>
                  <a:txBody>
                    <a:bodyPr/>
                    <a:lstStyle/>
                    <a:p>
                      <a:pPr indent="0" marL="0">
                        <a:buNone/>
                      </a:pPr>
                      <a:r>
                        <a:rPr lang="en-US" sz="900" dirty="0">
                          <a:solidFill>
                            <a:srgbClr val="94A3B8"/>
                          </a:solidFill>
                          <a:latin typeface="Segoe UI" pitchFamily="34" charset="0"/>
                          <a:ea typeface="Segoe UI" pitchFamily="34" charset="-122"/>
                          <a:cs typeface="Segoe UI" pitchFamily="34" charset="-120"/>
                        </a:rPr>
                        <a:t>Factual accuracy, external knowledge injection</a:t>
                      </a:r>
                      <a:endParaRPr lang="en-US" sz="900" dirty="0">
                        <a:latin typeface="Segoe UI" charset="0"/>
                        <a:ea typeface="Segoe UI" charset="0"/>
                        <a:cs typeface="Segoe UI" charset="0"/>
                      </a:endParaRPr>
                    </a:p>
                  </a:txBody>
                  <a:tcPr marL="91440" marR="91440" marT="45720" marB="45720">
                    <a:lnL w="12700" cap="flat" cmpd="sng" algn="ctr">
                      <a:solidFill>
                        <a:srgbClr val="24324F"/>
                      </a:solidFill>
                      <a:prstDash val="solid"/>
                      <a:round/>
                      <a:headEnd type="none" w="med" len="med"/>
                      <a:tailEnd type="none" w="med" len="med"/>
                    </a:lnL>
                    <a:lnR w="12700" cap="flat" cmpd="sng" algn="ctr">
                      <a:solidFill>
                        <a:srgbClr val="24324F"/>
                      </a:solidFill>
                      <a:prstDash val="solid"/>
                      <a:round/>
                      <a:headEnd type="none" w="med" len="med"/>
                      <a:tailEnd type="none" w="med" len="med"/>
                    </a:lnR>
                    <a:lnT w="12700" cap="flat" cmpd="sng" algn="ctr">
                      <a:solidFill>
                        <a:srgbClr val="24324F"/>
                      </a:solidFill>
                      <a:prstDash val="solid"/>
                      <a:round/>
                      <a:headEnd type="none" w="med" len="med"/>
                      <a:tailEnd type="none" w="med" len="med"/>
                    </a:lnT>
                    <a:lnB w="12700" cap="flat" cmpd="sng" algn="ctr">
                      <a:solidFill>
                        <a:srgbClr val="24324F"/>
                      </a:solidFill>
                      <a:prstDash val="solid"/>
                      <a:round/>
                      <a:headEnd type="none" w="med" len="med"/>
                      <a:tailEnd type="none" w="med" len="med"/>
                    </a:lnB>
                    <a:solidFill>
                      <a:srgbClr val="141C2F"/>
                    </a:solidFill>
                  </a:tcPr>
                </a:tc>
                <a:tc>
                  <a:txBody>
                    <a:bodyPr/>
                    <a:lstStyle/>
                    <a:p>
                      <a:pPr indent="0" marL="0">
                        <a:buNone/>
                      </a:pPr>
                      <a:r>
                        <a:rPr lang="en-US" sz="900" dirty="0">
                          <a:solidFill>
                            <a:srgbClr val="94A3B8"/>
                          </a:solidFill>
                          <a:latin typeface="Segoe UI" pitchFamily="34" charset="0"/>
                          <a:ea typeface="Segoe UI" pitchFamily="34" charset="-122"/>
                          <a:cs typeface="Segoe UI" pitchFamily="34" charset="-120"/>
                        </a:rPr>
                        <a:t>Style, tone, formatting, domain vocabulary syntax</a:t>
                      </a:r>
                      <a:endParaRPr lang="en-US" sz="900" dirty="0">
                        <a:latin typeface="Segoe UI" charset="0"/>
                        <a:ea typeface="Segoe UI" charset="0"/>
                        <a:cs typeface="Segoe UI" charset="0"/>
                      </a:endParaRPr>
                    </a:p>
                  </a:txBody>
                  <a:tcPr marL="91440" marR="91440" marT="45720" marB="45720">
                    <a:lnL w="12700" cap="flat" cmpd="sng" algn="ctr">
                      <a:solidFill>
                        <a:srgbClr val="24324F"/>
                      </a:solidFill>
                      <a:prstDash val="solid"/>
                      <a:round/>
                      <a:headEnd type="none" w="med" len="med"/>
                      <a:tailEnd type="none" w="med" len="med"/>
                    </a:lnL>
                    <a:lnR w="12700" cap="flat" cmpd="sng" algn="ctr">
                      <a:solidFill>
                        <a:srgbClr val="24324F"/>
                      </a:solidFill>
                      <a:prstDash val="solid"/>
                      <a:round/>
                      <a:headEnd type="none" w="med" len="med"/>
                      <a:tailEnd type="none" w="med" len="med"/>
                    </a:lnR>
                    <a:lnT w="12700" cap="flat" cmpd="sng" algn="ctr">
                      <a:solidFill>
                        <a:srgbClr val="24324F"/>
                      </a:solidFill>
                      <a:prstDash val="solid"/>
                      <a:round/>
                      <a:headEnd type="none" w="med" len="med"/>
                      <a:tailEnd type="none" w="med" len="med"/>
                    </a:lnT>
                    <a:lnB w="12700" cap="flat" cmpd="sng" algn="ctr">
                      <a:solidFill>
                        <a:srgbClr val="24324F"/>
                      </a:solidFill>
                      <a:prstDash val="solid"/>
                      <a:round/>
                      <a:headEnd type="none" w="med" len="med"/>
                      <a:tailEnd type="none" w="med" len="med"/>
                    </a:lnB>
                    <a:solidFill>
                      <a:srgbClr val="141C2F"/>
                    </a:solidFill>
                  </a:tcPr>
                </a:tc>
              </a:tr>
              <a:tr h="350520">
                <a:tc>
                  <a:txBody>
                    <a:bodyPr/>
                    <a:lstStyle/>
                    <a:p>
                      <a:pPr indent="0" marL="0">
                        <a:buNone/>
                      </a:pPr>
                      <a:r>
                        <a:rPr lang="en-US" sz="900" b="1" dirty="0">
                          <a:solidFill>
                            <a:srgbClr val="FFFFFF"/>
                          </a:solidFill>
                          <a:latin typeface="Segoe UI" pitchFamily="34" charset="0"/>
                          <a:ea typeface="Segoe UI" pitchFamily="34" charset="-122"/>
                          <a:cs typeface="Segoe UI" pitchFamily="34" charset="-120"/>
                        </a:rPr>
                        <a:t>Data Freshness</a:t>
                      </a:r>
                      <a:endParaRPr lang="en-US" sz="900" dirty="0">
                        <a:latin typeface="Segoe UI" charset="0"/>
                        <a:ea typeface="Segoe UI" charset="0"/>
                        <a:cs typeface="Segoe UI" charset="0"/>
                      </a:endParaRPr>
                    </a:p>
                  </a:txBody>
                  <a:tcPr marL="91440" marR="91440" marT="45720" marB="45720">
                    <a:lnL w="12700" cap="flat" cmpd="sng" algn="ctr">
                      <a:solidFill>
                        <a:srgbClr val="24324F"/>
                      </a:solidFill>
                      <a:prstDash val="solid"/>
                      <a:round/>
                      <a:headEnd type="none" w="med" len="med"/>
                      <a:tailEnd type="none" w="med" len="med"/>
                    </a:lnL>
                    <a:lnR w="12700" cap="flat" cmpd="sng" algn="ctr">
                      <a:solidFill>
                        <a:srgbClr val="24324F"/>
                      </a:solidFill>
                      <a:prstDash val="solid"/>
                      <a:round/>
                      <a:headEnd type="none" w="med" len="med"/>
                      <a:tailEnd type="none" w="med" len="med"/>
                    </a:lnR>
                    <a:lnT w="12700" cap="flat" cmpd="sng" algn="ctr">
                      <a:solidFill>
                        <a:srgbClr val="24324F"/>
                      </a:solidFill>
                      <a:prstDash val="solid"/>
                      <a:round/>
                      <a:headEnd type="none" w="med" len="med"/>
                      <a:tailEnd type="none" w="med" len="med"/>
                    </a:lnT>
                    <a:lnB w="12700" cap="flat" cmpd="sng" algn="ctr">
                      <a:solidFill>
                        <a:srgbClr val="24324F"/>
                      </a:solidFill>
                      <a:prstDash val="solid"/>
                      <a:round/>
                      <a:headEnd type="none" w="med" len="med"/>
                      <a:tailEnd type="none" w="med" len="med"/>
                    </a:lnB>
                    <a:solidFill>
                      <a:srgbClr val="141C2F"/>
                    </a:solidFill>
                  </a:tcPr>
                </a:tc>
                <a:tc>
                  <a:txBody>
                    <a:bodyPr/>
                    <a:lstStyle/>
                    <a:p>
                      <a:pPr indent="0" marL="0">
                        <a:buNone/>
                      </a:pPr>
                      <a:r>
                        <a:rPr lang="en-US" sz="900" b="1" dirty="0">
                          <a:solidFill>
                            <a:srgbClr val="10B981"/>
                          </a:solidFill>
                          <a:latin typeface="Segoe UI" pitchFamily="34" charset="0"/>
                          <a:ea typeface="Segoe UI" pitchFamily="34" charset="-122"/>
                          <a:cs typeface="Segoe UI" pitchFamily="34" charset="-120"/>
                        </a:rPr>
                        <a:t>Instantaneous (add or edit record in database)</a:t>
                      </a:r>
                      <a:endParaRPr lang="en-US" sz="900" dirty="0">
                        <a:latin typeface="Segoe UI" charset="0"/>
                        <a:ea typeface="Segoe UI" charset="0"/>
                        <a:cs typeface="Segoe UI" charset="0"/>
                      </a:endParaRPr>
                    </a:p>
                  </a:txBody>
                  <a:tcPr marL="91440" marR="91440" marT="45720" marB="45720">
                    <a:lnL w="12700" cap="flat" cmpd="sng" algn="ctr">
                      <a:solidFill>
                        <a:srgbClr val="24324F"/>
                      </a:solidFill>
                      <a:prstDash val="solid"/>
                      <a:round/>
                      <a:headEnd type="none" w="med" len="med"/>
                      <a:tailEnd type="none" w="med" len="med"/>
                    </a:lnL>
                    <a:lnR w="12700" cap="flat" cmpd="sng" algn="ctr">
                      <a:solidFill>
                        <a:srgbClr val="24324F"/>
                      </a:solidFill>
                      <a:prstDash val="solid"/>
                      <a:round/>
                      <a:headEnd type="none" w="med" len="med"/>
                      <a:tailEnd type="none" w="med" len="med"/>
                    </a:lnR>
                    <a:lnT w="12700" cap="flat" cmpd="sng" algn="ctr">
                      <a:solidFill>
                        <a:srgbClr val="24324F"/>
                      </a:solidFill>
                      <a:prstDash val="solid"/>
                      <a:round/>
                      <a:headEnd type="none" w="med" len="med"/>
                      <a:tailEnd type="none" w="med" len="med"/>
                    </a:lnT>
                    <a:lnB w="12700" cap="flat" cmpd="sng" algn="ctr">
                      <a:solidFill>
                        <a:srgbClr val="24324F"/>
                      </a:solidFill>
                      <a:prstDash val="solid"/>
                      <a:round/>
                      <a:headEnd type="none" w="med" len="med"/>
                      <a:tailEnd type="none" w="med" len="med"/>
                    </a:lnB>
                    <a:solidFill>
                      <a:srgbClr val="141C2F"/>
                    </a:solidFill>
                  </a:tcPr>
                </a:tc>
                <a:tc>
                  <a:txBody>
                    <a:bodyPr/>
                    <a:lstStyle/>
                    <a:p>
                      <a:pPr indent="0" marL="0">
                        <a:buNone/>
                      </a:pPr>
                      <a:r>
                        <a:rPr lang="en-US" sz="900" dirty="0">
                          <a:solidFill>
                            <a:srgbClr val="EF4444"/>
                          </a:solidFill>
                          <a:latin typeface="Segoe UI" pitchFamily="34" charset="0"/>
                          <a:ea typeface="Segoe UI" pitchFamily="34" charset="-122"/>
                          <a:cs typeface="Segoe UI" pitchFamily="34" charset="-120"/>
                        </a:rPr>
                        <a:t>Static until next training pipeline run</a:t>
                      </a:r>
                      <a:endParaRPr lang="en-US" sz="900" dirty="0">
                        <a:latin typeface="Segoe UI" charset="0"/>
                        <a:ea typeface="Segoe UI" charset="0"/>
                        <a:cs typeface="Segoe UI" charset="0"/>
                      </a:endParaRPr>
                    </a:p>
                  </a:txBody>
                  <a:tcPr marL="91440" marR="91440" marT="45720" marB="45720">
                    <a:lnL w="12700" cap="flat" cmpd="sng" algn="ctr">
                      <a:solidFill>
                        <a:srgbClr val="24324F"/>
                      </a:solidFill>
                      <a:prstDash val="solid"/>
                      <a:round/>
                      <a:headEnd type="none" w="med" len="med"/>
                      <a:tailEnd type="none" w="med" len="med"/>
                    </a:lnL>
                    <a:lnR w="12700" cap="flat" cmpd="sng" algn="ctr">
                      <a:solidFill>
                        <a:srgbClr val="24324F"/>
                      </a:solidFill>
                      <a:prstDash val="solid"/>
                      <a:round/>
                      <a:headEnd type="none" w="med" len="med"/>
                      <a:tailEnd type="none" w="med" len="med"/>
                    </a:lnR>
                    <a:lnT w="12700" cap="flat" cmpd="sng" algn="ctr">
                      <a:solidFill>
                        <a:srgbClr val="24324F"/>
                      </a:solidFill>
                      <a:prstDash val="solid"/>
                      <a:round/>
                      <a:headEnd type="none" w="med" len="med"/>
                      <a:tailEnd type="none" w="med" len="med"/>
                    </a:lnT>
                    <a:lnB w="12700" cap="flat" cmpd="sng" algn="ctr">
                      <a:solidFill>
                        <a:srgbClr val="24324F"/>
                      </a:solidFill>
                      <a:prstDash val="solid"/>
                      <a:round/>
                      <a:headEnd type="none" w="med" len="med"/>
                      <a:tailEnd type="none" w="med" len="med"/>
                    </a:lnB>
                    <a:solidFill>
                      <a:srgbClr val="141C2F"/>
                    </a:solidFill>
                  </a:tcPr>
                </a:tc>
              </a:tr>
              <a:tr h="350520">
                <a:tc>
                  <a:txBody>
                    <a:bodyPr/>
                    <a:lstStyle/>
                    <a:p>
                      <a:pPr indent="0" marL="0">
                        <a:buNone/>
                      </a:pPr>
                      <a:r>
                        <a:rPr lang="en-US" sz="900" b="1" dirty="0">
                          <a:solidFill>
                            <a:srgbClr val="FFFFFF"/>
                          </a:solidFill>
                          <a:latin typeface="Segoe UI" pitchFamily="34" charset="0"/>
                          <a:ea typeface="Segoe UI" pitchFamily="34" charset="-122"/>
                          <a:cs typeface="Segoe UI" pitchFamily="34" charset="-120"/>
                        </a:rPr>
                        <a:t>Hallucination Defense</a:t>
                      </a:r>
                      <a:endParaRPr lang="en-US" sz="900" dirty="0">
                        <a:latin typeface="Segoe UI" charset="0"/>
                        <a:ea typeface="Segoe UI" charset="0"/>
                        <a:cs typeface="Segoe UI" charset="0"/>
                      </a:endParaRPr>
                    </a:p>
                  </a:txBody>
                  <a:tcPr marL="91440" marR="91440" marT="45720" marB="45720">
                    <a:lnL w="12700" cap="flat" cmpd="sng" algn="ctr">
                      <a:solidFill>
                        <a:srgbClr val="24324F"/>
                      </a:solidFill>
                      <a:prstDash val="solid"/>
                      <a:round/>
                      <a:headEnd type="none" w="med" len="med"/>
                      <a:tailEnd type="none" w="med" len="med"/>
                    </a:lnL>
                    <a:lnR w="12700" cap="flat" cmpd="sng" algn="ctr">
                      <a:solidFill>
                        <a:srgbClr val="24324F"/>
                      </a:solidFill>
                      <a:prstDash val="solid"/>
                      <a:round/>
                      <a:headEnd type="none" w="med" len="med"/>
                      <a:tailEnd type="none" w="med" len="med"/>
                    </a:lnR>
                    <a:lnT w="12700" cap="flat" cmpd="sng" algn="ctr">
                      <a:solidFill>
                        <a:srgbClr val="24324F"/>
                      </a:solidFill>
                      <a:prstDash val="solid"/>
                      <a:round/>
                      <a:headEnd type="none" w="med" len="med"/>
                      <a:tailEnd type="none" w="med" len="med"/>
                    </a:lnT>
                    <a:lnB w="12700" cap="flat" cmpd="sng" algn="ctr">
                      <a:solidFill>
                        <a:srgbClr val="24324F"/>
                      </a:solidFill>
                      <a:prstDash val="solid"/>
                      <a:round/>
                      <a:headEnd type="none" w="med" len="med"/>
                      <a:tailEnd type="none" w="med" len="med"/>
                    </a:lnB>
                    <a:solidFill>
                      <a:srgbClr val="141C2F"/>
                    </a:solidFill>
                  </a:tcPr>
                </a:tc>
                <a:tc>
                  <a:txBody>
                    <a:bodyPr/>
                    <a:lstStyle/>
                    <a:p>
                      <a:pPr indent="0" marL="0">
                        <a:buNone/>
                      </a:pPr>
                      <a:r>
                        <a:rPr lang="en-US" sz="900" b="1" dirty="0">
                          <a:solidFill>
                            <a:srgbClr val="10B981"/>
                          </a:solidFill>
                          <a:latin typeface="Segoe UI" pitchFamily="34" charset="0"/>
                          <a:ea typeface="Segoe UI" pitchFamily="34" charset="-122"/>
                          <a:cs typeface="Segoe UI" pitchFamily="34" charset="-120"/>
                        </a:rPr>
                        <a:t>High (strict grounding + verifiable citations)</a:t>
                      </a:r>
                      <a:endParaRPr lang="en-US" sz="900" dirty="0">
                        <a:latin typeface="Segoe UI" charset="0"/>
                        <a:ea typeface="Segoe UI" charset="0"/>
                        <a:cs typeface="Segoe UI" charset="0"/>
                      </a:endParaRPr>
                    </a:p>
                  </a:txBody>
                  <a:tcPr marL="91440" marR="91440" marT="45720" marB="45720">
                    <a:lnL w="12700" cap="flat" cmpd="sng" algn="ctr">
                      <a:solidFill>
                        <a:srgbClr val="24324F"/>
                      </a:solidFill>
                      <a:prstDash val="solid"/>
                      <a:round/>
                      <a:headEnd type="none" w="med" len="med"/>
                      <a:tailEnd type="none" w="med" len="med"/>
                    </a:lnL>
                    <a:lnR w="12700" cap="flat" cmpd="sng" algn="ctr">
                      <a:solidFill>
                        <a:srgbClr val="24324F"/>
                      </a:solidFill>
                      <a:prstDash val="solid"/>
                      <a:round/>
                      <a:headEnd type="none" w="med" len="med"/>
                      <a:tailEnd type="none" w="med" len="med"/>
                    </a:lnR>
                    <a:lnT w="12700" cap="flat" cmpd="sng" algn="ctr">
                      <a:solidFill>
                        <a:srgbClr val="24324F"/>
                      </a:solidFill>
                      <a:prstDash val="solid"/>
                      <a:round/>
                      <a:headEnd type="none" w="med" len="med"/>
                      <a:tailEnd type="none" w="med" len="med"/>
                    </a:lnT>
                    <a:lnB w="12700" cap="flat" cmpd="sng" algn="ctr">
                      <a:solidFill>
                        <a:srgbClr val="24324F"/>
                      </a:solidFill>
                      <a:prstDash val="solid"/>
                      <a:round/>
                      <a:headEnd type="none" w="med" len="med"/>
                      <a:tailEnd type="none" w="med" len="med"/>
                    </a:lnB>
                    <a:solidFill>
                      <a:srgbClr val="141C2F"/>
                    </a:solidFill>
                  </a:tcPr>
                </a:tc>
                <a:tc>
                  <a:txBody>
                    <a:bodyPr/>
                    <a:lstStyle/>
                    <a:p>
                      <a:pPr indent="0" marL="0">
                        <a:buNone/>
                      </a:pPr>
                      <a:r>
                        <a:rPr lang="en-US" sz="900" dirty="0">
                          <a:solidFill>
                            <a:srgbClr val="EF4444"/>
                          </a:solidFill>
                          <a:latin typeface="Segoe UI" pitchFamily="34" charset="0"/>
                          <a:ea typeface="Segoe UI" pitchFamily="34" charset="-122"/>
                          <a:cs typeface="Segoe UI" pitchFamily="34" charset="-120"/>
                        </a:rPr>
                        <a:t>Low-to-Moderate (model can still fabricate)</a:t>
                      </a:r>
                      <a:endParaRPr lang="en-US" sz="900" dirty="0">
                        <a:latin typeface="Segoe UI" charset="0"/>
                        <a:ea typeface="Segoe UI" charset="0"/>
                        <a:cs typeface="Segoe UI" charset="0"/>
                      </a:endParaRPr>
                    </a:p>
                  </a:txBody>
                  <a:tcPr marL="91440" marR="91440" marT="45720" marB="45720">
                    <a:lnL w="12700" cap="flat" cmpd="sng" algn="ctr">
                      <a:solidFill>
                        <a:srgbClr val="24324F"/>
                      </a:solidFill>
                      <a:prstDash val="solid"/>
                      <a:round/>
                      <a:headEnd type="none" w="med" len="med"/>
                      <a:tailEnd type="none" w="med" len="med"/>
                    </a:lnL>
                    <a:lnR w="12700" cap="flat" cmpd="sng" algn="ctr">
                      <a:solidFill>
                        <a:srgbClr val="24324F"/>
                      </a:solidFill>
                      <a:prstDash val="solid"/>
                      <a:round/>
                      <a:headEnd type="none" w="med" len="med"/>
                      <a:tailEnd type="none" w="med" len="med"/>
                    </a:lnR>
                    <a:lnT w="12700" cap="flat" cmpd="sng" algn="ctr">
                      <a:solidFill>
                        <a:srgbClr val="24324F"/>
                      </a:solidFill>
                      <a:prstDash val="solid"/>
                      <a:round/>
                      <a:headEnd type="none" w="med" len="med"/>
                      <a:tailEnd type="none" w="med" len="med"/>
                    </a:lnT>
                    <a:lnB w="12700" cap="flat" cmpd="sng" algn="ctr">
                      <a:solidFill>
                        <a:srgbClr val="24324F"/>
                      </a:solidFill>
                      <a:prstDash val="solid"/>
                      <a:round/>
                      <a:headEnd type="none" w="med" len="med"/>
                      <a:tailEnd type="none" w="med" len="med"/>
                    </a:lnB>
                    <a:solidFill>
                      <a:srgbClr val="141C2F"/>
                    </a:solidFill>
                  </a:tcPr>
                </a:tc>
              </a:tr>
              <a:tr h="350520">
                <a:tc>
                  <a:txBody>
                    <a:bodyPr/>
                    <a:lstStyle/>
                    <a:p>
                      <a:pPr indent="0" marL="0">
                        <a:buNone/>
                      </a:pPr>
                      <a:r>
                        <a:rPr lang="en-US" sz="900" b="1" dirty="0">
                          <a:solidFill>
                            <a:srgbClr val="FFFFFF"/>
                          </a:solidFill>
                          <a:latin typeface="Segoe UI" pitchFamily="34" charset="0"/>
                          <a:ea typeface="Segoe UI" pitchFamily="34" charset="-122"/>
                          <a:cs typeface="Segoe UI" pitchFamily="34" charset="-120"/>
                        </a:rPr>
                        <a:t>Compute &amp; Training Cost</a:t>
                      </a:r>
                      <a:endParaRPr lang="en-US" sz="900" dirty="0">
                        <a:latin typeface="Segoe UI" charset="0"/>
                        <a:ea typeface="Segoe UI" charset="0"/>
                        <a:cs typeface="Segoe UI" charset="0"/>
                      </a:endParaRPr>
                    </a:p>
                  </a:txBody>
                  <a:tcPr marL="91440" marR="91440" marT="45720" marB="45720">
                    <a:lnL w="12700" cap="flat" cmpd="sng" algn="ctr">
                      <a:solidFill>
                        <a:srgbClr val="24324F"/>
                      </a:solidFill>
                      <a:prstDash val="solid"/>
                      <a:round/>
                      <a:headEnd type="none" w="med" len="med"/>
                      <a:tailEnd type="none" w="med" len="med"/>
                    </a:lnL>
                    <a:lnR w="12700" cap="flat" cmpd="sng" algn="ctr">
                      <a:solidFill>
                        <a:srgbClr val="24324F"/>
                      </a:solidFill>
                      <a:prstDash val="solid"/>
                      <a:round/>
                      <a:headEnd type="none" w="med" len="med"/>
                      <a:tailEnd type="none" w="med" len="med"/>
                    </a:lnR>
                    <a:lnT w="12700" cap="flat" cmpd="sng" algn="ctr">
                      <a:solidFill>
                        <a:srgbClr val="24324F"/>
                      </a:solidFill>
                      <a:prstDash val="solid"/>
                      <a:round/>
                      <a:headEnd type="none" w="med" len="med"/>
                      <a:tailEnd type="none" w="med" len="med"/>
                    </a:lnT>
                    <a:lnB w="12700" cap="flat" cmpd="sng" algn="ctr">
                      <a:solidFill>
                        <a:srgbClr val="24324F"/>
                      </a:solidFill>
                      <a:prstDash val="solid"/>
                      <a:round/>
                      <a:headEnd type="none" w="med" len="med"/>
                      <a:tailEnd type="none" w="med" len="med"/>
                    </a:lnB>
                    <a:solidFill>
                      <a:srgbClr val="141C2F"/>
                    </a:solidFill>
                  </a:tcPr>
                </a:tc>
                <a:tc>
                  <a:txBody>
                    <a:bodyPr/>
                    <a:lstStyle/>
                    <a:p>
                      <a:pPr indent="0" marL="0">
                        <a:buNone/>
                      </a:pPr>
                      <a:r>
                        <a:rPr lang="en-US" sz="900" dirty="0">
                          <a:solidFill>
                            <a:srgbClr val="94A3B8"/>
                          </a:solidFill>
                          <a:latin typeface="Segoe UI" pitchFamily="34" charset="0"/>
                          <a:ea typeface="Segoe UI" pitchFamily="34" charset="-122"/>
                          <a:cs typeface="Segoe UI" pitchFamily="34" charset="-120"/>
                        </a:rPr>
                        <a:t>Low (standard DB and API inference calls)</a:t>
                      </a:r>
                      <a:endParaRPr lang="en-US" sz="900" dirty="0">
                        <a:latin typeface="Segoe UI" charset="0"/>
                        <a:ea typeface="Segoe UI" charset="0"/>
                        <a:cs typeface="Segoe UI" charset="0"/>
                      </a:endParaRPr>
                    </a:p>
                  </a:txBody>
                  <a:tcPr marL="91440" marR="91440" marT="45720" marB="45720">
                    <a:lnL w="12700" cap="flat" cmpd="sng" algn="ctr">
                      <a:solidFill>
                        <a:srgbClr val="24324F"/>
                      </a:solidFill>
                      <a:prstDash val="solid"/>
                      <a:round/>
                      <a:headEnd type="none" w="med" len="med"/>
                      <a:tailEnd type="none" w="med" len="med"/>
                    </a:lnL>
                    <a:lnR w="12700" cap="flat" cmpd="sng" algn="ctr">
                      <a:solidFill>
                        <a:srgbClr val="24324F"/>
                      </a:solidFill>
                      <a:prstDash val="solid"/>
                      <a:round/>
                      <a:headEnd type="none" w="med" len="med"/>
                      <a:tailEnd type="none" w="med" len="med"/>
                    </a:lnR>
                    <a:lnT w="12700" cap="flat" cmpd="sng" algn="ctr">
                      <a:solidFill>
                        <a:srgbClr val="24324F"/>
                      </a:solidFill>
                      <a:prstDash val="solid"/>
                      <a:round/>
                      <a:headEnd type="none" w="med" len="med"/>
                      <a:tailEnd type="none" w="med" len="med"/>
                    </a:lnT>
                    <a:lnB w="12700" cap="flat" cmpd="sng" algn="ctr">
                      <a:solidFill>
                        <a:srgbClr val="24324F"/>
                      </a:solidFill>
                      <a:prstDash val="solid"/>
                      <a:round/>
                      <a:headEnd type="none" w="med" len="med"/>
                      <a:tailEnd type="none" w="med" len="med"/>
                    </a:lnB>
                    <a:solidFill>
                      <a:srgbClr val="141C2F"/>
                    </a:solidFill>
                  </a:tcPr>
                </a:tc>
                <a:tc>
                  <a:txBody>
                    <a:bodyPr/>
                    <a:lstStyle/>
                    <a:p>
                      <a:pPr indent="0" marL="0">
                        <a:buNone/>
                      </a:pPr>
                      <a:r>
                        <a:rPr lang="en-US" sz="900" dirty="0">
                          <a:solidFill>
                            <a:srgbClr val="94A3B8"/>
                          </a:solidFill>
                          <a:latin typeface="Segoe UI" pitchFamily="34" charset="0"/>
                          <a:ea typeface="Segoe UI" pitchFamily="34" charset="-122"/>
                          <a:cs typeface="Segoe UI" pitchFamily="34" charset="-120"/>
                        </a:rPr>
                        <a:t>High (GPU cluster training &amp; data preparation)</a:t>
                      </a:r>
                      <a:endParaRPr lang="en-US" sz="900" dirty="0">
                        <a:latin typeface="Segoe UI" charset="0"/>
                        <a:ea typeface="Segoe UI" charset="0"/>
                        <a:cs typeface="Segoe UI" charset="0"/>
                      </a:endParaRPr>
                    </a:p>
                  </a:txBody>
                  <a:tcPr marL="91440" marR="91440" marT="45720" marB="45720">
                    <a:lnL w="12700" cap="flat" cmpd="sng" algn="ctr">
                      <a:solidFill>
                        <a:srgbClr val="24324F"/>
                      </a:solidFill>
                      <a:prstDash val="solid"/>
                      <a:round/>
                      <a:headEnd type="none" w="med" len="med"/>
                      <a:tailEnd type="none" w="med" len="med"/>
                    </a:lnL>
                    <a:lnR w="12700" cap="flat" cmpd="sng" algn="ctr">
                      <a:solidFill>
                        <a:srgbClr val="24324F"/>
                      </a:solidFill>
                      <a:prstDash val="solid"/>
                      <a:round/>
                      <a:headEnd type="none" w="med" len="med"/>
                      <a:tailEnd type="none" w="med" len="med"/>
                    </a:lnR>
                    <a:lnT w="12700" cap="flat" cmpd="sng" algn="ctr">
                      <a:solidFill>
                        <a:srgbClr val="24324F"/>
                      </a:solidFill>
                      <a:prstDash val="solid"/>
                      <a:round/>
                      <a:headEnd type="none" w="med" len="med"/>
                      <a:tailEnd type="none" w="med" len="med"/>
                    </a:lnT>
                    <a:lnB w="12700" cap="flat" cmpd="sng" algn="ctr">
                      <a:solidFill>
                        <a:srgbClr val="24324F"/>
                      </a:solidFill>
                      <a:prstDash val="solid"/>
                      <a:round/>
                      <a:headEnd type="none" w="med" len="med"/>
                      <a:tailEnd type="none" w="med" len="med"/>
                    </a:lnB>
                    <a:solidFill>
                      <a:srgbClr val="141C2F"/>
                    </a:solidFill>
                  </a:tcPr>
                </a:tc>
              </a:tr>
              <a:tr h="350520">
                <a:tc>
                  <a:txBody>
                    <a:bodyPr/>
                    <a:lstStyle/>
                    <a:p>
                      <a:pPr indent="0" marL="0">
                        <a:buNone/>
                      </a:pPr>
                      <a:r>
                        <a:rPr lang="en-US" sz="900" b="1" dirty="0">
                          <a:solidFill>
                            <a:srgbClr val="FFFFFF"/>
                          </a:solidFill>
                          <a:latin typeface="Segoe UI" pitchFamily="34" charset="0"/>
                          <a:ea typeface="Segoe UI" pitchFamily="34" charset="-122"/>
                          <a:cs typeface="Segoe UI" pitchFamily="34" charset="-120"/>
                        </a:rPr>
                        <a:t>Access Control (RBAC)</a:t>
                      </a:r>
                      <a:endParaRPr lang="en-US" sz="900" dirty="0">
                        <a:latin typeface="Segoe UI" charset="0"/>
                        <a:ea typeface="Segoe UI" charset="0"/>
                        <a:cs typeface="Segoe UI" charset="0"/>
                      </a:endParaRPr>
                    </a:p>
                  </a:txBody>
                  <a:tcPr marL="91440" marR="91440" marT="45720" marB="45720">
                    <a:lnL w="12700" cap="flat" cmpd="sng" algn="ctr">
                      <a:solidFill>
                        <a:srgbClr val="24324F"/>
                      </a:solidFill>
                      <a:prstDash val="solid"/>
                      <a:round/>
                      <a:headEnd type="none" w="med" len="med"/>
                      <a:tailEnd type="none" w="med" len="med"/>
                    </a:lnL>
                    <a:lnR w="12700" cap="flat" cmpd="sng" algn="ctr">
                      <a:solidFill>
                        <a:srgbClr val="24324F"/>
                      </a:solidFill>
                      <a:prstDash val="solid"/>
                      <a:round/>
                      <a:headEnd type="none" w="med" len="med"/>
                      <a:tailEnd type="none" w="med" len="med"/>
                    </a:lnR>
                    <a:lnT w="12700" cap="flat" cmpd="sng" algn="ctr">
                      <a:solidFill>
                        <a:srgbClr val="24324F"/>
                      </a:solidFill>
                      <a:prstDash val="solid"/>
                      <a:round/>
                      <a:headEnd type="none" w="med" len="med"/>
                      <a:tailEnd type="none" w="med" len="med"/>
                    </a:lnT>
                    <a:lnB w="12700" cap="flat" cmpd="sng" algn="ctr">
                      <a:solidFill>
                        <a:srgbClr val="24324F"/>
                      </a:solidFill>
                      <a:prstDash val="solid"/>
                      <a:round/>
                      <a:headEnd type="none" w="med" len="med"/>
                      <a:tailEnd type="none" w="med" len="med"/>
                    </a:lnB>
                    <a:solidFill>
                      <a:srgbClr val="141C2F"/>
                    </a:solidFill>
                  </a:tcPr>
                </a:tc>
                <a:tc>
                  <a:txBody>
                    <a:bodyPr/>
                    <a:lstStyle/>
                    <a:p>
                      <a:pPr indent="0" marL="0">
                        <a:buNone/>
                      </a:pPr>
                      <a:r>
                        <a:rPr lang="en-US" sz="900" b="1" dirty="0">
                          <a:solidFill>
                            <a:srgbClr val="10B981"/>
                          </a:solidFill>
                          <a:latin typeface="Segoe UI" pitchFamily="34" charset="0"/>
                          <a:ea typeface="Segoe UI" pitchFamily="34" charset="-122"/>
                          <a:cs typeface="Segoe UI" pitchFamily="34" charset="-120"/>
                        </a:rPr>
                        <a:t>Native (filter metadata by user role / permissions)</a:t>
                      </a:r>
                      <a:endParaRPr lang="en-US" sz="900" dirty="0">
                        <a:latin typeface="Segoe UI" charset="0"/>
                        <a:ea typeface="Segoe UI" charset="0"/>
                        <a:cs typeface="Segoe UI" charset="0"/>
                      </a:endParaRPr>
                    </a:p>
                  </a:txBody>
                  <a:tcPr marL="91440" marR="91440" marT="45720" marB="45720">
                    <a:lnL w="12700" cap="flat" cmpd="sng" algn="ctr">
                      <a:solidFill>
                        <a:srgbClr val="24324F"/>
                      </a:solidFill>
                      <a:prstDash val="solid"/>
                      <a:round/>
                      <a:headEnd type="none" w="med" len="med"/>
                      <a:tailEnd type="none" w="med" len="med"/>
                    </a:lnL>
                    <a:lnR w="12700" cap="flat" cmpd="sng" algn="ctr">
                      <a:solidFill>
                        <a:srgbClr val="24324F"/>
                      </a:solidFill>
                      <a:prstDash val="solid"/>
                      <a:round/>
                      <a:headEnd type="none" w="med" len="med"/>
                      <a:tailEnd type="none" w="med" len="med"/>
                    </a:lnR>
                    <a:lnT w="12700" cap="flat" cmpd="sng" algn="ctr">
                      <a:solidFill>
                        <a:srgbClr val="24324F"/>
                      </a:solidFill>
                      <a:prstDash val="solid"/>
                      <a:round/>
                      <a:headEnd type="none" w="med" len="med"/>
                      <a:tailEnd type="none" w="med" len="med"/>
                    </a:lnT>
                    <a:lnB w="12700" cap="flat" cmpd="sng" algn="ctr">
                      <a:solidFill>
                        <a:srgbClr val="24324F"/>
                      </a:solidFill>
                      <a:prstDash val="solid"/>
                      <a:round/>
                      <a:headEnd type="none" w="med" len="med"/>
                      <a:tailEnd type="none" w="med" len="med"/>
                    </a:lnB>
                    <a:solidFill>
                      <a:srgbClr val="141C2F"/>
                    </a:solidFill>
                  </a:tcPr>
                </a:tc>
                <a:tc>
                  <a:txBody>
                    <a:bodyPr/>
                    <a:lstStyle/>
                    <a:p>
                      <a:pPr indent="0" marL="0">
                        <a:buNone/>
                      </a:pPr>
                      <a:r>
                        <a:rPr lang="en-US" sz="900" dirty="0">
                          <a:solidFill>
                            <a:srgbClr val="EF4444"/>
                          </a:solidFill>
                          <a:latin typeface="Segoe UI" pitchFamily="34" charset="0"/>
                          <a:ea typeface="Segoe UI" pitchFamily="34" charset="-122"/>
                          <a:cs typeface="Segoe UI" pitchFamily="34" charset="-120"/>
                        </a:rPr>
                        <a:t>Impossible (all data baked into model weights)</a:t>
                      </a:r>
                      <a:endParaRPr lang="en-US" sz="900" dirty="0">
                        <a:latin typeface="Segoe UI" charset="0"/>
                        <a:ea typeface="Segoe UI" charset="0"/>
                        <a:cs typeface="Segoe UI" charset="0"/>
                      </a:endParaRPr>
                    </a:p>
                  </a:txBody>
                  <a:tcPr marL="91440" marR="91440" marT="45720" marB="45720">
                    <a:lnL w="12700" cap="flat" cmpd="sng" algn="ctr">
                      <a:solidFill>
                        <a:srgbClr val="24324F"/>
                      </a:solidFill>
                      <a:prstDash val="solid"/>
                      <a:round/>
                      <a:headEnd type="none" w="med" len="med"/>
                      <a:tailEnd type="none" w="med" len="med"/>
                    </a:lnL>
                    <a:lnR w="12700" cap="flat" cmpd="sng" algn="ctr">
                      <a:solidFill>
                        <a:srgbClr val="24324F"/>
                      </a:solidFill>
                      <a:prstDash val="solid"/>
                      <a:round/>
                      <a:headEnd type="none" w="med" len="med"/>
                      <a:tailEnd type="none" w="med" len="med"/>
                    </a:lnR>
                    <a:lnT w="12700" cap="flat" cmpd="sng" algn="ctr">
                      <a:solidFill>
                        <a:srgbClr val="24324F"/>
                      </a:solidFill>
                      <a:prstDash val="solid"/>
                      <a:round/>
                      <a:headEnd type="none" w="med" len="med"/>
                      <a:tailEnd type="none" w="med" len="med"/>
                    </a:lnT>
                    <a:lnB w="12700" cap="flat" cmpd="sng" algn="ctr">
                      <a:solidFill>
                        <a:srgbClr val="24324F"/>
                      </a:solidFill>
                      <a:prstDash val="solid"/>
                      <a:round/>
                      <a:headEnd type="none" w="med" len="med"/>
                      <a:tailEnd type="none" w="med" len="med"/>
                    </a:lnB>
                    <a:solidFill>
                      <a:srgbClr val="141C2F"/>
                    </a:solidFill>
                  </a:tcPr>
                </a:tc>
              </a:tr>
            </a:tbl>
          </a:graphicData>
        </a:graphic>
      </p:graphicFrame>
      <p:sp>
        <p:nvSpPr>
          <p:cNvPr id="9" name="Shape 6"/>
          <p:cNvSpPr/>
          <p:nvPr/>
        </p:nvSpPr>
        <p:spPr>
          <a:xfrm>
            <a:off x="731520" y="3886200"/>
            <a:ext cx="7680960" cy="731520"/>
          </a:xfrm>
          <a:prstGeom prst="roundRect">
            <a:avLst>
              <a:gd name="adj" fmla="val 12500"/>
            </a:avLst>
          </a:prstGeom>
          <a:solidFill>
            <a:srgbClr val="131E35"/>
          </a:solidFill>
          <a:ln w="15240">
            <a:solidFill>
              <a:srgbClr val="00D2FF"/>
            </a:solidFill>
            <a:prstDash val="solid"/>
          </a:ln>
        </p:spPr>
      </p:sp>
      <p:sp>
        <p:nvSpPr>
          <p:cNvPr id="10" name="Text 7"/>
          <p:cNvSpPr/>
          <p:nvPr/>
        </p:nvSpPr>
        <p:spPr>
          <a:xfrm>
            <a:off x="914400" y="3950208"/>
            <a:ext cx="7315200" cy="201168"/>
          </a:xfrm>
          <a:prstGeom prst="rect">
            <a:avLst/>
          </a:prstGeom>
          <a:noFill/>
          <a:ln/>
        </p:spPr>
        <p:txBody>
          <a:bodyPr wrap="square" rtlCol="0" anchor="ctr"/>
          <a:lstStyle/>
          <a:p>
            <a:pPr indent="0" marL="0">
              <a:buNone/>
            </a:pPr>
            <a:r>
              <a:rPr lang="en-US" sz="950" b="1" dirty="0">
                <a:solidFill>
                  <a:srgbClr val="00D2FF"/>
                </a:solidFill>
                <a:latin typeface="Segoe UI" pitchFamily="34" charset="0"/>
                <a:ea typeface="Segoe UI" pitchFamily="34" charset="-122"/>
                <a:cs typeface="Segoe UI" pitchFamily="34" charset="-120"/>
              </a:rPr>
              <a:t>THE GOLDEN ARCHITECTURE RULE:</a:t>
            </a:r>
            <a:endParaRPr lang="en-US" sz="950" dirty="0"/>
          </a:p>
        </p:txBody>
      </p:sp>
      <p:sp>
        <p:nvSpPr>
          <p:cNvPr id="11" name="Text 8"/>
          <p:cNvSpPr/>
          <p:nvPr/>
        </p:nvSpPr>
        <p:spPr>
          <a:xfrm>
            <a:off x="914400" y="4151376"/>
            <a:ext cx="7315200" cy="411480"/>
          </a:xfrm>
          <a:prstGeom prst="rect">
            <a:avLst/>
          </a:prstGeom>
          <a:noFill/>
          <a:ln/>
        </p:spPr>
        <p:txBody>
          <a:bodyPr wrap="square" rtlCol="0" anchor="ctr"/>
          <a:lstStyle/>
          <a:p>
            <a:pPr indent="0" marL="0">
              <a:buNone/>
            </a:pPr>
            <a:r>
              <a:rPr lang="en-US" sz="900" dirty="0">
                <a:solidFill>
                  <a:srgbClr val="FFFFFF"/>
                </a:solidFill>
                <a:latin typeface="Segoe UI" pitchFamily="34" charset="0"/>
                <a:ea typeface="Segoe UI" pitchFamily="34" charset="-122"/>
                <a:cs typeface="Segoe UI" pitchFamily="34" charset="-120"/>
              </a:rPr>
              <a:t>Use RAG for factual knowledge and real-time updates. Use Fine-Tuning to teach domain-specific dialect, JSON schemas, or persona. In enterprise production, combine both: fine-tune a model to excel at RAG synthesis!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F1D"/>
        </a:solidFill>
      </p:bgPr>
    </p:bg>
    <p:spTree>
      <p:nvGrpSpPr>
        <p:cNvPr id="1" name=""/>
        <p:cNvGrpSpPr/>
        <p:nvPr/>
      </p:nvGrpSpPr>
      <p:grpSpPr>
        <a:xfrm>
          <a:off x="0" y="0"/>
          <a:ext cx="0" cy="0"/>
          <a:chOff x="0" y="0"/>
          <a:chExt cx="0" cy="0"/>
        </a:xfrm>
      </p:grpSpPr>
      <p:sp>
        <p:nvSpPr>
          <p:cNvPr id="2" name="Shape 0"/>
          <p:cNvSpPr/>
          <p:nvPr/>
        </p:nvSpPr>
        <p:spPr>
          <a:xfrm>
            <a:off x="731520" y="347472"/>
            <a:ext cx="2029968" cy="256032"/>
          </a:xfrm>
          <a:prstGeom prst="roundRect">
            <a:avLst>
              <a:gd name="adj" fmla="val 35714"/>
            </a:avLst>
          </a:prstGeom>
          <a:solidFill>
            <a:srgbClr val="1E293B"/>
          </a:solidFill>
          <a:ln w="12700">
            <a:solidFill>
              <a:srgbClr val="00D2FF"/>
            </a:solidFill>
            <a:prstDash val="solid"/>
          </a:ln>
        </p:spPr>
      </p:sp>
      <p:sp>
        <p:nvSpPr>
          <p:cNvPr id="3" name="Text 1"/>
          <p:cNvSpPr/>
          <p:nvPr/>
        </p:nvSpPr>
        <p:spPr>
          <a:xfrm>
            <a:off x="731520" y="347472"/>
            <a:ext cx="2029968" cy="256032"/>
          </a:xfrm>
          <a:prstGeom prst="rect">
            <a:avLst/>
          </a:prstGeom>
          <a:noFill/>
          <a:ln/>
        </p:spPr>
        <p:txBody>
          <a:bodyPr wrap="square" rtlCol="0" anchor="ctr"/>
          <a:lstStyle/>
          <a:p>
            <a:pPr algn="ctr" indent="0" marL="0">
              <a:buNone/>
            </a:pPr>
            <a:r>
              <a:rPr lang="en-US" sz="900" b="1" dirty="0">
                <a:solidFill>
                  <a:srgbClr val="00D2FF"/>
                </a:solidFill>
                <a:latin typeface="Segoe UI" pitchFamily="34" charset="0"/>
                <a:ea typeface="Segoe UI" pitchFamily="34" charset="-122"/>
                <a:cs typeface="Segoe UI" pitchFamily="34" charset="-120"/>
              </a:rPr>
              <a:t>ARCHITECTURAL MATURITY</a:t>
            </a:r>
            <a:endParaRPr lang="en-US" sz="900" dirty="0"/>
          </a:p>
        </p:txBody>
      </p:sp>
      <p:sp>
        <p:nvSpPr>
          <p:cNvPr id="4" name="Text 2"/>
          <p:cNvSpPr/>
          <p:nvPr/>
        </p:nvSpPr>
        <p:spPr>
          <a:xfrm>
            <a:off x="731520" y="658368"/>
            <a:ext cx="7680960" cy="502920"/>
          </a:xfrm>
          <a:prstGeom prst="rect">
            <a:avLst/>
          </a:prstGeom>
          <a:noFill/>
          <a:ln/>
        </p:spPr>
        <p:txBody>
          <a:bodyPr wrap="square" rtlCol="0" anchor="t"/>
          <a:lstStyle/>
          <a:p>
            <a:pPr indent="0" marL="0">
              <a:buNone/>
            </a:pPr>
            <a:r>
              <a:rPr lang="en-US" sz="2200" b="1" dirty="0">
                <a:solidFill>
                  <a:srgbClr val="FFFFFF"/>
                </a:solidFill>
                <a:latin typeface="Segoe UI" pitchFamily="34" charset="0"/>
                <a:ea typeface="Segoe UI" pitchFamily="34" charset="-122"/>
                <a:cs typeface="Segoe UI" pitchFamily="34" charset="-120"/>
              </a:rPr>
              <a:t>The Evolution: Naive RAG to Agentic RAG</a:t>
            </a:r>
            <a:endParaRPr lang="en-US" sz="2200" dirty="0"/>
          </a:p>
        </p:txBody>
      </p:sp>
      <p:sp>
        <p:nvSpPr>
          <p:cNvPr id="5" name="Text 3"/>
          <p:cNvSpPr/>
          <p:nvPr/>
        </p:nvSpPr>
        <p:spPr>
          <a:xfrm>
            <a:off x="731520" y="1143000"/>
            <a:ext cx="7680960" cy="292608"/>
          </a:xfrm>
          <a:prstGeom prst="rect">
            <a:avLst/>
          </a:prstGeom>
          <a:noFill/>
          <a:ln/>
        </p:spPr>
        <p:txBody>
          <a:bodyPr wrap="square" rtlCol="0" anchor="t"/>
          <a:lstStyle/>
          <a:p>
            <a:pPr indent="0" marL="0">
              <a:buNone/>
            </a:pPr>
            <a:r>
              <a:rPr lang="en-US" sz="1200" dirty="0">
                <a:solidFill>
                  <a:srgbClr val="94A3B8"/>
                </a:solidFill>
                <a:latin typeface="Segoe UI" pitchFamily="34" charset="0"/>
                <a:ea typeface="Segoe UI" pitchFamily="34" charset="-122"/>
                <a:cs typeface="Segoe UI" pitchFamily="34" charset="-120"/>
              </a:rPr>
              <a:t>From basic prompt injection to autonomous, self-correcting multi-step research systems.</a:t>
            </a:r>
            <a:endParaRPr lang="en-US" sz="1200" dirty="0"/>
          </a:p>
        </p:txBody>
      </p:sp>
      <p:sp>
        <p:nvSpPr>
          <p:cNvPr id="6" name="Shape 4"/>
          <p:cNvSpPr/>
          <p:nvPr/>
        </p:nvSpPr>
        <p:spPr>
          <a:xfrm>
            <a:off x="731520" y="4754880"/>
            <a:ext cx="7680960" cy="0"/>
          </a:xfrm>
          <a:prstGeom prst="line">
            <a:avLst/>
          </a:prstGeom>
          <a:noFill/>
          <a:ln w="12700">
            <a:solidFill>
              <a:srgbClr val="1E293B"/>
            </a:solidFill>
            <a:prstDash val="solid"/>
          </a:ln>
        </p:spPr>
      </p:sp>
      <p:sp>
        <p:nvSpPr>
          <p:cNvPr id="7" name="Text 5"/>
          <p:cNvSpPr/>
          <p:nvPr/>
        </p:nvSpPr>
        <p:spPr>
          <a:xfrm>
            <a:off x="731520" y="4800600"/>
            <a:ext cx="5486400" cy="22860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Retrieval-Augmented Generation (RAG) | Enterprise AI Architecture</a:t>
            </a:r>
            <a:endParaRPr lang="en-US" sz="900" dirty="0"/>
          </a:p>
        </p:txBody>
      </p:sp>
      <p:sp>
        <p:nvSpPr>
          <p:cNvPr id="8" name="Shape 6"/>
          <p:cNvSpPr/>
          <p:nvPr/>
        </p:nvSpPr>
        <p:spPr>
          <a:xfrm>
            <a:off x="731520" y="1554480"/>
            <a:ext cx="2423160" cy="2971800"/>
          </a:xfrm>
          <a:prstGeom prst="roundRect">
            <a:avLst>
              <a:gd name="adj" fmla="val 4528"/>
            </a:avLst>
          </a:prstGeom>
          <a:solidFill>
            <a:srgbClr val="141C2F"/>
          </a:solidFill>
          <a:ln w="15240">
            <a:solidFill>
              <a:srgbClr val="24324F"/>
            </a:solidFill>
            <a:prstDash val="solid"/>
          </a:ln>
        </p:spPr>
      </p:sp>
      <p:sp>
        <p:nvSpPr>
          <p:cNvPr id="9" name="Text 7"/>
          <p:cNvSpPr/>
          <p:nvPr/>
        </p:nvSpPr>
        <p:spPr>
          <a:xfrm>
            <a:off x="914400" y="1691640"/>
            <a:ext cx="2057400" cy="228600"/>
          </a:xfrm>
          <a:prstGeom prst="rect">
            <a:avLst/>
          </a:prstGeom>
          <a:noFill/>
          <a:ln/>
        </p:spPr>
        <p:txBody>
          <a:bodyPr wrap="square" rtlCol="0" anchor="ctr"/>
          <a:lstStyle/>
          <a:p>
            <a:pPr indent="0" marL="0">
              <a:buNone/>
            </a:pPr>
            <a:r>
              <a:rPr lang="en-US" sz="1000" b="1" dirty="0">
                <a:solidFill>
                  <a:srgbClr val="F59E0B"/>
                </a:solidFill>
                <a:latin typeface="Segoe UI" pitchFamily="34" charset="0"/>
                <a:ea typeface="Segoe UI" pitchFamily="34" charset="-122"/>
                <a:cs typeface="Segoe UI" pitchFamily="34" charset="-120"/>
              </a:rPr>
              <a:t>LEVEL 1: NAIVE RAG</a:t>
            </a:r>
            <a:endParaRPr lang="en-US" sz="1000" dirty="0"/>
          </a:p>
        </p:txBody>
      </p:sp>
      <p:sp>
        <p:nvSpPr>
          <p:cNvPr id="10" name="Text 8"/>
          <p:cNvSpPr/>
          <p:nvPr/>
        </p:nvSpPr>
        <p:spPr>
          <a:xfrm>
            <a:off x="914400" y="1920240"/>
            <a:ext cx="2057400" cy="228600"/>
          </a:xfrm>
          <a:prstGeom prst="rect">
            <a:avLst/>
          </a:prstGeom>
          <a:noFill/>
          <a:ln/>
        </p:spPr>
        <p:txBody>
          <a:bodyPr wrap="square" rtlCol="0" anchor="ctr"/>
          <a:lstStyle/>
          <a:p>
            <a:pPr indent="0" marL="0">
              <a:buNone/>
            </a:pPr>
            <a:r>
              <a:rPr lang="en-US" sz="850" i="1" dirty="0">
                <a:solidFill>
                  <a:srgbClr val="64748B"/>
                </a:solidFill>
                <a:latin typeface="Segoe UI" pitchFamily="34" charset="0"/>
                <a:ea typeface="Segoe UI" pitchFamily="34" charset="-122"/>
                <a:cs typeface="Segoe UI" pitchFamily="34" charset="-120"/>
              </a:rPr>
              <a:t>Single-Pass Vector Lookup</a:t>
            </a:r>
            <a:endParaRPr lang="en-US" sz="850" dirty="0"/>
          </a:p>
        </p:txBody>
      </p:sp>
      <p:sp>
        <p:nvSpPr>
          <p:cNvPr id="11" name="Shape 9"/>
          <p:cNvSpPr/>
          <p:nvPr/>
        </p:nvSpPr>
        <p:spPr>
          <a:xfrm>
            <a:off x="914400" y="2194560"/>
            <a:ext cx="2057400" cy="0"/>
          </a:xfrm>
          <a:prstGeom prst="line">
            <a:avLst/>
          </a:prstGeom>
          <a:noFill/>
          <a:ln w="12700">
            <a:solidFill>
              <a:srgbClr val="24324F"/>
            </a:solidFill>
            <a:prstDash val="solid"/>
          </a:ln>
        </p:spPr>
      </p:sp>
      <p:sp>
        <p:nvSpPr>
          <p:cNvPr id="12" name="Text 10"/>
          <p:cNvSpPr/>
          <p:nvPr/>
        </p:nvSpPr>
        <p:spPr>
          <a:xfrm>
            <a:off x="914400" y="2286000"/>
            <a:ext cx="2057400" cy="21031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 Query -&gt; Vector Search -&gt; Stuff Prompt -&gt; Answer
</a:t>
            </a:r>
            <a:pPr indent="0" marL="0">
              <a:buNone/>
            </a:pPr>
            <a:r>
              <a:rPr lang="en-US" sz="850" dirty="0">
                <a:solidFill>
                  <a:srgbClr val="94A3B8"/>
                </a:solidFill>
                <a:latin typeface="Segoe UI" pitchFamily="34" charset="0"/>
                <a:ea typeface="Segoe UI" pitchFamily="34" charset="-122"/>
                <a:cs typeface="Segoe UI" pitchFamily="34" charset="-120"/>
              </a:rPr>
              <a:t>• High hallucination if search results are poor
</a:t>
            </a:r>
            <a:pPr indent="0" marL="0">
              <a:buNone/>
            </a:pPr>
            <a:r>
              <a:rPr lang="en-US" sz="850" dirty="0">
                <a:solidFill>
                  <a:srgbClr val="94A3B8"/>
                </a:solidFill>
                <a:latin typeface="Segoe UI" pitchFamily="34" charset="0"/>
                <a:ea typeface="Segoe UI" pitchFamily="34" charset="-122"/>
                <a:cs typeface="Segoe UI" pitchFamily="34" charset="-120"/>
              </a:rPr>
              <a:t>• No mechanism to verify if context is relevant
</a:t>
            </a:r>
            <a:pPr indent="0" marL="0">
              <a:buNone/>
            </a:pPr>
            <a:r>
              <a:rPr lang="en-US" sz="850" dirty="0">
                <a:solidFill>
                  <a:srgbClr val="94A3B8"/>
                </a:solidFill>
                <a:latin typeface="Segoe UI" pitchFamily="34" charset="0"/>
                <a:ea typeface="Segoe UI" pitchFamily="34" charset="-122"/>
                <a:cs typeface="Segoe UI" pitchFamily="34" charset="-120"/>
              </a:rPr>
              <a:t>• Struggles with multi-part or comparative questions
</a:t>
            </a:r>
            <a:pPr indent="0" marL="0">
              <a:buNone/>
            </a:pPr>
            <a:r>
              <a:rPr lang="en-US" sz="850" dirty="0">
                <a:solidFill>
                  <a:srgbClr val="94A3B8"/>
                </a:solidFill>
                <a:latin typeface="Segoe UI" pitchFamily="34" charset="0"/>
                <a:ea typeface="Segoe UI" pitchFamily="34" charset="-122"/>
                <a:cs typeface="Segoe UI" pitchFamily="34" charset="-120"/>
              </a:rPr>
              <a:t>• Prone to noise and "lost in the middle" errors
</a:t>
            </a:r>
            <a:endParaRPr lang="en-US" sz="850" dirty="0"/>
          </a:p>
        </p:txBody>
      </p:sp>
      <p:sp>
        <p:nvSpPr>
          <p:cNvPr id="13" name="Shape 11"/>
          <p:cNvSpPr/>
          <p:nvPr/>
        </p:nvSpPr>
        <p:spPr>
          <a:xfrm>
            <a:off x="3364992" y="1554480"/>
            <a:ext cx="2423160" cy="2971800"/>
          </a:xfrm>
          <a:prstGeom prst="roundRect">
            <a:avLst>
              <a:gd name="adj" fmla="val 4528"/>
            </a:avLst>
          </a:prstGeom>
          <a:solidFill>
            <a:srgbClr val="141C2F"/>
          </a:solidFill>
          <a:ln w="15240">
            <a:solidFill>
              <a:srgbClr val="24324F"/>
            </a:solidFill>
            <a:prstDash val="solid"/>
          </a:ln>
        </p:spPr>
      </p:sp>
      <p:sp>
        <p:nvSpPr>
          <p:cNvPr id="14" name="Text 12"/>
          <p:cNvSpPr/>
          <p:nvPr/>
        </p:nvSpPr>
        <p:spPr>
          <a:xfrm>
            <a:off x="3547872" y="1691640"/>
            <a:ext cx="2057400" cy="228600"/>
          </a:xfrm>
          <a:prstGeom prst="rect">
            <a:avLst/>
          </a:prstGeom>
          <a:noFill/>
          <a:ln/>
        </p:spPr>
        <p:txBody>
          <a:bodyPr wrap="square" rtlCol="0" anchor="ctr"/>
          <a:lstStyle/>
          <a:p>
            <a:pPr indent="0" marL="0">
              <a:buNone/>
            </a:pPr>
            <a:r>
              <a:rPr lang="en-US" sz="1000" b="1" dirty="0">
                <a:solidFill>
                  <a:srgbClr val="00D2FF"/>
                </a:solidFill>
                <a:latin typeface="Segoe UI" pitchFamily="34" charset="0"/>
                <a:ea typeface="Segoe UI" pitchFamily="34" charset="-122"/>
                <a:cs typeface="Segoe UI" pitchFamily="34" charset="-120"/>
              </a:rPr>
              <a:t>LEVEL 2: ADVANCED RAG</a:t>
            </a:r>
            <a:endParaRPr lang="en-US" sz="1000" dirty="0"/>
          </a:p>
        </p:txBody>
      </p:sp>
      <p:sp>
        <p:nvSpPr>
          <p:cNvPr id="15" name="Text 13"/>
          <p:cNvSpPr/>
          <p:nvPr/>
        </p:nvSpPr>
        <p:spPr>
          <a:xfrm>
            <a:off x="3547872" y="1920240"/>
            <a:ext cx="2057400" cy="228600"/>
          </a:xfrm>
          <a:prstGeom prst="rect">
            <a:avLst/>
          </a:prstGeom>
          <a:noFill/>
          <a:ln/>
        </p:spPr>
        <p:txBody>
          <a:bodyPr wrap="square" rtlCol="0" anchor="ctr"/>
          <a:lstStyle/>
          <a:p>
            <a:pPr indent="0" marL="0">
              <a:buNone/>
            </a:pPr>
            <a:r>
              <a:rPr lang="en-US" sz="850" i="1" dirty="0">
                <a:solidFill>
                  <a:srgbClr val="64748B"/>
                </a:solidFill>
                <a:latin typeface="Segoe UI" pitchFamily="34" charset="0"/>
                <a:ea typeface="Segoe UI" pitchFamily="34" charset="-122"/>
                <a:cs typeface="Segoe UI" pitchFamily="34" charset="-120"/>
              </a:rPr>
              <a:t>Pre- &amp; Post-Retrieval Pipeline</a:t>
            </a:r>
            <a:endParaRPr lang="en-US" sz="850" dirty="0"/>
          </a:p>
        </p:txBody>
      </p:sp>
      <p:sp>
        <p:nvSpPr>
          <p:cNvPr id="16" name="Shape 14"/>
          <p:cNvSpPr/>
          <p:nvPr/>
        </p:nvSpPr>
        <p:spPr>
          <a:xfrm>
            <a:off x="3547872" y="2194560"/>
            <a:ext cx="2057400" cy="0"/>
          </a:xfrm>
          <a:prstGeom prst="line">
            <a:avLst/>
          </a:prstGeom>
          <a:noFill/>
          <a:ln w="12700">
            <a:solidFill>
              <a:srgbClr val="24324F"/>
            </a:solidFill>
            <a:prstDash val="solid"/>
          </a:ln>
        </p:spPr>
      </p:sp>
      <p:sp>
        <p:nvSpPr>
          <p:cNvPr id="17" name="Text 15"/>
          <p:cNvSpPr/>
          <p:nvPr/>
        </p:nvSpPr>
        <p:spPr>
          <a:xfrm>
            <a:off x="3547872" y="2286000"/>
            <a:ext cx="2057400" cy="21031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 Pre-retrieval: Query rewriting &amp; expansion
</a:t>
            </a:r>
            <a:pPr indent="0" marL="0">
              <a:buNone/>
            </a:pPr>
            <a:r>
              <a:rPr lang="en-US" sz="850" dirty="0">
                <a:solidFill>
                  <a:srgbClr val="94A3B8"/>
                </a:solidFill>
                <a:latin typeface="Segoe UI" pitchFamily="34" charset="0"/>
                <a:ea typeface="Segoe UI" pitchFamily="34" charset="-122"/>
                <a:cs typeface="Segoe UI" pitchFamily="34" charset="-120"/>
              </a:rPr>
              <a:t>• Hybrid Search (Dense + BM25 keyword matching)
</a:t>
            </a:r>
            <a:pPr indent="0" marL="0">
              <a:buNone/>
            </a:pPr>
            <a:r>
              <a:rPr lang="en-US" sz="850" dirty="0">
                <a:solidFill>
                  <a:srgbClr val="94A3B8"/>
                </a:solidFill>
                <a:latin typeface="Segoe UI" pitchFamily="34" charset="0"/>
                <a:ea typeface="Segoe UI" pitchFamily="34" charset="-122"/>
                <a:cs typeface="Segoe UI" pitchFamily="34" charset="-120"/>
              </a:rPr>
              <a:t>• Post-retrieval: Cross-Encoder re-ranking &amp; filtering
</a:t>
            </a:r>
            <a:pPr indent="0" marL="0">
              <a:buNone/>
            </a:pPr>
            <a:r>
              <a:rPr lang="en-US" sz="850" dirty="0">
                <a:solidFill>
                  <a:srgbClr val="94A3B8"/>
                </a:solidFill>
                <a:latin typeface="Segoe UI" pitchFamily="34" charset="0"/>
                <a:ea typeface="Segoe UI" pitchFamily="34" charset="-122"/>
                <a:cs typeface="Segoe UI" pitchFamily="34" charset="-120"/>
              </a:rPr>
              <a:t>• Contextual compression to eliminate fluff tokens
</a:t>
            </a:r>
            <a:pPr indent="0" marL="0">
              <a:buNone/>
            </a:pPr>
            <a:r>
              <a:rPr lang="en-US" sz="850" dirty="0">
                <a:solidFill>
                  <a:srgbClr val="94A3B8"/>
                </a:solidFill>
                <a:latin typeface="Segoe UI" pitchFamily="34" charset="0"/>
                <a:ea typeface="Segoe UI" pitchFamily="34" charset="-122"/>
                <a:cs typeface="Segoe UI" pitchFamily="34" charset="-120"/>
              </a:rPr>
              <a:t>• Metadata filtering by tenant and permission level
</a:t>
            </a:r>
            <a:endParaRPr lang="en-US" sz="850" dirty="0"/>
          </a:p>
        </p:txBody>
      </p:sp>
      <p:sp>
        <p:nvSpPr>
          <p:cNvPr id="18" name="Shape 16"/>
          <p:cNvSpPr/>
          <p:nvPr/>
        </p:nvSpPr>
        <p:spPr>
          <a:xfrm>
            <a:off x="5998464" y="1554480"/>
            <a:ext cx="2423160" cy="2971800"/>
          </a:xfrm>
          <a:prstGeom prst="roundRect">
            <a:avLst>
              <a:gd name="adj" fmla="val 4528"/>
            </a:avLst>
          </a:prstGeom>
          <a:solidFill>
            <a:srgbClr val="141C2F"/>
          </a:solidFill>
          <a:ln w="15240">
            <a:solidFill>
              <a:srgbClr val="24324F"/>
            </a:solidFill>
            <a:prstDash val="solid"/>
          </a:ln>
        </p:spPr>
      </p:sp>
      <p:sp>
        <p:nvSpPr>
          <p:cNvPr id="19" name="Text 17"/>
          <p:cNvSpPr/>
          <p:nvPr/>
        </p:nvSpPr>
        <p:spPr>
          <a:xfrm>
            <a:off x="6181344" y="1691640"/>
            <a:ext cx="2057400" cy="228600"/>
          </a:xfrm>
          <a:prstGeom prst="rect">
            <a:avLst/>
          </a:prstGeom>
          <a:noFill/>
          <a:ln/>
        </p:spPr>
        <p:txBody>
          <a:bodyPr wrap="square" rtlCol="0" anchor="ctr"/>
          <a:lstStyle/>
          <a:p>
            <a:pPr indent="0" marL="0">
              <a:buNone/>
            </a:pPr>
            <a:r>
              <a:rPr lang="en-US" sz="1000" b="1" dirty="0">
                <a:solidFill>
                  <a:srgbClr val="10B981"/>
                </a:solidFill>
                <a:latin typeface="Segoe UI" pitchFamily="34" charset="0"/>
                <a:ea typeface="Segoe UI" pitchFamily="34" charset="-122"/>
                <a:cs typeface="Segoe UI" pitchFamily="34" charset="-120"/>
              </a:rPr>
              <a:t>LEVEL 3: AGENTIC / SELF-RAG</a:t>
            </a:r>
            <a:endParaRPr lang="en-US" sz="1000" dirty="0"/>
          </a:p>
        </p:txBody>
      </p:sp>
      <p:sp>
        <p:nvSpPr>
          <p:cNvPr id="20" name="Text 18"/>
          <p:cNvSpPr/>
          <p:nvPr/>
        </p:nvSpPr>
        <p:spPr>
          <a:xfrm>
            <a:off x="6181344" y="1920240"/>
            <a:ext cx="2057400" cy="228600"/>
          </a:xfrm>
          <a:prstGeom prst="rect">
            <a:avLst/>
          </a:prstGeom>
          <a:noFill/>
          <a:ln/>
        </p:spPr>
        <p:txBody>
          <a:bodyPr wrap="square" rtlCol="0" anchor="ctr"/>
          <a:lstStyle/>
          <a:p>
            <a:pPr indent="0" marL="0">
              <a:buNone/>
            </a:pPr>
            <a:r>
              <a:rPr lang="en-US" sz="850" i="1" dirty="0">
                <a:solidFill>
                  <a:srgbClr val="64748B"/>
                </a:solidFill>
                <a:latin typeface="Segoe UI" pitchFamily="34" charset="0"/>
                <a:ea typeface="Segoe UI" pitchFamily="34" charset="-122"/>
                <a:cs typeface="Segoe UI" pitchFamily="34" charset="-120"/>
              </a:rPr>
              <a:t>Dynamic Reasoning &amp; Reflection</a:t>
            </a:r>
            <a:endParaRPr lang="en-US" sz="850" dirty="0"/>
          </a:p>
        </p:txBody>
      </p:sp>
      <p:sp>
        <p:nvSpPr>
          <p:cNvPr id="21" name="Shape 19"/>
          <p:cNvSpPr/>
          <p:nvPr/>
        </p:nvSpPr>
        <p:spPr>
          <a:xfrm>
            <a:off x="6181344" y="2194560"/>
            <a:ext cx="2057400" cy="0"/>
          </a:xfrm>
          <a:prstGeom prst="line">
            <a:avLst/>
          </a:prstGeom>
          <a:noFill/>
          <a:ln w="12700">
            <a:solidFill>
              <a:srgbClr val="24324F"/>
            </a:solidFill>
            <a:prstDash val="solid"/>
          </a:ln>
        </p:spPr>
      </p:sp>
      <p:sp>
        <p:nvSpPr>
          <p:cNvPr id="22" name="Text 20"/>
          <p:cNvSpPr/>
          <p:nvPr/>
        </p:nvSpPr>
        <p:spPr>
          <a:xfrm>
            <a:off x="6181344" y="2286000"/>
            <a:ext cx="2057400" cy="210312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 LLM decides IF retrieval is even needed
</a:t>
            </a:r>
            <a:pPr indent="0" marL="0">
              <a:buNone/>
            </a:pPr>
            <a:r>
              <a:rPr lang="en-US" sz="850" dirty="0">
                <a:solidFill>
                  <a:srgbClr val="94A3B8"/>
                </a:solidFill>
                <a:latin typeface="Segoe UI" pitchFamily="34" charset="0"/>
                <a:ea typeface="Segoe UI" pitchFamily="34" charset="-122"/>
                <a:cs typeface="Segoe UI" pitchFamily="34" charset="-120"/>
              </a:rPr>
              <a:t>• Corrective RAG (CRAG): Fallback to web search
</a:t>
            </a:r>
            <a:pPr indent="0" marL="0">
              <a:buNone/>
            </a:pPr>
            <a:r>
              <a:rPr lang="en-US" sz="850" dirty="0">
                <a:solidFill>
                  <a:srgbClr val="94A3B8"/>
                </a:solidFill>
                <a:latin typeface="Segoe UI" pitchFamily="34" charset="0"/>
                <a:ea typeface="Segoe UI" pitchFamily="34" charset="-122"/>
                <a:cs typeface="Segoe UI" pitchFamily="34" charset="-120"/>
              </a:rPr>
              <a:t>• Self-Reflection: Validates if generated response is grounded
</a:t>
            </a:r>
            <a:pPr indent="0" marL="0">
              <a:buNone/>
            </a:pPr>
            <a:r>
              <a:rPr lang="en-US" sz="850" dirty="0">
                <a:solidFill>
                  <a:srgbClr val="94A3B8"/>
                </a:solidFill>
                <a:latin typeface="Segoe UI" pitchFamily="34" charset="0"/>
                <a:ea typeface="Segoe UI" pitchFamily="34" charset="-122"/>
                <a:cs typeface="Segoe UI" pitchFamily="34" charset="-120"/>
              </a:rPr>
              <a:t>• Multi-Hop Reasoning: Decomposes into 5 sub-steps
</a:t>
            </a:r>
            <a:pPr indent="0" marL="0">
              <a:buNone/>
            </a:pPr>
            <a:r>
              <a:rPr lang="en-US" sz="850" dirty="0">
                <a:solidFill>
                  <a:srgbClr val="94A3B8"/>
                </a:solidFill>
                <a:latin typeface="Segoe UI" pitchFamily="34" charset="0"/>
                <a:ea typeface="Segoe UI" pitchFamily="34" charset="-122"/>
                <a:cs typeface="Segoe UI" pitchFamily="34" charset="-120"/>
              </a:rPr>
              <a:t>• Tool-calling agent across SQL, APIs &amp; vector stores
</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F1D"/>
        </a:solidFill>
      </p:bgPr>
    </p:bg>
    <p:spTree>
      <p:nvGrpSpPr>
        <p:cNvPr id="1" name=""/>
        <p:cNvGrpSpPr/>
        <p:nvPr/>
      </p:nvGrpSpPr>
      <p:grpSpPr>
        <a:xfrm>
          <a:off x="0" y="0"/>
          <a:ext cx="0" cy="0"/>
          <a:chOff x="0" y="0"/>
          <a:chExt cx="0" cy="0"/>
        </a:xfrm>
      </p:grpSpPr>
      <p:sp>
        <p:nvSpPr>
          <p:cNvPr id="2" name="Shape 0"/>
          <p:cNvSpPr/>
          <p:nvPr/>
        </p:nvSpPr>
        <p:spPr>
          <a:xfrm>
            <a:off x="731520" y="347472"/>
            <a:ext cx="2107692" cy="256032"/>
          </a:xfrm>
          <a:prstGeom prst="roundRect">
            <a:avLst>
              <a:gd name="adj" fmla="val 35714"/>
            </a:avLst>
          </a:prstGeom>
          <a:solidFill>
            <a:srgbClr val="1E293B"/>
          </a:solidFill>
          <a:ln w="12700">
            <a:solidFill>
              <a:srgbClr val="00D2FF"/>
            </a:solidFill>
            <a:prstDash val="solid"/>
          </a:ln>
        </p:spPr>
      </p:sp>
      <p:sp>
        <p:nvSpPr>
          <p:cNvPr id="3" name="Text 1"/>
          <p:cNvSpPr/>
          <p:nvPr/>
        </p:nvSpPr>
        <p:spPr>
          <a:xfrm>
            <a:off x="731520" y="347472"/>
            <a:ext cx="2107692" cy="256032"/>
          </a:xfrm>
          <a:prstGeom prst="rect">
            <a:avLst/>
          </a:prstGeom>
          <a:noFill/>
          <a:ln/>
        </p:spPr>
        <p:txBody>
          <a:bodyPr wrap="square" rtlCol="0" anchor="ctr"/>
          <a:lstStyle/>
          <a:p>
            <a:pPr algn="ctr" indent="0" marL="0">
              <a:buNone/>
            </a:pPr>
            <a:r>
              <a:rPr lang="en-US" sz="900" b="1" dirty="0">
                <a:solidFill>
                  <a:srgbClr val="00D2FF"/>
                </a:solidFill>
                <a:latin typeface="Segoe UI" pitchFamily="34" charset="0"/>
                <a:ea typeface="Segoe UI" pitchFamily="34" charset="-122"/>
                <a:cs typeface="Segoe UI" pitchFamily="34" charset="-120"/>
              </a:rPr>
              <a:t>QUALITY &amp; OBSERVABILITY</a:t>
            </a:r>
            <a:endParaRPr lang="en-US" sz="900" dirty="0"/>
          </a:p>
        </p:txBody>
      </p:sp>
      <p:sp>
        <p:nvSpPr>
          <p:cNvPr id="4" name="Text 2"/>
          <p:cNvSpPr/>
          <p:nvPr/>
        </p:nvSpPr>
        <p:spPr>
          <a:xfrm>
            <a:off x="731520" y="658368"/>
            <a:ext cx="7680960" cy="502920"/>
          </a:xfrm>
          <a:prstGeom prst="rect">
            <a:avLst/>
          </a:prstGeom>
          <a:noFill/>
          <a:ln/>
        </p:spPr>
        <p:txBody>
          <a:bodyPr wrap="square" rtlCol="0" anchor="t"/>
          <a:lstStyle/>
          <a:p>
            <a:pPr indent="0" marL="0">
              <a:buNone/>
            </a:pPr>
            <a:r>
              <a:rPr lang="en-US" sz="2200" b="1" dirty="0">
                <a:solidFill>
                  <a:srgbClr val="FFFFFF"/>
                </a:solidFill>
                <a:latin typeface="Segoe UI" pitchFamily="34" charset="0"/>
                <a:ea typeface="Segoe UI" pitchFamily="34" charset="-122"/>
                <a:cs typeface="Segoe UI" pitchFamily="34" charset="-120"/>
              </a:rPr>
              <a:t>Evaluation Framework: The RAG Triad</a:t>
            </a:r>
            <a:endParaRPr lang="en-US" sz="2200" dirty="0"/>
          </a:p>
        </p:txBody>
      </p:sp>
      <p:sp>
        <p:nvSpPr>
          <p:cNvPr id="5" name="Text 3"/>
          <p:cNvSpPr/>
          <p:nvPr/>
        </p:nvSpPr>
        <p:spPr>
          <a:xfrm>
            <a:off x="731520" y="1143000"/>
            <a:ext cx="7680960" cy="292608"/>
          </a:xfrm>
          <a:prstGeom prst="rect">
            <a:avLst/>
          </a:prstGeom>
          <a:noFill/>
          <a:ln/>
        </p:spPr>
        <p:txBody>
          <a:bodyPr wrap="square" rtlCol="0" anchor="t"/>
          <a:lstStyle/>
          <a:p>
            <a:pPr indent="0" marL="0">
              <a:buNone/>
            </a:pPr>
            <a:r>
              <a:rPr lang="en-US" sz="1200" dirty="0">
                <a:solidFill>
                  <a:srgbClr val="94A3B8"/>
                </a:solidFill>
                <a:latin typeface="Segoe UI" pitchFamily="34" charset="0"/>
                <a:ea typeface="Segoe UI" pitchFamily="34" charset="-122"/>
                <a:cs typeface="Segoe UI" pitchFamily="34" charset="-120"/>
              </a:rPr>
              <a:t>How to objectively measure and continuously benchmark RAG system performance in production.</a:t>
            </a:r>
            <a:endParaRPr lang="en-US" sz="1200" dirty="0"/>
          </a:p>
        </p:txBody>
      </p:sp>
      <p:sp>
        <p:nvSpPr>
          <p:cNvPr id="6" name="Shape 4"/>
          <p:cNvSpPr/>
          <p:nvPr/>
        </p:nvSpPr>
        <p:spPr>
          <a:xfrm>
            <a:off x="731520" y="4754880"/>
            <a:ext cx="7680960" cy="0"/>
          </a:xfrm>
          <a:prstGeom prst="line">
            <a:avLst/>
          </a:prstGeom>
          <a:noFill/>
          <a:ln w="12700">
            <a:solidFill>
              <a:srgbClr val="1E293B"/>
            </a:solidFill>
            <a:prstDash val="solid"/>
          </a:ln>
        </p:spPr>
      </p:sp>
      <p:sp>
        <p:nvSpPr>
          <p:cNvPr id="7" name="Text 5"/>
          <p:cNvSpPr/>
          <p:nvPr/>
        </p:nvSpPr>
        <p:spPr>
          <a:xfrm>
            <a:off x="731520" y="4800600"/>
            <a:ext cx="5486400" cy="22860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Retrieval-Augmented Generation (RAG) | Enterprise AI Architecture</a:t>
            </a:r>
            <a:endParaRPr lang="en-US" sz="900" dirty="0"/>
          </a:p>
        </p:txBody>
      </p:sp>
      <p:sp>
        <p:nvSpPr>
          <p:cNvPr id="8" name="Shape 6"/>
          <p:cNvSpPr/>
          <p:nvPr/>
        </p:nvSpPr>
        <p:spPr>
          <a:xfrm>
            <a:off x="731520" y="1554480"/>
            <a:ext cx="2423160" cy="2103120"/>
          </a:xfrm>
          <a:prstGeom prst="roundRect">
            <a:avLst>
              <a:gd name="adj" fmla="val 5217"/>
            </a:avLst>
          </a:prstGeom>
          <a:solidFill>
            <a:srgbClr val="141C2F"/>
          </a:solidFill>
          <a:ln w="15240">
            <a:solidFill>
              <a:srgbClr val="24324F"/>
            </a:solidFill>
            <a:prstDash val="solid"/>
          </a:ln>
        </p:spPr>
      </p:sp>
      <p:sp>
        <p:nvSpPr>
          <p:cNvPr id="9" name="Text 7"/>
          <p:cNvSpPr/>
          <p:nvPr/>
        </p:nvSpPr>
        <p:spPr>
          <a:xfrm>
            <a:off x="914400" y="1691640"/>
            <a:ext cx="2057400" cy="228600"/>
          </a:xfrm>
          <a:prstGeom prst="rect">
            <a:avLst/>
          </a:prstGeom>
          <a:noFill/>
          <a:ln/>
        </p:spPr>
        <p:txBody>
          <a:bodyPr wrap="square" rtlCol="0" anchor="ctr"/>
          <a:lstStyle/>
          <a:p>
            <a:pPr indent="0" marL="0">
              <a:buNone/>
            </a:pPr>
            <a:r>
              <a:rPr lang="en-US" sz="1100" b="1" dirty="0">
                <a:solidFill>
                  <a:srgbClr val="00D2FF"/>
                </a:solidFill>
                <a:latin typeface="Segoe UI" pitchFamily="34" charset="0"/>
                <a:ea typeface="Segoe UI" pitchFamily="34" charset="-122"/>
                <a:cs typeface="Segoe UI" pitchFamily="34" charset="-120"/>
              </a:rPr>
              <a:t>1. Context Relevance</a:t>
            </a:r>
            <a:endParaRPr lang="en-US" sz="1100" dirty="0"/>
          </a:p>
        </p:txBody>
      </p:sp>
      <p:sp>
        <p:nvSpPr>
          <p:cNvPr id="10" name="Text 8"/>
          <p:cNvSpPr/>
          <p:nvPr/>
        </p:nvSpPr>
        <p:spPr>
          <a:xfrm>
            <a:off x="914400" y="1920240"/>
            <a:ext cx="2057400" cy="320040"/>
          </a:xfrm>
          <a:prstGeom prst="rect">
            <a:avLst/>
          </a:prstGeom>
          <a:noFill/>
          <a:ln/>
        </p:spPr>
        <p:txBody>
          <a:bodyPr wrap="square" rtlCol="0" anchor="ctr"/>
          <a:lstStyle/>
          <a:p>
            <a:pPr indent="0" marL="0">
              <a:buNone/>
            </a:pPr>
            <a:r>
              <a:rPr lang="en-US" sz="850" i="1" dirty="0">
                <a:solidFill>
                  <a:srgbClr val="FFFFFF"/>
                </a:solidFill>
                <a:latin typeface="Segoe UI" pitchFamily="34" charset="0"/>
                <a:ea typeface="Segoe UI" pitchFamily="34" charset="-122"/>
                <a:cs typeface="Segoe UI" pitchFamily="34" charset="-120"/>
              </a:rPr>
              <a:t>Did the retriever pull the right information?</a:t>
            </a:r>
            <a:endParaRPr lang="en-US" sz="850" dirty="0"/>
          </a:p>
        </p:txBody>
      </p:sp>
      <p:sp>
        <p:nvSpPr>
          <p:cNvPr id="11" name="Text 9"/>
          <p:cNvSpPr/>
          <p:nvPr/>
        </p:nvSpPr>
        <p:spPr>
          <a:xfrm>
            <a:off x="914400" y="2286000"/>
            <a:ext cx="2057400" cy="77724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Measures how clean and noise-free the retrieved chunks are relative to the user query. Low relevance means your chunking, embeddings, or retrieval parameters need tuning.</a:t>
            </a:r>
            <a:endParaRPr lang="en-US" sz="850" dirty="0"/>
          </a:p>
        </p:txBody>
      </p:sp>
      <p:sp>
        <p:nvSpPr>
          <p:cNvPr id="12" name="Text 10"/>
          <p:cNvSpPr/>
          <p:nvPr/>
        </p:nvSpPr>
        <p:spPr>
          <a:xfrm>
            <a:off x="914400" y="3154680"/>
            <a:ext cx="2057400" cy="411480"/>
          </a:xfrm>
          <a:prstGeom prst="rect">
            <a:avLst/>
          </a:prstGeom>
          <a:noFill/>
          <a:ln/>
        </p:spPr>
        <p:txBody>
          <a:bodyPr wrap="square" rtlCol="0" anchor="ctr"/>
          <a:lstStyle/>
          <a:p>
            <a:pPr indent="0" marL="0">
              <a:buNone/>
            </a:pPr>
            <a:r>
              <a:rPr lang="en-US" sz="800" b="1" dirty="0">
                <a:solidFill>
                  <a:srgbClr val="F59E0B"/>
                </a:solidFill>
                <a:latin typeface="Segoe UI" pitchFamily="34" charset="0"/>
                <a:ea typeface="Segoe UI" pitchFamily="34" charset="-122"/>
                <a:cs typeface="Segoe UI" pitchFamily="34" charset="-120"/>
              </a:rPr>
              <a:t>Fail symptom: Model gets distracted by irrelevant facts or hits context limits.</a:t>
            </a:r>
            <a:endParaRPr lang="en-US" sz="800" dirty="0"/>
          </a:p>
        </p:txBody>
      </p:sp>
      <p:sp>
        <p:nvSpPr>
          <p:cNvPr id="13" name="Shape 11"/>
          <p:cNvSpPr/>
          <p:nvPr/>
        </p:nvSpPr>
        <p:spPr>
          <a:xfrm>
            <a:off x="3364992" y="1554480"/>
            <a:ext cx="2423160" cy="2103120"/>
          </a:xfrm>
          <a:prstGeom prst="roundRect">
            <a:avLst>
              <a:gd name="adj" fmla="val 5217"/>
            </a:avLst>
          </a:prstGeom>
          <a:solidFill>
            <a:srgbClr val="141C2F"/>
          </a:solidFill>
          <a:ln w="15240">
            <a:solidFill>
              <a:srgbClr val="24324F"/>
            </a:solidFill>
            <a:prstDash val="solid"/>
          </a:ln>
        </p:spPr>
      </p:sp>
      <p:sp>
        <p:nvSpPr>
          <p:cNvPr id="14" name="Text 12"/>
          <p:cNvSpPr/>
          <p:nvPr/>
        </p:nvSpPr>
        <p:spPr>
          <a:xfrm>
            <a:off x="3547872" y="1691640"/>
            <a:ext cx="2057400" cy="228600"/>
          </a:xfrm>
          <a:prstGeom prst="rect">
            <a:avLst/>
          </a:prstGeom>
          <a:noFill/>
          <a:ln/>
        </p:spPr>
        <p:txBody>
          <a:bodyPr wrap="square" rtlCol="0" anchor="ctr"/>
          <a:lstStyle/>
          <a:p>
            <a:pPr indent="0" marL="0">
              <a:buNone/>
            </a:pPr>
            <a:r>
              <a:rPr lang="en-US" sz="1100" b="1" dirty="0">
                <a:solidFill>
                  <a:srgbClr val="10B981"/>
                </a:solidFill>
                <a:latin typeface="Segoe UI" pitchFamily="34" charset="0"/>
                <a:ea typeface="Segoe UI" pitchFamily="34" charset="-122"/>
                <a:cs typeface="Segoe UI" pitchFamily="34" charset="-120"/>
              </a:rPr>
              <a:t>2. Groundedness (Faithfulness)</a:t>
            </a:r>
            <a:endParaRPr lang="en-US" sz="1100" dirty="0"/>
          </a:p>
        </p:txBody>
      </p:sp>
      <p:sp>
        <p:nvSpPr>
          <p:cNvPr id="15" name="Text 13"/>
          <p:cNvSpPr/>
          <p:nvPr/>
        </p:nvSpPr>
        <p:spPr>
          <a:xfrm>
            <a:off x="3547872" y="1920240"/>
            <a:ext cx="2057400" cy="320040"/>
          </a:xfrm>
          <a:prstGeom prst="rect">
            <a:avLst/>
          </a:prstGeom>
          <a:noFill/>
          <a:ln/>
        </p:spPr>
        <p:txBody>
          <a:bodyPr wrap="square" rtlCol="0" anchor="ctr"/>
          <a:lstStyle/>
          <a:p>
            <a:pPr indent="0" marL="0">
              <a:buNone/>
            </a:pPr>
            <a:r>
              <a:rPr lang="en-US" sz="850" i="1" dirty="0">
                <a:solidFill>
                  <a:srgbClr val="FFFFFF"/>
                </a:solidFill>
                <a:latin typeface="Segoe UI" pitchFamily="34" charset="0"/>
                <a:ea typeface="Segoe UI" pitchFamily="34" charset="-122"/>
                <a:cs typeface="Segoe UI" pitchFamily="34" charset="-120"/>
              </a:rPr>
              <a:t>Is the response backed strictly by context?</a:t>
            </a:r>
            <a:endParaRPr lang="en-US" sz="850" dirty="0"/>
          </a:p>
        </p:txBody>
      </p:sp>
      <p:sp>
        <p:nvSpPr>
          <p:cNvPr id="16" name="Text 14"/>
          <p:cNvSpPr/>
          <p:nvPr/>
        </p:nvSpPr>
        <p:spPr>
          <a:xfrm>
            <a:off x="3547872" y="2286000"/>
            <a:ext cx="2057400" cy="77724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Validates that every single statement, number, and claim in the LLM response can be directly inferred from the retrieved chunks—zero ungrounded hallucinations.</a:t>
            </a:r>
            <a:endParaRPr lang="en-US" sz="850" dirty="0"/>
          </a:p>
        </p:txBody>
      </p:sp>
      <p:sp>
        <p:nvSpPr>
          <p:cNvPr id="17" name="Text 15"/>
          <p:cNvSpPr/>
          <p:nvPr/>
        </p:nvSpPr>
        <p:spPr>
          <a:xfrm>
            <a:off x="3547872" y="3154680"/>
            <a:ext cx="2057400" cy="411480"/>
          </a:xfrm>
          <a:prstGeom prst="rect">
            <a:avLst/>
          </a:prstGeom>
          <a:noFill/>
          <a:ln/>
        </p:spPr>
        <p:txBody>
          <a:bodyPr wrap="square" rtlCol="0" anchor="ctr"/>
          <a:lstStyle/>
          <a:p>
            <a:pPr indent="0" marL="0">
              <a:buNone/>
            </a:pPr>
            <a:r>
              <a:rPr lang="en-US" sz="800" b="1" dirty="0">
                <a:solidFill>
                  <a:srgbClr val="F59E0B"/>
                </a:solidFill>
                <a:latin typeface="Segoe UI" pitchFamily="34" charset="0"/>
                <a:ea typeface="Segoe UI" pitchFamily="34" charset="-122"/>
                <a:cs typeface="Segoe UI" pitchFamily="34" charset="-120"/>
              </a:rPr>
              <a:t>Fail symptom: Model hallucinates external opinions or fabricated numbers.</a:t>
            </a:r>
            <a:endParaRPr lang="en-US" sz="800" dirty="0"/>
          </a:p>
        </p:txBody>
      </p:sp>
      <p:sp>
        <p:nvSpPr>
          <p:cNvPr id="18" name="Shape 16"/>
          <p:cNvSpPr/>
          <p:nvPr/>
        </p:nvSpPr>
        <p:spPr>
          <a:xfrm>
            <a:off x="5998464" y="1554480"/>
            <a:ext cx="2423160" cy="2103120"/>
          </a:xfrm>
          <a:prstGeom prst="roundRect">
            <a:avLst>
              <a:gd name="adj" fmla="val 5217"/>
            </a:avLst>
          </a:prstGeom>
          <a:solidFill>
            <a:srgbClr val="141C2F"/>
          </a:solidFill>
          <a:ln w="15240">
            <a:solidFill>
              <a:srgbClr val="24324F"/>
            </a:solidFill>
            <a:prstDash val="solid"/>
          </a:ln>
        </p:spPr>
      </p:sp>
      <p:sp>
        <p:nvSpPr>
          <p:cNvPr id="19" name="Text 17"/>
          <p:cNvSpPr/>
          <p:nvPr/>
        </p:nvSpPr>
        <p:spPr>
          <a:xfrm>
            <a:off x="6181344" y="1691640"/>
            <a:ext cx="2057400" cy="228600"/>
          </a:xfrm>
          <a:prstGeom prst="rect">
            <a:avLst/>
          </a:prstGeom>
          <a:noFill/>
          <a:ln/>
        </p:spPr>
        <p:txBody>
          <a:bodyPr wrap="square" rtlCol="0" anchor="ctr"/>
          <a:lstStyle/>
          <a:p>
            <a:pPr indent="0" marL="0">
              <a:buNone/>
            </a:pPr>
            <a:r>
              <a:rPr lang="en-US" sz="1100" b="1" dirty="0">
                <a:solidFill>
                  <a:srgbClr val="8B5CF6"/>
                </a:solidFill>
                <a:latin typeface="Segoe UI" pitchFamily="34" charset="0"/>
                <a:ea typeface="Segoe UI" pitchFamily="34" charset="-122"/>
                <a:cs typeface="Segoe UI" pitchFamily="34" charset="-120"/>
              </a:rPr>
              <a:t>3. Answer Relevance</a:t>
            </a:r>
            <a:endParaRPr lang="en-US" sz="1100" dirty="0"/>
          </a:p>
        </p:txBody>
      </p:sp>
      <p:sp>
        <p:nvSpPr>
          <p:cNvPr id="20" name="Text 18"/>
          <p:cNvSpPr/>
          <p:nvPr/>
        </p:nvSpPr>
        <p:spPr>
          <a:xfrm>
            <a:off x="6181344" y="1920240"/>
            <a:ext cx="2057400" cy="320040"/>
          </a:xfrm>
          <a:prstGeom prst="rect">
            <a:avLst/>
          </a:prstGeom>
          <a:noFill/>
          <a:ln/>
        </p:spPr>
        <p:txBody>
          <a:bodyPr wrap="square" rtlCol="0" anchor="ctr"/>
          <a:lstStyle/>
          <a:p>
            <a:pPr indent="0" marL="0">
              <a:buNone/>
            </a:pPr>
            <a:r>
              <a:rPr lang="en-US" sz="850" i="1" dirty="0">
                <a:solidFill>
                  <a:srgbClr val="FFFFFF"/>
                </a:solidFill>
                <a:latin typeface="Segoe UI" pitchFamily="34" charset="0"/>
                <a:ea typeface="Segoe UI" pitchFamily="34" charset="-122"/>
                <a:cs typeface="Segoe UI" pitchFamily="34" charset="-120"/>
              </a:rPr>
              <a:t>Did the response answer the user's prompt?</a:t>
            </a:r>
            <a:endParaRPr lang="en-US" sz="850" dirty="0"/>
          </a:p>
        </p:txBody>
      </p:sp>
      <p:sp>
        <p:nvSpPr>
          <p:cNvPr id="21" name="Text 19"/>
          <p:cNvSpPr/>
          <p:nvPr/>
        </p:nvSpPr>
        <p:spPr>
          <a:xfrm>
            <a:off x="6181344" y="2286000"/>
            <a:ext cx="2057400" cy="777240"/>
          </a:xfrm>
          <a:prstGeom prst="rect">
            <a:avLst/>
          </a:prstGeom>
          <a:noFill/>
          <a:ln/>
        </p:spPr>
        <p:txBody>
          <a:bodyPr wrap="square" rtlCol="0" anchor="ctr"/>
          <a:lstStyle/>
          <a:p>
            <a:pPr indent="0" marL="0">
              <a:buNone/>
            </a:pPr>
            <a:r>
              <a:rPr lang="en-US" sz="850" dirty="0">
                <a:solidFill>
                  <a:srgbClr val="94A3B8"/>
                </a:solidFill>
                <a:latin typeface="Segoe UI" pitchFamily="34" charset="0"/>
                <a:ea typeface="Segoe UI" pitchFamily="34" charset="-122"/>
                <a:cs typeface="Segoe UI" pitchFamily="34" charset="-120"/>
              </a:rPr>
              <a:t>Ensures the LLM actually addressed the user's original intent without evading the question, providing partial answers, or rambling off-topic.</a:t>
            </a:r>
            <a:endParaRPr lang="en-US" sz="850" dirty="0"/>
          </a:p>
        </p:txBody>
      </p:sp>
      <p:sp>
        <p:nvSpPr>
          <p:cNvPr id="22" name="Text 20"/>
          <p:cNvSpPr/>
          <p:nvPr/>
        </p:nvSpPr>
        <p:spPr>
          <a:xfrm>
            <a:off x="6181344" y="3154680"/>
            <a:ext cx="2057400" cy="411480"/>
          </a:xfrm>
          <a:prstGeom prst="rect">
            <a:avLst/>
          </a:prstGeom>
          <a:noFill/>
          <a:ln/>
        </p:spPr>
        <p:txBody>
          <a:bodyPr wrap="square" rtlCol="0" anchor="ctr"/>
          <a:lstStyle/>
          <a:p>
            <a:pPr indent="0" marL="0">
              <a:buNone/>
            </a:pPr>
            <a:r>
              <a:rPr lang="en-US" sz="800" b="1" dirty="0">
                <a:solidFill>
                  <a:srgbClr val="F59E0B"/>
                </a:solidFill>
                <a:latin typeface="Segoe UI" pitchFamily="34" charset="0"/>
                <a:ea typeface="Segoe UI" pitchFamily="34" charset="-122"/>
                <a:cs typeface="Segoe UI" pitchFamily="34" charset="-120"/>
              </a:rPr>
              <a:t>Fail symptom: Polite refusal or tangential explanation that misses the point.</a:t>
            </a:r>
            <a:endParaRPr lang="en-US" sz="800" dirty="0"/>
          </a:p>
        </p:txBody>
      </p:sp>
      <p:sp>
        <p:nvSpPr>
          <p:cNvPr id="23" name="Shape 21"/>
          <p:cNvSpPr/>
          <p:nvPr/>
        </p:nvSpPr>
        <p:spPr>
          <a:xfrm>
            <a:off x="731520" y="3840480"/>
            <a:ext cx="7680960" cy="777240"/>
          </a:xfrm>
          <a:prstGeom prst="roundRect">
            <a:avLst>
              <a:gd name="adj" fmla="val 11765"/>
            </a:avLst>
          </a:prstGeom>
          <a:solidFill>
            <a:srgbClr val="162035"/>
          </a:solidFill>
          <a:ln w="12700">
            <a:solidFill>
              <a:srgbClr val="24324F"/>
            </a:solidFill>
            <a:prstDash val="solid"/>
          </a:ln>
        </p:spPr>
      </p:sp>
      <p:sp>
        <p:nvSpPr>
          <p:cNvPr id="24" name="Text 22"/>
          <p:cNvSpPr/>
          <p:nvPr/>
        </p:nvSpPr>
        <p:spPr>
          <a:xfrm>
            <a:off x="914400" y="3913632"/>
            <a:ext cx="7315200" cy="182880"/>
          </a:xfrm>
          <a:prstGeom prst="rect">
            <a:avLst/>
          </a:prstGeom>
          <a:noFill/>
          <a:ln/>
        </p:spPr>
        <p:txBody>
          <a:bodyPr wrap="square" rtlCol="0" anchor="ctr"/>
          <a:lstStyle/>
          <a:p>
            <a:pPr indent="0" marL="0">
              <a:buNone/>
            </a:pPr>
            <a:r>
              <a:rPr lang="en-US" sz="900" b="1" dirty="0">
                <a:solidFill>
                  <a:srgbClr val="00D2FF"/>
                </a:solidFill>
                <a:latin typeface="Segoe UI" pitchFamily="34" charset="0"/>
                <a:ea typeface="Segoe UI" pitchFamily="34" charset="-122"/>
                <a:cs typeface="Segoe UI" pitchFamily="34" charset="-120"/>
              </a:rPr>
              <a:t>INDUSTRY BENCHMARKING &amp; OBSERVABILITY TOOLS</a:t>
            </a:r>
            <a:endParaRPr lang="en-US" sz="900" dirty="0"/>
          </a:p>
        </p:txBody>
      </p:sp>
      <p:sp>
        <p:nvSpPr>
          <p:cNvPr id="25" name="Text 23"/>
          <p:cNvSpPr/>
          <p:nvPr/>
        </p:nvSpPr>
        <p:spPr>
          <a:xfrm>
            <a:off x="914400" y="4114800"/>
            <a:ext cx="7315200" cy="438912"/>
          </a:xfrm>
          <a:prstGeom prst="rect">
            <a:avLst/>
          </a:prstGeom>
          <a:noFill/>
          <a:ln/>
        </p:spPr>
        <p:txBody>
          <a:bodyPr wrap="square" rtlCol="0" anchor="ctr"/>
          <a:lstStyle/>
          <a:p>
            <a:pPr indent="0" marL="0">
              <a:buNone/>
            </a:pPr>
            <a:r>
              <a:rPr lang="en-US" sz="850" b="1" dirty="0">
                <a:solidFill>
                  <a:srgbClr val="FFFFFF"/>
                </a:solidFill>
                <a:latin typeface="Segoe UI" pitchFamily="34" charset="0"/>
                <a:ea typeface="Segoe UI" pitchFamily="34" charset="-122"/>
                <a:cs typeface="Segoe UI" pitchFamily="34" charset="-120"/>
              </a:rPr>
              <a:t>• Ragas: </a:t>
            </a:r>
            <a:pPr indent="0" marL="0">
              <a:buNone/>
            </a:pPr>
            <a:r>
              <a:rPr lang="en-US" sz="850" dirty="0">
                <a:solidFill>
                  <a:srgbClr val="94A3B8"/>
                </a:solidFill>
                <a:latin typeface="Segoe UI" pitchFamily="34" charset="0"/>
                <a:ea typeface="Segoe UI" pitchFamily="34" charset="-122"/>
                <a:cs typeface="Segoe UI" pitchFamily="34" charset="-120"/>
              </a:rPr>
              <a:t>Automated synthetic dataset generation and triad scoring.   </a:t>
            </a:r>
            <a:pPr indent="0" marL="0">
              <a:buNone/>
            </a:pPr>
            <a:r>
              <a:rPr lang="en-US" sz="850" b="1" dirty="0">
                <a:solidFill>
                  <a:srgbClr val="FFFFFF"/>
                </a:solidFill>
                <a:latin typeface="Segoe UI" pitchFamily="34" charset="0"/>
                <a:ea typeface="Segoe UI" pitchFamily="34" charset="-122"/>
                <a:cs typeface="Segoe UI" pitchFamily="34" charset="-120"/>
              </a:rPr>
              <a:t>• TruLens: </a:t>
            </a:r>
            <a:pPr indent="0" marL="0">
              <a:buNone/>
            </a:pPr>
            <a:r>
              <a:rPr lang="en-US" sz="850" dirty="0">
                <a:solidFill>
                  <a:srgbClr val="94A3B8"/>
                </a:solidFill>
                <a:latin typeface="Segoe UI" pitchFamily="34" charset="0"/>
                <a:ea typeface="Segoe UI" pitchFamily="34" charset="-122"/>
                <a:cs typeface="Segoe UI" pitchFamily="34" charset="-120"/>
              </a:rPr>
              <a:t>Feedback functions &amp; hallucination tracking.   
</a:t>
            </a:r>
            <a:pPr indent="0" marL="0">
              <a:buNone/>
            </a:pPr>
            <a:r>
              <a:rPr lang="en-US" sz="850" b="1" dirty="0">
                <a:solidFill>
                  <a:srgbClr val="FFFFFF"/>
                </a:solidFill>
                <a:latin typeface="Segoe UI" pitchFamily="34" charset="0"/>
                <a:ea typeface="Segoe UI" pitchFamily="34" charset="-122"/>
                <a:cs typeface="Segoe UI" pitchFamily="34" charset="-120"/>
              </a:rPr>
              <a:t>• DeepEval: </a:t>
            </a:r>
            <a:pPr indent="0" marL="0">
              <a:buNone/>
            </a:pPr>
            <a:r>
              <a:rPr lang="en-US" sz="850" dirty="0">
                <a:solidFill>
                  <a:srgbClr val="94A3B8"/>
                </a:solidFill>
                <a:latin typeface="Segoe UI" pitchFamily="34" charset="0"/>
                <a:ea typeface="Segoe UI" pitchFamily="34" charset="-122"/>
                <a:cs typeface="Segoe UI" pitchFamily="34" charset="-120"/>
              </a:rPr>
              <a:t>CI/CD unit tests for LLM pipelines.   </a:t>
            </a:r>
            <a:pPr indent="0" marL="0">
              <a:buNone/>
            </a:pPr>
            <a:r>
              <a:rPr lang="en-US" sz="850" b="1" dirty="0">
                <a:solidFill>
                  <a:srgbClr val="FFFFFF"/>
                </a:solidFill>
                <a:latin typeface="Segoe UI" pitchFamily="34" charset="0"/>
                <a:ea typeface="Segoe UI" pitchFamily="34" charset="-122"/>
                <a:cs typeface="Segoe UI" pitchFamily="34" charset="-120"/>
              </a:rPr>
              <a:t>• LangSmith / Phoenix Arize: </a:t>
            </a:r>
            <a:pPr indent="0" marL="0">
              <a:buNone/>
            </a:pPr>
            <a:r>
              <a:rPr lang="en-US" sz="850" dirty="0">
                <a:solidFill>
                  <a:srgbClr val="94A3B8"/>
                </a:solidFill>
                <a:latin typeface="Segoe UI" pitchFamily="34" charset="0"/>
                <a:ea typeface="Segoe UI" pitchFamily="34" charset="-122"/>
                <a:cs typeface="Segoe UI" pitchFamily="34" charset="-120"/>
              </a:rPr>
              <a:t>End-to-end tracing, latency breakdown, and token telemetry.</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F1D"/>
        </a:solidFill>
      </p:bgPr>
    </p:bg>
    <p:spTree>
      <p:nvGrpSpPr>
        <p:cNvPr id="1" name=""/>
        <p:cNvGrpSpPr/>
        <p:nvPr/>
      </p:nvGrpSpPr>
      <p:grpSpPr>
        <a:xfrm>
          <a:off x="0" y="0"/>
          <a:ext cx="0" cy="0"/>
          <a:chOff x="0" y="0"/>
          <a:chExt cx="0" cy="0"/>
        </a:xfrm>
      </p:grpSpPr>
      <p:sp>
        <p:nvSpPr>
          <p:cNvPr id="2" name="Shape 0"/>
          <p:cNvSpPr/>
          <p:nvPr/>
        </p:nvSpPr>
        <p:spPr>
          <a:xfrm>
            <a:off x="731520" y="347472"/>
            <a:ext cx="2107692" cy="256032"/>
          </a:xfrm>
          <a:prstGeom prst="roundRect">
            <a:avLst>
              <a:gd name="adj" fmla="val 35714"/>
            </a:avLst>
          </a:prstGeom>
          <a:solidFill>
            <a:srgbClr val="1E293B"/>
          </a:solidFill>
          <a:ln w="12700">
            <a:solidFill>
              <a:srgbClr val="00D2FF"/>
            </a:solidFill>
            <a:prstDash val="solid"/>
          </a:ln>
        </p:spPr>
      </p:sp>
      <p:sp>
        <p:nvSpPr>
          <p:cNvPr id="3" name="Text 1"/>
          <p:cNvSpPr/>
          <p:nvPr/>
        </p:nvSpPr>
        <p:spPr>
          <a:xfrm>
            <a:off x="731520" y="347472"/>
            <a:ext cx="2107692" cy="256032"/>
          </a:xfrm>
          <a:prstGeom prst="rect">
            <a:avLst/>
          </a:prstGeom>
          <a:noFill/>
          <a:ln/>
        </p:spPr>
        <p:txBody>
          <a:bodyPr wrap="square" rtlCol="0" anchor="ctr"/>
          <a:lstStyle/>
          <a:p>
            <a:pPr algn="ctr" indent="0" marL="0">
              <a:buNone/>
            </a:pPr>
            <a:r>
              <a:rPr lang="en-US" sz="900" b="1" dirty="0">
                <a:solidFill>
                  <a:srgbClr val="00D2FF"/>
                </a:solidFill>
                <a:latin typeface="Segoe UI" pitchFamily="34" charset="0"/>
                <a:ea typeface="Segoe UI" pitchFamily="34" charset="-122"/>
                <a:cs typeface="Segoe UI" pitchFamily="34" charset="-120"/>
              </a:rPr>
              <a:t>ENGINEERING RELIABILITY</a:t>
            </a:r>
            <a:endParaRPr lang="en-US" sz="900" dirty="0"/>
          </a:p>
        </p:txBody>
      </p:sp>
      <p:sp>
        <p:nvSpPr>
          <p:cNvPr id="4" name="Text 2"/>
          <p:cNvSpPr/>
          <p:nvPr/>
        </p:nvSpPr>
        <p:spPr>
          <a:xfrm>
            <a:off x="731520" y="658368"/>
            <a:ext cx="7680960" cy="502920"/>
          </a:xfrm>
          <a:prstGeom prst="rect">
            <a:avLst/>
          </a:prstGeom>
          <a:noFill/>
          <a:ln/>
        </p:spPr>
        <p:txBody>
          <a:bodyPr wrap="square" rtlCol="0" anchor="t"/>
          <a:lstStyle/>
          <a:p>
            <a:pPr indent="0" marL="0">
              <a:buNone/>
            </a:pPr>
            <a:r>
              <a:rPr lang="en-US" sz="2200" b="1" dirty="0">
                <a:solidFill>
                  <a:srgbClr val="FFFFFF"/>
                </a:solidFill>
                <a:latin typeface="Segoe UI" pitchFamily="34" charset="0"/>
                <a:ea typeface="Segoe UI" pitchFamily="34" charset="-122"/>
                <a:cs typeface="Segoe UI" pitchFamily="34" charset="-120"/>
              </a:rPr>
              <a:t>Key Production Pitfalls &amp; Hard-Won Solutions</a:t>
            </a:r>
            <a:endParaRPr lang="en-US" sz="2200" dirty="0"/>
          </a:p>
        </p:txBody>
      </p:sp>
      <p:sp>
        <p:nvSpPr>
          <p:cNvPr id="5" name="Text 3"/>
          <p:cNvSpPr/>
          <p:nvPr/>
        </p:nvSpPr>
        <p:spPr>
          <a:xfrm>
            <a:off x="731520" y="1143000"/>
            <a:ext cx="7680960" cy="292608"/>
          </a:xfrm>
          <a:prstGeom prst="rect">
            <a:avLst/>
          </a:prstGeom>
          <a:noFill/>
          <a:ln/>
        </p:spPr>
        <p:txBody>
          <a:bodyPr wrap="square" rtlCol="0" anchor="t"/>
          <a:lstStyle/>
          <a:p>
            <a:pPr indent="0" marL="0">
              <a:buNone/>
            </a:pPr>
            <a:r>
              <a:rPr lang="en-US" sz="1200" dirty="0">
                <a:solidFill>
                  <a:srgbClr val="94A3B8"/>
                </a:solidFill>
                <a:latin typeface="Segoe UI" pitchFamily="34" charset="0"/>
                <a:ea typeface="Segoe UI" pitchFamily="34" charset="-122"/>
                <a:cs typeface="Segoe UI" pitchFamily="34" charset="-120"/>
              </a:rPr>
              <a:t>Common failure modes encountered when transitioning RAG from prototype to enterprise production.</a:t>
            </a:r>
            <a:endParaRPr lang="en-US" sz="1200" dirty="0"/>
          </a:p>
        </p:txBody>
      </p:sp>
      <p:sp>
        <p:nvSpPr>
          <p:cNvPr id="6" name="Shape 4"/>
          <p:cNvSpPr/>
          <p:nvPr/>
        </p:nvSpPr>
        <p:spPr>
          <a:xfrm>
            <a:off x="731520" y="4754880"/>
            <a:ext cx="7680960" cy="0"/>
          </a:xfrm>
          <a:prstGeom prst="line">
            <a:avLst/>
          </a:prstGeom>
          <a:noFill/>
          <a:ln w="12700">
            <a:solidFill>
              <a:srgbClr val="1E293B"/>
            </a:solidFill>
            <a:prstDash val="solid"/>
          </a:ln>
        </p:spPr>
      </p:sp>
      <p:sp>
        <p:nvSpPr>
          <p:cNvPr id="7" name="Text 5"/>
          <p:cNvSpPr/>
          <p:nvPr/>
        </p:nvSpPr>
        <p:spPr>
          <a:xfrm>
            <a:off x="731520" y="4800600"/>
            <a:ext cx="5486400" cy="22860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Retrieval-Augmented Generation (RAG) | Enterprise AI Architecture</a:t>
            </a:r>
            <a:endParaRPr lang="en-US" sz="900" dirty="0"/>
          </a:p>
        </p:txBody>
      </p:sp>
      <p:sp>
        <p:nvSpPr>
          <p:cNvPr id="8" name="Shape 6"/>
          <p:cNvSpPr/>
          <p:nvPr/>
        </p:nvSpPr>
        <p:spPr>
          <a:xfrm>
            <a:off x="731520" y="1554480"/>
            <a:ext cx="3749040" cy="1371600"/>
          </a:xfrm>
          <a:prstGeom prst="roundRect">
            <a:avLst>
              <a:gd name="adj" fmla="val 6667"/>
            </a:avLst>
          </a:prstGeom>
          <a:solidFill>
            <a:srgbClr val="141C2F"/>
          </a:solidFill>
          <a:ln w="12700">
            <a:solidFill>
              <a:srgbClr val="24324F"/>
            </a:solidFill>
            <a:prstDash val="solid"/>
          </a:ln>
        </p:spPr>
      </p:sp>
      <p:sp>
        <p:nvSpPr>
          <p:cNvPr id="9" name="Text 7"/>
          <p:cNvSpPr/>
          <p:nvPr/>
        </p:nvSpPr>
        <p:spPr>
          <a:xfrm>
            <a:off x="914400" y="1664208"/>
            <a:ext cx="3383280" cy="228600"/>
          </a:xfrm>
          <a:prstGeom prst="rect">
            <a:avLst/>
          </a:prstGeom>
          <a:noFill/>
          <a:ln/>
        </p:spPr>
        <p:txBody>
          <a:bodyPr wrap="square" rtlCol="0" anchor="ctr"/>
          <a:lstStyle/>
          <a:p>
            <a:pPr indent="0" marL="0">
              <a:buNone/>
            </a:pPr>
            <a:r>
              <a:rPr lang="en-US" sz="1100" b="1" dirty="0">
                <a:solidFill>
                  <a:srgbClr val="F59E0B"/>
                </a:solidFill>
                <a:latin typeface="Segoe UI" pitchFamily="34" charset="0"/>
                <a:ea typeface="Segoe UI" pitchFamily="34" charset="-122"/>
                <a:cs typeface="Segoe UI" pitchFamily="34" charset="-120"/>
              </a:rPr>
              <a:t>The "Lost in the Middle" Dilemma</a:t>
            </a:r>
            <a:endParaRPr lang="en-US" sz="1100" dirty="0"/>
          </a:p>
        </p:txBody>
      </p:sp>
      <p:sp>
        <p:nvSpPr>
          <p:cNvPr id="10" name="Text 8"/>
          <p:cNvSpPr/>
          <p:nvPr/>
        </p:nvSpPr>
        <p:spPr>
          <a:xfrm>
            <a:off x="914400" y="1920240"/>
            <a:ext cx="3383280" cy="914400"/>
          </a:xfrm>
          <a:prstGeom prst="rect">
            <a:avLst/>
          </a:prstGeom>
          <a:noFill/>
          <a:ln/>
        </p:spPr>
        <p:txBody>
          <a:bodyPr wrap="square" rtlCol="0" anchor="ctr"/>
          <a:lstStyle/>
          <a:p>
            <a:pPr indent="0" marL="0">
              <a:buNone/>
            </a:pPr>
            <a:r>
              <a:rPr lang="en-US" sz="850" b="1" dirty="0">
                <a:solidFill>
                  <a:srgbClr val="FFFFFF"/>
                </a:solidFill>
                <a:latin typeface="Segoe UI" pitchFamily="34" charset="0"/>
                <a:ea typeface="Segoe UI" pitchFamily="34" charset="-122"/>
                <a:cs typeface="Segoe UI" pitchFamily="34" charset="-120"/>
              </a:rPr>
              <a:t>⚠️ Challenge: </a:t>
            </a:r>
            <a:pPr indent="0" marL="0">
              <a:buNone/>
            </a:pPr>
            <a:r>
              <a:rPr lang="en-US" sz="850" dirty="0">
                <a:solidFill>
                  <a:srgbClr val="94A3B8"/>
                </a:solidFill>
                <a:latin typeface="Segoe UI" pitchFamily="34" charset="0"/>
                <a:ea typeface="Segoe UI" pitchFamily="34" charset="-122"/>
                <a:cs typeface="Segoe UI" pitchFamily="34" charset="-120"/>
              </a:rPr>
              <a:t>LLMs pay disproportionate attention to tokens at the very beginning and very end of a prompt, frequently ignoring chunks buried in the center.
</a:t>
            </a:r>
            <a:pPr indent="0" marL="0">
              <a:buNone/>
            </a:pPr>
            <a:r>
              <a:rPr lang="en-US" sz="850" b="1" dirty="0">
                <a:solidFill>
                  <a:srgbClr val="10B981"/>
                </a:solidFill>
                <a:latin typeface="Segoe UI" pitchFamily="34" charset="0"/>
                <a:ea typeface="Segoe UI" pitchFamily="34" charset="-122"/>
                <a:cs typeface="Segoe UI" pitchFamily="34" charset="-120"/>
              </a:rPr>
              <a:t>💡 Production Fix: </a:t>
            </a:r>
            <a:pPr indent="0" marL="0">
              <a:buNone/>
            </a:pPr>
            <a:r>
              <a:rPr lang="en-US" sz="850" dirty="0">
                <a:solidFill>
                  <a:srgbClr val="94A3B8"/>
                </a:solidFill>
                <a:latin typeface="Segoe UI" pitchFamily="34" charset="0"/>
                <a:ea typeface="Segoe UI" pitchFamily="34" charset="-122"/>
                <a:cs typeface="Segoe UI" pitchFamily="34" charset="-120"/>
              </a:rPr>
              <a:t>Sort re-ranked chunks strategically: place top 2 most critical excerpts at the start and end of the context window.</a:t>
            </a:r>
            <a:endParaRPr lang="en-US" sz="850" dirty="0"/>
          </a:p>
        </p:txBody>
      </p:sp>
      <p:sp>
        <p:nvSpPr>
          <p:cNvPr id="11" name="Shape 9"/>
          <p:cNvSpPr/>
          <p:nvPr/>
        </p:nvSpPr>
        <p:spPr>
          <a:xfrm>
            <a:off x="4663440" y="1554480"/>
            <a:ext cx="3749040" cy="1371600"/>
          </a:xfrm>
          <a:prstGeom prst="roundRect">
            <a:avLst>
              <a:gd name="adj" fmla="val 6667"/>
            </a:avLst>
          </a:prstGeom>
          <a:solidFill>
            <a:srgbClr val="141C2F"/>
          </a:solidFill>
          <a:ln w="12700">
            <a:solidFill>
              <a:srgbClr val="24324F"/>
            </a:solidFill>
            <a:prstDash val="solid"/>
          </a:ln>
        </p:spPr>
      </p:sp>
      <p:sp>
        <p:nvSpPr>
          <p:cNvPr id="12" name="Text 10"/>
          <p:cNvSpPr/>
          <p:nvPr/>
        </p:nvSpPr>
        <p:spPr>
          <a:xfrm>
            <a:off x="4846320" y="1664208"/>
            <a:ext cx="3383280" cy="228600"/>
          </a:xfrm>
          <a:prstGeom prst="rect">
            <a:avLst/>
          </a:prstGeom>
          <a:noFill/>
          <a:ln/>
        </p:spPr>
        <p:txBody>
          <a:bodyPr wrap="square" rtlCol="0" anchor="ctr"/>
          <a:lstStyle/>
          <a:p>
            <a:pPr indent="0" marL="0">
              <a:buNone/>
            </a:pPr>
            <a:r>
              <a:rPr lang="en-US" sz="1100" b="1" dirty="0">
                <a:solidFill>
                  <a:srgbClr val="EF4444"/>
                </a:solidFill>
                <a:latin typeface="Segoe UI" pitchFamily="34" charset="0"/>
                <a:ea typeface="Segoe UI" pitchFamily="34" charset="-122"/>
                <a:cs typeface="Segoe UI" pitchFamily="34" charset="-120"/>
              </a:rPr>
              <a:t>Multi-Tenant Security &amp; RBAC</a:t>
            </a:r>
            <a:endParaRPr lang="en-US" sz="1100" dirty="0"/>
          </a:p>
        </p:txBody>
      </p:sp>
      <p:sp>
        <p:nvSpPr>
          <p:cNvPr id="13" name="Text 11"/>
          <p:cNvSpPr/>
          <p:nvPr/>
        </p:nvSpPr>
        <p:spPr>
          <a:xfrm>
            <a:off x="4846320" y="1920240"/>
            <a:ext cx="3383280" cy="914400"/>
          </a:xfrm>
          <a:prstGeom prst="rect">
            <a:avLst/>
          </a:prstGeom>
          <a:noFill/>
          <a:ln/>
        </p:spPr>
        <p:txBody>
          <a:bodyPr wrap="square" rtlCol="0" anchor="ctr"/>
          <a:lstStyle/>
          <a:p>
            <a:pPr indent="0" marL="0">
              <a:buNone/>
            </a:pPr>
            <a:r>
              <a:rPr lang="en-US" sz="850" b="1" dirty="0">
                <a:solidFill>
                  <a:srgbClr val="FFFFFF"/>
                </a:solidFill>
                <a:latin typeface="Segoe UI" pitchFamily="34" charset="0"/>
                <a:ea typeface="Segoe UI" pitchFamily="34" charset="-122"/>
                <a:cs typeface="Segoe UI" pitchFamily="34" charset="-120"/>
              </a:rPr>
              <a:t>⚠️ Challenge: </a:t>
            </a:r>
            <a:pPr indent="0" marL="0">
              <a:buNone/>
            </a:pPr>
            <a:r>
              <a:rPr lang="en-US" sz="850" dirty="0">
                <a:solidFill>
                  <a:srgbClr val="94A3B8"/>
                </a:solidFill>
                <a:latin typeface="Segoe UI" pitchFamily="34" charset="0"/>
                <a:ea typeface="Segoe UI" pitchFamily="34" charset="-122"/>
                <a:cs typeface="Segoe UI" pitchFamily="34" charset="-120"/>
              </a:rPr>
              <a:t>Employees might query the assistant and accidentally retrieve salary spreadsheets, board minutes, or other confidential records.
</a:t>
            </a:r>
            <a:pPr indent="0" marL="0">
              <a:buNone/>
            </a:pPr>
            <a:r>
              <a:rPr lang="en-US" sz="850" b="1" dirty="0">
                <a:solidFill>
                  <a:srgbClr val="10B981"/>
                </a:solidFill>
                <a:latin typeface="Segoe UI" pitchFamily="34" charset="0"/>
                <a:ea typeface="Segoe UI" pitchFamily="34" charset="-122"/>
                <a:cs typeface="Segoe UI" pitchFamily="34" charset="-120"/>
              </a:rPr>
              <a:t>💡 Production Fix: </a:t>
            </a:r>
            <a:pPr indent="0" marL="0">
              <a:buNone/>
            </a:pPr>
            <a:r>
              <a:rPr lang="en-US" sz="850" dirty="0">
                <a:solidFill>
                  <a:srgbClr val="94A3B8"/>
                </a:solidFill>
                <a:latin typeface="Segoe UI" pitchFamily="34" charset="0"/>
                <a:ea typeface="Segoe UI" pitchFamily="34" charset="-122"/>
                <a:cs typeface="Segoe UI" pitchFamily="34" charset="-120"/>
              </a:rPr>
              <a:t>Apply mandatory metadata pre-filtering at the vector database level before similarity scoring based on the user's JWT / active role.</a:t>
            </a:r>
            <a:endParaRPr lang="en-US" sz="850" dirty="0"/>
          </a:p>
        </p:txBody>
      </p:sp>
      <p:sp>
        <p:nvSpPr>
          <p:cNvPr id="14" name="Shape 12"/>
          <p:cNvSpPr/>
          <p:nvPr/>
        </p:nvSpPr>
        <p:spPr>
          <a:xfrm>
            <a:off x="731520" y="3063240"/>
            <a:ext cx="3749040" cy="1371600"/>
          </a:xfrm>
          <a:prstGeom prst="roundRect">
            <a:avLst>
              <a:gd name="adj" fmla="val 6667"/>
            </a:avLst>
          </a:prstGeom>
          <a:solidFill>
            <a:srgbClr val="141C2F"/>
          </a:solidFill>
          <a:ln w="12700">
            <a:solidFill>
              <a:srgbClr val="24324F"/>
            </a:solidFill>
            <a:prstDash val="solid"/>
          </a:ln>
        </p:spPr>
      </p:sp>
      <p:sp>
        <p:nvSpPr>
          <p:cNvPr id="15" name="Text 13"/>
          <p:cNvSpPr/>
          <p:nvPr/>
        </p:nvSpPr>
        <p:spPr>
          <a:xfrm>
            <a:off x="914400" y="3172968"/>
            <a:ext cx="3383280" cy="228600"/>
          </a:xfrm>
          <a:prstGeom prst="rect">
            <a:avLst/>
          </a:prstGeom>
          <a:noFill/>
          <a:ln/>
        </p:spPr>
        <p:txBody>
          <a:bodyPr wrap="square" rtlCol="0" anchor="ctr"/>
          <a:lstStyle/>
          <a:p>
            <a:pPr indent="0" marL="0">
              <a:buNone/>
            </a:pPr>
            <a:r>
              <a:rPr lang="en-US" sz="1100" b="1" dirty="0">
                <a:solidFill>
                  <a:srgbClr val="8B5CF6"/>
                </a:solidFill>
                <a:latin typeface="Segoe UI" pitchFamily="34" charset="0"/>
                <a:ea typeface="Segoe UI" pitchFamily="34" charset="-122"/>
                <a:cs typeface="Segoe UI" pitchFamily="34" charset="-120"/>
              </a:rPr>
              <a:t>Garbage In, Garbage Out (Bad OCR)</a:t>
            </a:r>
            <a:endParaRPr lang="en-US" sz="1100" dirty="0"/>
          </a:p>
        </p:txBody>
      </p:sp>
      <p:sp>
        <p:nvSpPr>
          <p:cNvPr id="16" name="Text 14"/>
          <p:cNvSpPr/>
          <p:nvPr/>
        </p:nvSpPr>
        <p:spPr>
          <a:xfrm>
            <a:off x="914400" y="3429000"/>
            <a:ext cx="3383280" cy="914400"/>
          </a:xfrm>
          <a:prstGeom prst="rect">
            <a:avLst/>
          </a:prstGeom>
          <a:noFill/>
          <a:ln/>
        </p:spPr>
        <p:txBody>
          <a:bodyPr wrap="square" rtlCol="0" anchor="ctr"/>
          <a:lstStyle/>
          <a:p>
            <a:pPr indent="0" marL="0">
              <a:buNone/>
            </a:pPr>
            <a:r>
              <a:rPr lang="en-US" sz="850" b="1" dirty="0">
                <a:solidFill>
                  <a:srgbClr val="FFFFFF"/>
                </a:solidFill>
                <a:latin typeface="Segoe UI" pitchFamily="34" charset="0"/>
                <a:ea typeface="Segoe UI" pitchFamily="34" charset="-122"/>
                <a:cs typeface="Segoe UI" pitchFamily="34" charset="-120"/>
              </a:rPr>
              <a:t>⚠️ Challenge: </a:t>
            </a:r>
            <a:pPr indent="0" marL="0">
              <a:buNone/>
            </a:pPr>
            <a:r>
              <a:rPr lang="en-US" sz="850" dirty="0">
                <a:solidFill>
                  <a:srgbClr val="94A3B8"/>
                </a:solidFill>
                <a:latin typeface="Segoe UI" pitchFamily="34" charset="0"/>
                <a:ea typeface="Segoe UI" pitchFamily="34" charset="-122"/>
                <a:cs typeface="Segoe UI" pitchFamily="34" charset="-120"/>
              </a:rPr>
              <a:t>Scanned enterprise PDFs, complex multi-column layouts, and nested tables turn into corrupted text during standard naive text extraction.
</a:t>
            </a:r>
            <a:pPr indent="0" marL="0">
              <a:buNone/>
            </a:pPr>
            <a:r>
              <a:rPr lang="en-US" sz="850" b="1" dirty="0">
                <a:solidFill>
                  <a:srgbClr val="10B981"/>
                </a:solidFill>
                <a:latin typeface="Segoe UI" pitchFamily="34" charset="0"/>
                <a:ea typeface="Segoe UI" pitchFamily="34" charset="-122"/>
                <a:cs typeface="Segoe UI" pitchFamily="34" charset="-120"/>
              </a:rPr>
              <a:t>💡 Production Fix: </a:t>
            </a:r>
            <a:pPr indent="0" marL="0">
              <a:buNone/>
            </a:pPr>
            <a:r>
              <a:rPr lang="en-US" sz="850" dirty="0">
                <a:solidFill>
                  <a:srgbClr val="94A3B8"/>
                </a:solidFill>
                <a:latin typeface="Segoe UI" pitchFamily="34" charset="0"/>
                <a:ea typeface="Segoe UI" pitchFamily="34" charset="-122"/>
                <a:cs typeface="Segoe UI" pitchFamily="34" charset="-120"/>
              </a:rPr>
              <a:t>Deploy vision-based parsers (LlamaParse, Unstructured, Nougat) that extract tables as clean Markdown or HTML structures.</a:t>
            </a:r>
            <a:endParaRPr lang="en-US" sz="850" dirty="0"/>
          </a:p>
        </p:txBody>
      </p:sp>
      <p:sp>
        <p:nvSpPr>
          <p:cNvPr id="17" name="Shape 15"/>
          <p:cNvSpPr/>
          <p:nvPr/>
        </p:nvSpPr>
        <p:spPr>
          <a:xfrm>
            <a:off x="4663440" y="3063240"/>
            <a:ext cx="3749040" cy="1371600"/>
          </a:xfrm>
          <a:prstGeom prst="roundRect">
            <a:avLst>
              <a:gd name="adj" fmla="val 6667"/>
            </a:avLst>
          </a:prstGeom>
          <a:solidFill>
            <a:srgbClr val="141C2F"/>
          </a:solidFill>
          <a:ln w="12700">
            <a:solidFill>
              <a:srgbClr val="24324F"/>
            </a:solidFill>
            <a:prstDash val="solid"/>
          </a:ln>
        </p:spPr>
      </p:sp>
      <p:sp>
        <p:nvSpPr>
          <p:cNvPr id="18" name="Text 16"/>
          <p:cNvSpPr/>
          <p:nvPr/>
        </p:nvSpPr>
        <p:spPr>
          <a:xfrm>
            <a:off x="4846320" y="3172968"/>
            <a:ext cx="3383280" cy="228600"/>
          </a:xfrm>
          <a:prstGeom prst="rect">
            <a:avLst/>
          </a:prstGeom>
          <a:noFill/>
          <a:ln/>
        </p:spPr>
        <p:txBody>
          <a:bodyPr wrap="square" rtlCol="0" anchor="ctr"/>
          <a:lstStyle/>
          <a:p>
            <a:pPr indent="0" marL="0">
              <a:buNone/>
            </a:pPr>
            <a:r>
              <a:rPr lang="en-US" sz="1100" b="1" dirty="0">
                <a:solidFill>
                  <a:srgbClr val="00D2FF"/>
                </a:solidFill>
                <a:latin typeface="Segoe UI" pitchFamily="34" charset="0"/>
                <a:ea typeface="Segoe UI" pitchFamily="34" charset="-122"/>
                <a:cs typeface="Segoe UI" pitchFamily="34" charset="-120"/>
              </a:rPr>
              <a:t>Latency &amp; API Expense</a:t>
            </a:r>
            <a:endParaRPr lang="en-US" sz="1100" dirty="0"/>
          </a:p>
        </p:txBody>
      </p:sp>
      <p:sp>
        <p:nvSpPr>
          <p:cNvPr id="19" name="Text 17"/>
          <p:cNvSpPr/>
          <p:nvPr/>
        </p:nvSpPr>
        <p:spPr>
          <a:xfrm>
            <a:off x="4846320" y="3429000"/>
            <a:ext cx="3383280" cy="914400"/>
          </a:xfrm>
          <a:prstGeom prst="rect">
            <a:avLst/>
          </a:prstGeom>
          <a:noFill/>
          <a:ln/>
        </p:spPr>
        <p:txBody>
          <a:bodyPr wrap="square" rtlCol="0" anchor="ctr"/>
          <a:lstStyle/>
          <a:p>
            <a:pPr indent="0" marL="0">
              <a:buNone/>
            </a:pPr>
            <a:r>
              <a:rPr lang="en-US" sz="850" b="1" dirty="0">
                <a:solidFill>
                  <a:srgbClr val="FFFFFF"/>
                </a:solidFill>
                <a:latin typeface="Segoe UI" pitchFamily="34" charset="0"/>
                <a:ea typeface="Segoe UI" pitchFamily="34" charset="-122"/>
                <a:cs typeface="Segoe UI" pitchFamily="34" charset="-120"/>
              </a:rPr>
              <a:t>⚠️ Challenge: </a:t>
            </a:r>
            <a:pPr indent="0" marL="0">
              <a:buNone/>
            </a:pPr>
            <a:r>
              <a:rPr lang="en-US" sz="850" dirty="0">
                <a:solidFill>
                  <a:srgbClr val="94A3B8"/>
                </a:solidFill>
                <a:latin typeface="Segoe UI" pitchFamily="34" charset="0"/>
                <a:ea typeface="Segoe UI" pitchFamily="34" charset="-122"/>
                <a:cs typeface="Segoe UI" pitchFamily="34" charset="-120"/>
              </a:rPr>
              <a:t>Querying vector stores, re-rankers, and frontier LLMs consecutively can create a sluggish 4-6 second latency for end users.
</a:t>
            </a:r>
            <a:pPr indent="0" marL="0">
              <a:buNone/>
            </a:pPr>
            <a:r>
              <a:rPr lang="en-US" sz="850" b="1" dirty="0">
                <a:solidFill>
                  <a:srgbClr val="10B981"/>
                </a:solidFill>
                <a:latin typeface="Segoe UI" pitchFamily="34" charset="0"/>
                <a:ea typeface="Segoe UI" pitchFamily="34" charset="-122"/>
                <a:cs typeface="Segoe UI" pitchFamily="34" charset="-120"/>
              </a:rPr>
              <a:t>💡 Production Fix: </a:t>
            </a:r>
            <a:pPr indent="0" marL="0">
              <a:buNone/>
            </a:pPr>
            <a:r>
              <a:rPr lang="en-US" sz="850" dirty="0">
                <a:solidFill>
                  <a:srgbClr val="94A3B8"/>
                </a:solidFill>
                <a:latin typeface="Segoe UI" pitchFamily="34" charset="0"/>
                <a:ea typeface="Segoe UI" pitchFamily="34" charset="-122"/>
                <a:cs typeface="Segoe UI" pitchFamily="34" charset="-120"/>
              </a:rPr>
              <a:t>Implement Semantic Caching (GPTCache / Redis) for identical or similar questions, run parallel retrievals, and stream tokens.</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F1D"/>
        </a:solidFill>
      </p:bgPr>
    </p:bg>
    <p:spTree>
      <p:nvGrpSpPr>
        <p:cNvPr id="1" name=""/>
        <p:cNvGrpSpPr/>
        <p:nvPr/>
      </p:nvGrpSpPr>
      <p:grpSpPr>
        <a:xfrm>
          <a:off x="0" y="0"/>
          <a:ext cx="0" cy="0"/>
          <a:chOff x="0" y="0"/>
          <a:chExt cx="0" cy="0"/>
        </a:xfrm>
      </p:grpSpPr>
      <p:sp>
        <p:nvSpPr>
          <p:cNvPr id="2" name="Shape 0"/>
          <p:cNvSpPr/>
          <p:nvPr/>
        </p:nvSpPr>
        <p:spPr>
          <a:xfrm>
            <a:off x="731520" y="347472"/>
            <a:ext cx="1952244" cy="256032"/>
          </a:xfrm>
          <a:prstGeom prst="roundRect">
            <a:avLst>
              <a:gd name="adj" fmla="val 35714"/>
            </a:avLst>
          </a:prstGeom>
          <a:solidFill>
            <a:srgbClr val="1E293B"/>
          </a:solidFill>
          <a:ln w="12700">
            <a:solidFill>
              <a:srgbClr val="00D2FF"/>
            </a:solidFill>
            <a:prstDash val="solid"/>
          </a:ln>
        </p:spPr>
      </p:sp>
      <p:sp>
        <p:nvSpPr>
          <p:cNvPr id="3" name="Text 1"/>
          <p:cNvSpPr/>
          <p:nvPr/>
        </p:nvSpPr>
        <p:spPr>
          <a:xfrm>
            <a:off x="731520" y="347472"/>
            <a:ext cx="1952244" cy="256032"/>
          </a:xfrm>
          <a:prstGeom prst="rect">
            <a:avLst/>
          </a:prstGeom>
          <a:noFill/>
          <a:ln/>
        </p:spPr>
        <p:txBody>
          <a:bodyPr wrap="square" rtlCol="0" anchor="ctr"/>
          <a:lstStyle/>
          <a:p>
            <a:pPr algn="ctr" indent="0" marL="0">
              <a:buNone/>
            </a:pPr>
            <a:r>
              <a:rPr lang="en-US" sz="900" b="1" dirty="0">
                <a:solidFill>
                  <a:srgbClr val="00D2FF"/>
                </a:solidFill>
                <a:latin typeface="Segoe UI" pitchFamily="34" charset="0"/>
                <a:ea typeface="Segoe UI" pitchFamily="34" charset="-122"/>
                <a:cs typeface="Segoe UI" pitchFamily="34" charset="-120"/>
              </a:rPr>
              <a:t>BUSINESS APPLICATIONS</a:t>
            </a:r>
            <a:endParaRPr lang="en-US" sz="900" dirty="0"/>
          </a:p>
        </p:txBody>
      </p:sp>
      <p:sp>
        <p:nvSpPr>
          <p:cNvPr id="4" name="Text 2"/>
          <p:cNvSpPr/>
          <p:nvPr/>
        </p:nvSpPr>
        <p:spPr>
          <a:xfrm>
            <a:off x="731520" y="658368"/>
            <a:ext cx="7680960" cy="502920"/>
          </a:xfrm>
          <a:prstGeom prst="rect">
            <a:avLst/>
          </a:prstGeom>
          <a:noFill/>
          <a:ln/>
        </p:spPr>
        <p:txBody>
          <a:bodyPr wrap="square" rtlCol="0" anchor="t"/>
          <a:lstStyle/>
          <a:p>
            <a:pPr indent="0" marL="0">
              <a:buNone/>
            </a:pPr>
            <a:r>
              <a:rPr lang="en-US" sz="2200" b="1" dirty="0">
                <a:solidFill>
                  <a:srgbClr val="FFFFFF"/>
                </a:solidFill>
                <a:latin typeface="Segoe UI" pitchFamily="34" charset="0"/>
                <a:ea typeface="Segoe UI" pitchFamily="34" charset="-122"/>
                <a:cs typeface="Segoe UI" pitchFamily="34" charset="-120"/>
              </a:rPr>
              <a:t>Real-World Enterprise RAG Deployments</a:t>
            </a:r>
            <a:endParaRPr lang="en-US" sz="2200" dirty="0"/>
          </a:p>
        </p:txBody>
      </p:sp>
      <p:sp>
        <p:nvSpPr>
          <p:cNvPr id="5" name="Text 3"/>
          <p:cNvSpPr/>
          <p:nvPr/>
        </p:nvSpPr>
        <p:spPr>
          <a:xfrm>
            <a:off x="731520" y="1143000"/>
            <a:ext cx="7680960" cy="292608"/>
          </a:xfrm>
          <a:prstGeom prst="rect">
            <a:avLst/>
          </a:prstGeom>
          <a:noFill/>
          <a:ln/>
        </p:spPr>
        <p:txBody>
          <a:bodyPr wrap="square" rtlCol="0" anchor="t"/>
          <a:lstStyle/>
          <a:p>
            <a:pPr indent="0" marL="0">
              <a:buNone/>
            </a:pPr>
            <a:r>
              <a:rPr lang="en-US" sz="1200" dirty="0">
                <a:solidFill>
                  <a:srgbClr val="94A3B8"/>
                </a:solidFill>
                <a:latin typeface="Segoe UI" pitchFamily="34" charset="0"/>
                <a:ea typeface="Segoe UI" pitchFamily="34" charset="-122"/>
                <a:cs typeface="Segoe UI" pitchFamily="34" charset="-120"/>
              </a:rPr>
              <a:t>How leading companies across industries leverage RAG to drive revenue and productivity.</a:t>
            </a:r>
            <a:endParaRPr lang="en-US" sz="1200" dirty="0"/>
          </a:p>
        </p:txBody>
      </p:sp>
      <p:sp>
        <p:nvSpPr>
          <p:cNvPr id="6" name="Shape 4"/>
          <p:cNvSpPr/>
          <p:nvPr/>
        </p:nvSpPr>
        <p:spPr>
          <a:xfrm>
            <a:off x="731520" y="4754880"/>
            <a:ext cx="7680960" cy="0"/>
          </a:xfrm>
          <a:prstGeom prst="line">
            <a:avLst/>
          </a:prstGeom>
          <a:noFill/>
          <a:ln w="12700">
            <a:solidFill>
              <a:srgbClr val="1E293B"/>
            </a:solidFill>
            <a:prstDash val="solid"/>
          </a:ln>
        </p:spPr>
      </p:sp>
      <p:sp>
        <p:nvSpPr>
          <p:cNvPr id="7" name="Text 5"/>
          <p:cNvSpPr/>
          <p:nvPr/>
        </p:nvSpPr>
        <p:spPr>
          <a:xfrm>
            <a:off x="731520" y="4800600"/>
            <a:ext cx="5486400" cy="22860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Retrieval-Augmented Generation (RAG) | Enterprise AI Architecture</a:t>
            </a:r>
            <a:endParaRPr lang="en-US" sz="900" dirty="0"/>
          </a:p>
        </p:txBody>
      </p:sp>
      <p:sp>
        <p:nvSpPr>
          <p:cNvPr id="8" name="Shape 6"/>
          <p:cNvSpPr/>
          <p:nvPr/>
        </p:nvSpPr>
        <p:spPr>
          <a:xfrm>
            <a:off x="731520" y="1554480"/>
            <a:ext cx="3749040" cy="1371600"/>
          </a:xfrm>
          <a:prstGeom prst="roundRect">
            <a:avLst>
              <a:gd name="adj" fmla="val 6667"/>
            </a:avLst>
          </a:prstGeom>
          <a:solidFill>
            <a:srgbClr val="141C2F"/>
          </a:solidFill>
          <a:ln w="12700">
            <a:solidFill>
              <a:srgbClr val="24324F"/>
            </a:solidFill>
            <a:prstDash val="solid"/>
          </a:ln>
        </p:spPr>
      </p:sp>
      <p:sp>
        <p:nvSpPr>
          <p:cNvPr id="9" name="Text 7"/>
          <p:cNvSpPr/>
          <p:nvPr/>
        </p:nvSpPr>
        <p:spPr>
          <a:xfrm>
            <a:off x="914400" y="1664208"/>
            <a:ext cx="3383280" cy="274320"/>
          </a:xfrm>
          <a:prstGeom prst="rect">
            <a:avLst/>
          </a:prstGeom>
          <a:noFill/>
          <a:ln/>
        </p:spPr>
        <p:txBody>
          <a:bodyPr wrap="square" rtlCol="0" anchor="ctr"/>
          <a:lstStyle/>
          <a:p>
            <a:pPr indent="0" marL="0">
              <a:buNone/>
            </a:pPr>
            <a:r>
              <a:rPr lang="en-US" sz="1150" b="1" dirty="0">
                <a:solidFill>
                  <a:srgbClr val="FFFFFF"/>
                </a:solidFill>
                <a:latin typeface="Segoe UI" pitchFamily="34" charset="0"/>
                <a:ea typeface="Segoe UI" pitchFamily="34" charset="-122"/>
                <a:cs typeface="Segoe UI" pitchFamily="34" charset="-120"/>
              </a:rPr>
              <a:t>🏢  Internal Workplace Copilot</a:t>
            </a:r>
            <a:endParaRPr lang="en-US" sz="1150" dirty="0"/>
          </a:p>
        </p:txBody>
      </p:sp>
      <p:sp>
        <p:nvSpPr>
          <p:cNvPr id="10" name="Shape 8"/>
          <p:cNvSpPr/>
          <p:nvPr/>
        </p:nvSpPr>
        <p:spPr>
          <a:xfrm>
            <a:off x="914400" y="1956816"/>
            <a:ext cx="3383280" cy="228600"/>
          </a:xfrm>
          <a:prstGeom prst="roundRect">
            <a:avLst>
              <a:gd name="adj" fmla="val 24000"/>
            </a:avLst>
          </a:prstGeom>
          <a:solidFill>
            <a:srgbClr val="1A2942"/>
          </a:solidFill>
          <a:ln/>
        </p:spPr>
      </p:sp>
      <p:sp>
        <p:nvSpPr>
          <p:cNvPr id="11" name="Text 9"/>
          <p:cNvSpPr/>
          <p:nvPr/>
        </p:nvSpPr>
        <p:spPr>
          <a:xfrm>
            <a:off x="914400" y="1956816"/>
            <a:ext cx="3383280" cy="228600"/>
          </a:xfrm>
          <a:prstGeom prst="rect">
            <a:avLst/>
          </a:prstGeom>
          <a:noFill/>
          <a:ln/>
        </p:spPr>
        <p:txBody>
          <a:bodyPr wrap="square" rtlCol="0" anchor="ctr"/>
          <a:lstStyle/>
          <a:p>
            <a:pPr algn="ctr" indent="0" marL="0">
              <a:buNone/>
            </a:pPr>
            <a:r>
              <a:rPr lang="en-US" sz="850" b="1" dirty="0">
                <a:solidFill>
                  <a:srgbClr val="00D2FF"/>
                </a:solidFill>
                <a:latin typeface="Segoe UI" pitchFamily="34" charset="0"/>
                <a:ea typeface="Segoe UI" pitchFamily="34" charset="-122"/>
                <a:cs typeface="Segoe UI" pitchFamily="34" charset="-120"/>
              </a:rPr>
              <a:t>ROI: 70% reduction in internal support tickets</a:t>
            </a:r>
            <a:endParaRPr lang="en-US" sz="850" dirty="0"/>
          </a:p>
        </p:txBody>
      </p:sp>
      <p:sp>
        <p:nvSpPr>
          <p:cNvPr id="12" name="Text 10"/>
          <p:cNvSpPr/>
          <p:nvPr/>
        </p:nvSpPr>
        <p:spPr>
          <a:xfrm>
            <a:off x="914400" y="2231136"/>
            <a:ext cx="3383280" cy="621792"/>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Ingests Confluence, Notion, Google Drive, and Jira. Answers complex employee questions about health benefits, engineering deployment runbooks, and expense policies.</a:t>
            </a:r>
            <a:endParaRPr lang="en-US" sz="900" dirty="0"/>
          </a:p>
        </p:txBody>
      </p:sp>
      <p:sp>
        <p:nvSpPr>
          <p:cNvPr id="13" name="Shape 11"/>
          <p:cNvSpPr/>
          <p:nvPr/>
        </p:nvSpPr>
        <p:spPr>
          <a:xfrm>
            <a:off x="4663440" y="1554480"/>
            <a:ext cx="3749040" cy="1371600"/>
          </a:xfrm>
          <a:prstGeom prst="roundRect">
            <a:avLst>
              <a:gd name="adj" fmla="val 6667"/>
            </a:avLst>
          </a:prstGeom>
          <a:solidFill>
            <a:srgbClr val="141C2F"/>
          </a:solidFill>
          <a:ln w="12700">
            <a:solidFill>
              <a:srgbClr val="24324F"/>
            </a:solidFill>
            <a:prstDash val="solid"/>
          </a:ln>
        </p:spPr>
      </p:sp>
      <p:sp>
        <p:nvSpPr>
          <p:cNvPr id="14" name="Text 12"/>
          <p:cNvSpPr/>
          <p:nvPr/>
        </p:nvSpPr>
        <p:spPr>
          <a:xfrm>
            <a:off x="4846320" y="1664208"/>
            <a:ext cx="3383280" cy="274320"/>
          </a:xfrm>
          <a:prstGeom prst="rect">
            <a:avLst/>
          </a:prstGeom>
          <a:noFill/>
          <a:ln/>
        </p:spPr>
        <p:txBody>
          <a:bodyPr wrap="square" rtlCol="0" anchor="ctr"/>
          <a:lstStyle/>
          <a:p>
            <a:pPr indent="0" marL="0">
              <a:buNone/>
            </a:pPr>
            <a:r>
              <a:rPr lang="en-US" sz="1150" b="1" dirty="0">
                <a:solidFill>
                  <a:srgbClr val="FFFFFF"/>
                </a:solidFill>
                <a:latin typeface="Segoe UI" pitchFamily="34" charset="0"/>
                <a:ea typeface="Segoe UI" pitchFamily="34" charset="-122"/>
                <a:cs typeface="Segoe UI" pitchFamily="34" charset="-120"/>
              </a:rPr>
              <a:t>💬  Automated Customer Care Agent</a:t>
            </a:r>
            <a:endParaRPr lang="en-US" sz="1150" dirty="0"/>
          </a:p>
        </p:txBody>
      </p:sp>
      <p:sp>
        <p:nvSpPr>
          <p:cNvPr id="15" name="Shape 13"/>
          <p:cNvSpPr/>
          <p:nvPr/>
        </p:nvSpPr>
        <p:spPr>
          <a:xfrm>
            <a:off x="4846320" y="1956816"/>
            <a:ext cx="3383280" cy="228600"/>
          </a:xfrm>
          <a:prstGeom prst="roundRect">
            <a:avLst>
              <a:gd name="adj" fmla="val 24000"/>
            </a:avLst>
          </a:prstGeom>
          <a:solidFill>
            <a:srgbClr val="1A2942"/>
          </a:solidFill>
          <a:ln/>
        </p:spPr>
      </p:sp>
      <p:sp>
        <p:nvSpPr>
          <p:cNvPr id="16" name="Text 14"/>
          <p:cNvSpPr/>
          <p:nvPr/>
        </p:nvSpPr>
        <p:spPr>
          <a:xfrm>
            <a:off x="4846320" y="1956816"/>
            <a:ext cx="3383280" cy="228600"/>
          </a:xfrm>
          <a:prstGeom prst="rect">
            <a:avLst/>
          </a:prstGeom>
          <a:noFill/>
          <a:ln/>
        </p:spPr>
        <p:txBody>
          <a:bodyPr wrap="square" rtlCol="0" anchor="ctr"/>
          <a:lstStyle/>
          <a:p>
            <a:pPr algn="ctr" indent="0" marL="0">
              <a:buNone/>
            </a:pPr>
            <a:r>
              <a:rPr lang="en-US" sz="850" b="1" dirty="0">
                <a:solidFill>
                  <a:srgbClr val="00D2FF"/>
                </a:solidFill>
                <a:latin typeface="Segoe UI" pitchFamily="34" charset="0"/>
                <a:ea typeface="Segoe UI" pitchFamily="34" charset="-122"/>
                <a:cs typeface="Segoe UI" pitchFamily="34" charset="-120"/>
              </a:rPr>
              <a:t>ROI: 92% first-contact resolution with zero hallucination</a:t>
            </a:r>
            <a:endParaRPr lang="en-US" sz="850" dirty="0"/>
          </a:p>
        </p:txBody>
      </p:sp>
      <p:sp>
        <p:nvSpPr>
          <p:cNvPr id="17" name="Text 15"/>
          <p:cNvSpPr/>
          <p:nvPr/>
        </p:nvSpPr>
        <p:spPr>
          <a:xfrm>
            <a:off x="4846320" y="2231136"/>
            <a:ext cx="3383280" cy="621792"/>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Connects directly to live product catalogs, return policies, and warranty manuals. Provides direct URL citations to official help center articles.</a:t>
            </a:r>
            <a:endParaRPr lang="en-US" sz="900" dirty="0"/>
          </a:p>
        </p:txBody>
      </p:sp>
      <p:sp>
        <p:nvSpPr>
          <p:cNvPr id="18" name="Shape 16"/>
          <p:cNvSpPr/>
          <p:nvPr/>
        </p:nvSpPr>
        <p:spPr>
          <a:xfrm>
            <a:off x="731520" y="3063240"/>
            <a:ext cx="3749040" cy="1371600"/>
          </a:xfrm>
          <a:prstGeom prst="roundRect">
            <a:avLst>
              <a:gd name="adj" fmla="val 6667"/>
            </a:avLst>
          </a:prstGeom>
          <a:solidFill>
            <a:srgbClr val="141C2F"/>
          </a:solidFill>
          <a:ln w="12700">
            <a:solidFill>
              <a:srgbClr val="24324F"/>
            </a:solidFill>
            <a:prstDash val="solid"/>
          </a:ln>
        </p:spPr>
      </p:sp>
      <p:sp>
        <p:nvSpPr>
          <p:cNvPr id="19" name="Text 17"/>
          <p:cNvSpPr/>
          <p:nvPr/>
        </p:nvSpPr>
        <p:spPr>
          <a:xfrm>
            <a:off x="914400" y="3172968"/>
            <a:ext cx="3383280" cy="274320"/>
          </a:xfrm>
          <a:prstGeom prst="rect">
            <a:avLst/>
          </a:prstGeom>
          <a:noFill/>
          <a:ln/>
        </p:spPr>
        <p:txBody>
          <a:bodyPr wrap="square" rtlCol="0" anchor="ctr"/>
          <a:lstStyle/>
          <a:p>
            <a:pPr indent="0" marL="0">
              <a:buNone/>
            </a:pPr>
            <a:r>
              <a:rPr lang="en-US" sz="1150" b="1" dirty="0">
                <a:solidFill>
                  <a:srgbClr val="FFFFFF"/>
                </a:solidFill>
                <a:latin typeface="Segoe UI" pitchFamily="34" charset="0"/>
                <a:ea typeface="Segoe UI" pitchFamily="34" charset="-122"/>
                <a:cs typeface="Segoe UI" pitchFamily="34" charset="-120"/>
              </a:rPr>
              <a:t>⚖️  Legal &amp; Compliance Audit Assistant</a:t>
            </a:r>
            <a:endParaRPr lang="en-US" sz="1150" dirty="0"/>
          </a:p>
        </p:txBody>
      </p:sp>
      <p:sp>
        <p:nvSpPr>
          <p:cNvPr id="20" name="Shape 18"/>
          <p:cNvSpPr/>
          <p:nvPr/>
        </p:nvSpPr>
        <p:spPr>
          <a:xfrm>
            <a:off x="914400" y="3465576"/>
            <a:ext cx="3383280" cy="228600"/>
          </a:xfrm>
          <a:prstGeom prst="roundRect">
            <a:avLst>
              <a:gd name="adj" fmla="val 24000"/>
            </a:avLst>
          </a:prstGeom>
          <a:solidFill>
            <a:srgbClr val="1A2942"/>
          </a:solidFill>
          <a:ln/>
        </p:spPr>
      </p:sp>
      <p:sp>
        <p:nvSpPr>
          <p:cNvPr id="21" name="Text 19"/>
          <p:cNvSpPr/>
          <p:nvPr/>
        </p:nvSpPr>
        <p:spPr>
          <a:xfrm>
            <a:off x="914400" y="3465576"/>
            <a:ext cx="3383280" cy="228600"/>
          </a:xfrm>
          <a:prstGeom prst="rect">
            <a:avLst/>
          </a:prstGeom>
          <a:noFill/>
          <a:ln/>
        </p:spPr>
        <p:txBody>
          <a:bodyPr wrap="square" rtlCol="0" anchor="ctr"/>
          <a:lstStyle/>
          <a:p>
            <a:pPr algn="ctr" indent="0" marL="0">
              <a:buNone/>
            </a:pPr>
            <a:r>
              <a:rPr lang="en-US" sz="850" b="1" dirty="0">
                <a:solidFill>
                  <a:srgbClr val="00D2FF"/>
                </a:solidFill>
                <a:latin typeface="Segoe UI" pitchFamily="34" charset="0"/>
                <a:ea typeface="Segoe UI" pitchFamily="34" charset="-122"/>
                <a:cs typeface="Segoe UI" pitchFamily="34" charset="-120"/>
              </a:rPr>
              <a:t>ROI: 10x faster contract review cycles</a:t>
            </a:r>
            <a:endParaRPr lang="en-US" sz="850" dirty="0"/>
          </a:p>
        </p:txBody>
      </p:sp>
      <p:sp>
        <p:nvSpPr>
          <p:cNvPr id="22" name="Text 20"/>
          <p:cNvSpPr/>
          <p:nvPr/>
        </p:nvSpPr>
        <p:spPr>
          <a:xfrm>
            <a:off x="914400" y="3739896"/>
            <a:ext cx="3383280" cy="621792"/>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Parses 300+ page NDAs, master service agreements, and SEC 10-K filings. Pinpoints non-compliant clauses and compares terms across vendor contracts.</a:t>
            </a:r>
            <a:endParaRPr lang="en-US" sz="900" dirty="0"/>
          </a:p>
        </p:txBody>
      </p:sp>
      <p:sp>
        <p:nvSpPr>
          <p:cNvPr id="23" name="Shape 21"/>
          <p:cNvSpPr/>
          <p:nvPr/>
        </p:nvSpPr>
        <p:spPr>
          <a:xfrm>
            <a:off x="4663440" y="3063240"/>
            <a:ext cx="3749040" cy="1371600"/>
          </a:xfrm>
          <a:prstGeom prst="roundRect">
            <a:avLst>
              <a:gd name="adj" fmla="val 6667"/>
            </a:avLst>
          </a:prstGeom>
          <a:solidFill>
            <a:srgbClr val="141C2F"/>
          </a:solidFill>
          <a:ln w="12700">
            <a:solidFill>
              <a:srgbClr val="24324F"/>
            </a:solidFill>
            <a:prstDash val="solid"/>
          </a:ln>
        </p:spPr>
      </p:sp>
      <p:sp>
        <p:nvSpPr>
          <p:cNvPr id="24" name="Text 22"/>
          <p:cNvSpPr/>
          <p:nvPr/>
        </p:nvSpPr>
        <p:spPr>
          <a:xfrm>
            <a:off x="4846320" y="3172968"/>
            <a:ext cx="3383280" cy="274320"/>
          </a:xfrm>
          <a:prstGeom prst="rect">
            <a:avLst/>
          </a:prstGeom>
          <a:noFill/>
          <a:ln/>
        </p:spPr>
        <p:txBody>
          <a:bodyPr wrap="square" rtlCol="0" anchor="ctr"/>
          <a:lstStyle/>
          <a:p>
            <a:pPr indent="0" marL="0">
              <a:buNone/>
            </a:pPr>
            <a:r>
              <a:rPr lang="en-US" sz="1150" b="1" dirty="0">
                <a:solidFill>
                  <a:srgbClr val="FFFFFF"/>
                </a:solidFill>
                <a:latin typeface="Segoe UI" pitchFamily="34" charset="0"/>
                <a:ea typeface="Segoe UI" pitchFamily="34" charset="-122"/>
                <a:cs typeface="Segoe UI" pitchFamily="34" charset="-120"/>
              </a:rPr>
              <a:t>💻  Codebase Q&amp;A &amp; Developer Assist</a:t>
            </a:r>
            <a:endParaRPr lang="en-US" sz="1150" dirty="0"/>
          </a:p>
        </p:txBody>
      </p:sp>
      <p:sp>
        <p:nvSpPr>
          <p:cNvPr id="25" name="Shape 23"/>
          <p:cNvSpPr/>
          <p:nvPr/>
        </p:nvSpPr>
        <p:spPr>
          <a:xfrm>
            <a:off x="4846320" y="3465576"/>
            <a:ext cx="3383280" cy="228600"/>
          </a:xfrm>
          <a:prstGeom prst="roundRect">
            <a:avLst>
              <a:gd name="adj" fmla="val 24000"/>
            </a:avLst>
          </a:prstGeom>
          <a:solidFill>
            <a:srgbClr val="1A2942"/>
          </a:solidFill>
          <a:ln/>
        </p:spPr>
      </p:sp>
      <p:sp>
        <p:nvSpPr>
          <p:cNvPr id="26" name="Text 24"/>
          <p:cNvSpPr/>
          <p:nvPr/>
        </p:nvSpPr>
        <p:spPr>
          <a:xfrm>
            <a:off x="4846320" y="3465576"/>
            <a:ext cx="3383280" cy="228600"/>
          </a:xfrm>
          <a:prstGeom prst="rect">
            <a:avLst/>
          </a:prstGeom>
          <a:noFill/>
          <a:ln/>
        </p:spPr>
        <p:txBody>
          <a:bodyPr wrap="square" rtlCol="0" anchor="ctr"/>
          <a:lstStyle/>
          <a:p>
            <a:pPr algn="ctr" indent="0" marL="0">
              <a:buNone/>
            </a:pPr>
            <a:r>
              <a:rPr lang="en-US" sz="850" b="1" dirty="0">
                <a:solidFill>
                  <a:srgbClr val="00D2FF"/>
                </a:solidFill>
                <a:latin typeface="Segoe UI" pitchFamily="34" charset="0"/>
                <a:ea typeface="Segoe UI" pitchFamily="34" charset="-122"/>
                <a:cs typeface="Segoe UI" pitchFamily="34" charset="-120"/>
              </a:rPr>
              <a:t>ROI: Halved engineer onboarding time</a:t>
            </a:r>
            <a:endParaRPr lang="en-US" sz="850" dirty="0"/>
          </a:p>
        </p:txBody>
      </p:sp>
      <p:sp>
        <p:nvSpPr>
          <p:cNvPr id="27" name="Text 25"/>
          <p:cNvSpPr/>
          <p:nvPr/>
        </p:nvSpPr>
        <p:spPr>
          <a:xfrm>
            <a:off x="4846320" y="3739896"/>
            <a:ext cx="3383280" cy="621792"/>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Embeds repository code, documentation, and commit histories. Enables developers to query architectural relationships and locate relevant endpoints instantly.</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F1D"/>
        </a:solidFill>
      </p:bgPr>
    </p:bg>
    <p:spTree>
      <p:nvGrpSpPr>
        <p:cNvPr id="1" name=""/>
        <p:cNvGrpSpPr/>
        <p:nvPr/>
      </p:nvGrpSpPr>
      <p:grpSpPr>
        <a:xfrm>
          <a:off x="0" y="0"/>
          <a:ext cx="0" cy="0"/>
          <a:chOff x="0" y="0"/>
          <a:chExt cx="0" cy="0"/>
        </a:xfrm>
      </p:grpSpPr>
      <p:sp>
        <p:nvSpPr>
          <p:cNvPr id="2" name="Shape 0"/>
          <p:cNvSpPr/>
          <p:nvPr/>
        </p:nvSpPr>
        <p:spPr>
          <a:xfrm>
            <a:off x="731520" y="347472"/>
            <a:ext cx="1408176" cy="256032"/>
          </a:xfrm>
          <a:prstGeom prst="roundRect">
            <a:avLst>
              <a:gd name="adj" fmla="val 35714"/>
            </a:avLst>
          </a:prstGeom>
          <a:solidFill>
            <a:srgbClr val="1E293B"/>
          </a:solidFill>
          <a:ln w="12700">
            <a:solidFill>
              <a:srgbClr val="00D2FF"/>
            </a:solidFill>
            <a:prstDash val="solid"/>
          </a:ln>
        </p:spPr>
      </p:sp>
      <p:sp>
        <p:nvSpPr>
          <p:cNvPr id="3" name="Text 1"/>
          <p:cNvSpPr/>
          <p:nvPr/>
        </p:nvSpPr>
        <p:spPr>
          <a:xfrm>
            <a:off x="731520" y="347472"/>
            <a:ext cx="1408176" cy="256032"/>
          </a:xfrm>
          <a:prstGeom prst="rect">
            <a:avLst/>
          </a:prstGeom>
          <a:noFill/>
          <a:ln/>
        </p:spPr>
        <p:txBody>
          <a:bodyPr wrap="square" rtlCol="0" anchor="ctr"/>
          <a:lstStyle/>
          <a:p>
            <a:pPr algn="ctr" indent="0" marL="0">
              <a:buNone/>
            </a:pPr>
            <a:r>
              <a:rPr lang="en-US" sz="900" b="1" dirty="0">
                <a:solidFill>
                  <a:srgbClr val="00D2FF"/>
                </a:solidFill>
                <a:latin typeface="Segoe UI" pitchFamily="34" charset="0"/>
                <a:ea typeface="Segoe UI" pitchFamily="34" charset="-122"/>
                <a:cs typeface="Segoe UI" pitchFamily="34" charset="-120"/>
              </a:rPr>
              <a:t>FUTURE OUTLOOK</a:t>
            </a:r>
            <a:endParaRPr lang="en-US" sz="900" dirty="0"/>
          </a:p>
        </p:txBody>
      </p:sp>
      <p:sp>
        <p:nvSpPr>
          <p:cNvPr id="4" name="Text 2"/>
          <p:cNvSpPr/>
          <p:nvPr/>
        </p:nvSpPr>
        <p:spPr>
          <a:xfrm>
            <a:off x="731520" y="658368"/>
            <a:ext cx="7680960" cy="502920"/>
          </a:xfrm>
          <a:prstGeom prst="rect">
            <a:avLst/>
          </a:prstGeom>
          <a:noFill/>
          <a:ln/>
        </p:spPr>
        <p:txBody>
          <a:bodyPr wrap="square" rtlCol="0" anchor="t"/>
          <a:lstStyle/>
          <a:p>
            <a:pPr indent="0" marL="0">
              <a:buNone/>
            </a:pPr>
            <a:r>
              <a:rPr lang="en-US" sz="2200" b="1" dirty="0">
                <a:solidFill>
                  <a:srgbClr val="FFFFFF"/>
                </a:solidFill>
                <a:latin typeface="Segoe UI" pitchFamily="34" charset="0"/>
                <a:ea typeface="Segoe UI" pitchFamily="34" charset="-122"/>
                <a:cs typeface="Segoe UI" pitchFamily="34" charset="-120"/>
              </a:rPr>
              <a:t>The Frontier: What Comes Next for RAG?</a:t>
            </a:r>
            <a:endParaRPr lang="en-US" sz="2200" dirty="0"/>
          </a:p>
        </p:txBody>
      </p:sp>
      <p:sp>
        <p:nvSpPr>
          <p:cNvPr id="5" name="Text 3"/>
          <p:cNvSpPr/>
          <p:nvPr/>
        </p:nvSpPr>
        <p:spPr>
          <a:xfrm>
            <a:off x="731520" y="1143000"/>
            <a:ext cx="7680960" cy="292608"/>
          </a:xfrm>
          <a:prstGeom prst="rect">
            <a:avLst/>
          </a:prstGeom>
          <a:noFill/>
          <a:ln/>
        </p:spPr>
        <p:txBody>
          <a:bodyPr wrap="square" rtlCol="0" anchor="t"/>
          <a:lstStyle/>
          <a:p>
            <a:pPr indent="0" marL="0">
              <a:buNone/>
            </a:pPr>
            <a:r>
              <a:rPr lang="en-US" sz="1200" dirty="0">
                <a:solidFill>
                  <a:srgbClr val="94A3B8"/>
                </a:solidFill>
                <a:latin typeface="Segoe UI" pitchFamily="34" charset="0"/>
                <a:ea typeface="Segoe UI" pitchFamily="34" charset="-122"/>
                <a:cs typeface="Segoe UI" pitchFamily="34" charset="-120"/>
              </a:rPr>
              <a:t>The RAG paradigm is rapidly advancing toward structured relationships, multi-modality, and active agency.</a:t>
            </a:r>
            <a:endParaRPr lang="en-US" sz="1200" dirty="0"/>
          </a:p>
        </p:txBody>
      </p:sp>
      <p:sp>
        <p:nvSpPr>
          <p:cNvPr id="6" name="Shape 4"/>
          <p:cNvSpPr/>
          <p:nvPr/>
        </p:nvSpPr>
        <p:spPr>
          <a:xfrm>
            <a:off x="731520" y="4754880"/>
            <a:ext cx="7680960" cy="0"/>
          </a:xfrm>
          <a:prstGeom prst="line">
            <a:avLst/>
          </a:prstGeom>
          <a:noFill/>
          <a:ln w="12700">
            <a:solidFill>
              <a:srgbClr val="1E293B"/>
            </a:solidFill>
            <a:prstDash val="solid"/>
          </a:ln>
        </p:spPr>
      </p:sp>
      <p:sp>
        <p:nvSpPr>
          <p:cNvPr id="7" name="Text 5"/>
          <p:cNvSpPr/>
          <p:nvPr/>
        </p:nvSpPr>
        <p:spPr>
          <a:xfrm>
            <a:off x="731520" y="4800600"/>
            <a:ext cx="5486400" cy="22860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Retrieval-Augmented Generation (RAG) | Enterprise AI Architecture</a:t>
            </a:r>
            <a:endParaRPr lang="en-US" sz="900" dirty="0"/>
          </a:p>
        </p:txBody>
      </p:sp>
      <p:sp>
        <p:nvSpPr>
          <p:cNvPr id="8" name="Shape 6"/>
          <p:cNvSpPr/>
          <p:nvPr/>
        </p:nvSpPr>
        <p:spPr>
          <a:xfrm>
            <a:off x="731520" y="1554480"/>
            <a:ext cx="2423160" cy="1920240"/>
          </a:xfrm>
          <a:prstGeom prst="roundRect">
            <a:avLst>
              <a:gd name="adj" fmla="val 5714"/>
            </a:avLst>
          </a:prstGeom>
          <a:solidFill>
            <a:srgbClr val="141C2F"/>
          </a:solidFill>
          <a:ln w="15240">
            <a:solidFill>
              <a:srgbClr val="24324F"/>
            </a:solidFill>
            <a:prstDash val="solid"/>
          </a:ln>
        </p:spPr>
      </p:sp>
      <p:sp>
        <p:nvSpPr>
          <p:cNvPr id="9" name="Text 7"/>
          <p:cNvSpPr/>
          <p:nvPr/>
        </p:nvSpPr>
        <p:spPr>
          <a:xfrm>
            <a:off x="914400" y="1691640"/>
            <a:ext cx="2057400" cy="256032"/>
          </a:xfrm>
          <a:prstGeom prst="rect">
            <a:avLst/>
          </a:prstGeom>
          <a:noFill/>
          <a:ln/>
        </p:spPr>
        <p:txBody>
          <a:bodyPr wrap="square" rtlCol="0" anchor="ctr"/>
          <a:lstStyle/>
          <a:p>
            <a:pPr indent="0" marL="0">
              <a:buNone/>
            </a:pPr>
            <a:r>
              <a:rPr lang="en-US" sz="1200" b="1" dirty="0">
                <a:solidFill>
                  <a:srgbClr val="00D2FF"/>
                </a:solidFill>
                <a:latin typeface="Segoe UI" pitchFamily="34" charset="0"/>
                <a:ea typeface="Segoe UI" pitchFamily="34" charset="-122"/>
                <a:cs typeface="Segoe UI" pitchFamily="34" charset="-120"/>
              </a:rPr>
              <a:t>GraphRAG</a:t>
            </a:r>
            <a:endParaRPr lang="en-US" sz="1200" dirty="0"/>
          </a:p>
        </p:txBody>
      </p:sp>
      <p:sp>
        <p:nvSpPr>
          <p:cNvPr id="10" name="Text 8"/>
          <p:cNvSpPr/>
          <p:nvPr/>
        </p:nvSpPr>
        <p:spPr>
          <a:xfrm>
            <a:off x="914400" y="1965960"/>
            <a:ext cx="2057400" cy="182880"/>
          </a:xfrm>
          <a:prstGeom prst="rect">
            <a:avLst/>
          </a:prstGeom>
          <a:noFill/>
          <a:ln/>
        </p:spPr>
        <p:txBody>
          <a:bodyPr wrap="square" rtlCol="0" anchor="ctr"/>
          <a:lstStyle/>
          <a:p>
            <a:pPr indent="0" marL="0">
              <a:buNone/>
            </a:pPr>
            <a:r>
              <a:rPr lang="en-US" sz="850" b="1" dirty="0">
                <a:solidFill>
                  <a:srgbClr val="8B5CF6"/>
                </a:solidFill>
                <a:latin typeface="Segoe UI" pitchFamily="34" charset="0"/>
                <a:ea typeface="Segoe UI" pitchFamily="34" charset="-122"/>
                <a:cs typeface="Segoe UI" pitchFamily="34" charset="-120"/>
              </a:rPr>
              <a:t>Knowledge Graphs</a:t>
            </a:r>
            <a:endParaRPr lang="en-US" sz="850" dirty="0"/>
          </a:p>
        </p:txBody>
      </p:sp>
      <p:sp>
        <p:nvSpPr>
          <p:cNvPr id="11" name="Text 9"/>
          <p:cNvSpPr/>
          <p:nvPr/>
        </p:nvSpPr>
        <p:spPr>
          <a:xfrm>
            <a:off x="914400" y="2240280"/>
            <a:ext cx="2057400" cy="1097280"/>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Combines vector search with Knowledge Graphs. Captures complex relational connections across documents to answer macro, thematic questions.</a:t>
            </a:r>
            <a:endParaRPr lang="en-US" sz="900" dirty="0"/>
          </a:p>
        </p:txBody>
      </p:sp>
      <p:sp>
        <p:nvSpPr>
          <p:cNvPr id="12" name="Shape 10"/>
          <p:cNvSpPr/>
          <p:nvPr/>
        </p:nvSpPr>
        <p:spPr>
          <a:xfrm>
            <a:off x="3364992" y="1554480"/>
            <a:ext cx="2423160" cy="1920240"/>
          </a:xfrm>
          <a:prstGeom prst="roundRect">
            <a:avLst>
              <a:gd name="adj" fmla="val 5714"/>
            </a:avLst>
          </a:prstGeom>
          <a:solidFill>
            <a:srgbClr val="141C2F"/>
          </a:solidFill>
          <a:ln w="15240">
            <a:solidFill>
              <a:srgbClr val="24324F"/>
            </a:solidFill>
            <a:prstDash val="solid"/>
          </a:ln>
        </p:spPr>
      </p:sp>
      <p:sp>
        <p:nvSpPr>
          <p:cNvPr id="13" name="Text 11"/>
          <p:cNvSpPr/>
          <p:nvPr/>
        </p:nvSpPr>
        <p:spPr>
          <a:xfrm>
            <a:off x="3547872" y="1691640"/>
            <a:ext cx="2057400" cy="256032"/>
          </a:xfrm>
          <a:prstGeom prst="rect">
            <a:avLst/>
          </a:prstGeom>
          <a:noFill/>
          <a:ln/>
        </p:spPr>
        <p:txBody>
          <a:bodyPr wrap="square" rtlCol="0" anchor="ctr"/>
          <a:lstStyle/>
          <a:p>
            <a:pPr indent="0" marL="0">
              <a:buNone/>
            </a:pPr>
            <a:r>
              <a:rPr lang="en-US" sz="1200" b="1" dirty="0">
                <a:solidFill>
                  <a:srgbClr val="00D2FF"/>
                </a:solidFill>
                <a:latin typeface="Segoe UI" pitchFamily="34" charset="0"/>
                <a:ea typeface="Segoe UI" pitchFamily="34" charset="-122"/>
                <a:cs typeface="Segoe UI" pitchFamily="34" charset="-120"/>
              </a:rPr>
              <a:t>Multimodal RAG</a:t>
            </a:r>
            <a:endParaRPr lang="en-US" sz="1200" dirty="0"/>
          </a:p>
        </p:txBody>
      </p:sp>
      <p:sp>
        <p:nvSpPr>
          <p:cNvPr id="14" name="Text 12"/>
          <p:cNvSpPr/>
          <p:nvPr/>
        </p:nvSpPr>
        <p:spPr>
          <a:xfrm>
            <a:off x="3547872" y="1965960"/>
            <a:ext cx="2057400" cy="182880"/>
          </a:xfrm>
          <a:prstGeom prst="rect">
            <a:avLst/>
          </a:prstGeom>
          <a:noFill/>
          <a:ln/>
        </p:spPr>
        <p:txBody>
          <a:bodyPr wrap="square" rtlCol="0" anchor="ctr"/>
          <a:lstStyle/>
          <a:p>
            <a:pPr indent="0" marL="0">
              <a:buNone/>
            </a:pPr>
            <a:r>
              <a:rPr lang="en-US" sz="850" b="1" dirty="0">
                <a:solidFill>
                  <a:srgbClr val="8B5CF6"/>
                </a:solidFill>
                <a:latin typeface="Segoe UI" pitchFamily="34" charset="0"/>
                <a:ea typeface="Segoe UI" pitchFamily="34" charset="-122"/>
                <a:cs typeface="Segoe UI" pitchFamily="34" charset="-120"/>
              </a:rPr>
              <a:t>Images + Audio + Code</a:t>
            </a:r>
            <a:endParaRPr lang="en-US" sz="850" dirty="0"/>
          </a:p>
        </p:txBody>
      </p:sp>
      <p:sp>
        <p:nvSpPr>
          <p:cNvPr id="15" name="Text 13"/>
          <p:cNvSpPr/>
          <p:nvPr/>
        </p:nvSpPr>
        <p:spPr>
          <a:xfrm>
            <a:off x="3547872" y="2240280"/>
            <a:ext cx="2057400" cy="1097280"/>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Retrieves and synthesizes information across diagrams, architectural blueprints, financial charts, video clips, and audio recordings seamlessly.</a:t>
            </a:r>
            <a:endParaRPr lang="en-US" sz="900" dirty="0"/>
          </a:p>
        </p:txBody>
      </p:sp>
      <p:sp>
        <p:nvSpPr>
          <p:cNvPr id="16" name="Shape 14"/>
          <p:cNvSpPr/>
          <p:nvPr/>
        </p:nvSpPr>
        <p:spPr>
          <a:xfrm>
            <a:off x="5998464" y="1554480"/>
            <a:ext cx="2423160" cy="1920240"/>
          </a:xfrm>
          <a:prstGeom prst="roundRect">
            <a:avLst>
              <a:gd name="adj" fmla="val 5714"/>
            </a:avLst>
          </a:prstGeom>
          <a:solidFill>
            <a:srgbClr val="141C2F"/>
          </a:solidFill>
          <a:ln w="15240">
            <a:solidFill>
              <a:srgbClr val="24324F"/>
            </a:solidFill>
            <a:prstDash val="solid"/>
          </a:ln>
        </p:spPr>
      </p:sp>
      <p:sp>
        <p:nvSpPr>
          <p:cNvPr id="17" name="Text 15"/>
          <p:cNvSpPr/>
          <p:nvPr/>
        </p:nvSpPr>
        <p:spPr>
          <a:xfrm>
            <a:off x="6181344" y="1691640"/>
            <a:ext cx="2057400" cy="256032"/>
          </a:xfrm>
          <a:prstGeom prst="rect">
            <a:avLst/>
          </a:prstGeom>
          <a:noFill/>
          <a:ln/>
        </p:spPr>
        <p:txBody>
          <a:bodyPr wrap="square" rtlCol="0" anchor="ctr"/>
          <a:lstStyle/>
          <a:p>
            <a:pPr indent="0" marL="0">
              <a:buNone/>
            </a:pPr>
            <a:r>
              <a:rPr lang="en-US" sz="1200" b="1" dirty="0">
                <a:solidFill>
                  <a:srgbClr val="00D2FF"/>
                </a:solidFill>
                <a:latin typeface="Segoe UI" pitchFamily="34" charset="0"/>
                <a:ea typeface="Segoe UI" pitchFamily="34" charset="-122"/>
                <a:cs typeface="Segoe UI" pitchFamily="34" charset="-120"/>
              </a:rPr>
              <a:t>Long-Context LLMs + RAG</a:t>
            </a:r>
            <a:endParaRPr lang="en-US" sz="1200" dirty="0"/>
          </a:p>
        </p:txBody>
      </p:sp>
      <p:sp>
        <p:nvSpPr>
          <p:cNvPr id="18" name="Text 16"/>
          <p:cNvSpPr/>
          <p:nvPr/>
        </p:nvSpPr>
        <p:spPr>
          <a:xfrm>
            <a:off x="6181344" y="1965960"/>
            <a:ext cx="2057400" cy="182880"/>
          </a:xfrm>
          <a:prstGeom prst="rect">
            <a:avLst/>
          </a:prstGeom>
          <a:noFill/>
          <a:ln/>
        </p:spPr>
        <p:txBody>
          <a:bodyPr wrap="square" rtlCol="0" anchor="ctr"/>
          <a:lstStyle/>
          <a:p>
            <a:pPr indent="0" marL="0">
              <a:buNone/>
            </a:pPr>
            <a:r>
              <a:rPr lang="en-US" sz="850" b="1" dirty="0">
                <a:solidFill>
                  <a:srgbClr val="8B5CF6"/>
                </a:solidFill>
                <a:latin typeface="Segoe UI" pitchFamily="34" charset="0"/>
                <a:ea typeface="Segoe UI" pitchFamily="34" charset="-122"/>
                <a:cs typeface="Segoe UI" pitchFamily="34" charset="-120"/>
              </a:rPr>
              <a:t>Symbiotic Future</a:t>
            </a:r>
            <a:endParaRPr lang="en-US" sz="850" dirty="0"/>
          </a:p>
        </p:txBody>
      </p:sp>
      <p:sp>
        <p:nvSpPr>
          <p:cNvPr id="19" name="Text 17"/>
          <p:cNvSpPr/>
          <p:nvPr/>
        </p:nvSpPr>
        <p:spPr>
          <a:xfrm>
            <a:off x="6181344" y="2240280"/>
            <a:ext cx="2057400" cy="1097280"/>
          </a:xfrm>
          <a:prstGeom prst="rect">
            <a:avLst/>
          </a:prstGeom>
          <a:noFill/>
          <a:ln/>
        </p:spPr>
        <p:txBody>
          <a:bodyPr wrap="square" rtlCol="0" anchor="ctr"/>
          <a:lstStyle/>
          <a:p>
            <a:pPr indent="0" marL="0">
              <a:buNone/>
            </a:pPr>
            <a:r>
              <a:rPr lang="en-US" sz="900" dirty="0">
                <a:solidFill>
                  <a:srgbClr val="94A3B8"/>
                </a:solidFill>
                <a:latin typeface="Segoe UI" pitchFamily="34" charset="0"/>
                <a:ea typeface="Segoe UI" pitchFamily="34" charset="-122"/>
                <a:cs typeface="Segoe UI" pitchFamily="34" charset="-120"/>
              </a:rPr>
              <a:t>Million-token context windows do NOT eliminate RAG; RAG acts as the intelligent precision filter, feeding the long-context window only high-signal data.</a:t>
            </a:r>
            <a:endParaRPr lang="en-US" sz="900" dirty="0"/>
          </a:p>
        </p:txBody>
      </p:sp>
      <p:sp>
        <p:nvSpPr>
          <p:cNvPr id="20" name="Shape 18"/>
          <p:cNvSpPr/>
          <p:nvPr/>
        </p:nvSpPr>
        <p:spPr>
          <a:xfrm>
            <a:off x="731520" y="3657600"/>
            <a:ext cx="7680960" cy="960120"/>
          </a:xfrm>
          <a:prstGeom prst="roundRect">
            <a:avLst>
              <a:gd name="adj" fmla="val 11429"/>
            </a:avLst>
          </a:prstGeom>
          <a:solidFill>
            <a:srgbClr val="111E38"/>
          </a:solidFill>
          <a:ln w="15240">
            <a:solidFill>
              <a:srgbClr val="00D2FF"/>
            </a:solidFill>
            <a:prstDash val="solid"/>
          </a:ln>
        </p:spPr>
      </p:sp>
      <p:sp>
        <p:nvSpPr>
          <p:cNvPr id="21" name="Text 19"/>
          <p:cNvSpPr/>
          <p:nvPr/>
        </p:nvSpPr>
        <p:spPr>
          <a:xfrm>
            <a:off x="914400" y="3767328"/>
            <a:ext cx="7315200" cy="27432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Key Takeaway: RAG turns foundation models from speculative storytellers into grounded enterprise experts.</a:t>
            </a:r>
            <a:endParaRPr lang="en-US" sz="1100" dirty="0"/>
          </a:p>
        </p:txBody>
      </p:sp>
      <p:sp>
        <p:nvSpPr>
          <p:cNvPr id="22" name="Text 20"/>
          <p:cNvSpPr/>
          <p:nvPr/>
        </p:nvSpPr>
        <p:spPr>
          <a:xfrm>
            <a:off x="914400" y="4069080"/>
            <a:ext cx="7315200" cy="411480"/>
          </a:xfrm>
          <a:prstGeom prst="rect">
            <a:avLst/>
          </a:prstGeom>
          <a:noFill/>
          <a:ln/>
        </p:spPr>
        <p:txBody>
          <a:bodyPr wrap="square" rtlCol="0" anchor="ctr"/>
          <a:lstStyle/>
          <a:p>
            <a:pPr indent="0" marL="0">
              <a:buNone/>
            </a:pPr>
            <a:r>
              <a:rPr lang="en-US" sz="1400" b="1" dirty="0">
                <a:solidFill>
                  <a:srgbClr val="00D2FF"/>
                </a:solidFill>
                <a:latin typeface="Segoe UI" pitchFamily="34" charset="0"/>
                <a:ea typeface="Segoe UI" pitchFamily="34" charset="-122"/>
                <a:cs typeface="Segoe UI" pitchFamily="34" charset="-120"/>
              </a:rPr>
              <a:t>Thank You! Questions &amp; Discussion 💬</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Enterprise AI Solutions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Retrieval-Augmented Generation (RAG) Masterclass</dc:title>
  <dc:subject>Comprehensive Guide to RAG Architecture, Best Practices, and Enterprise Implementation</dc:subject>
  <dc:creator>AI Architecture Team</dc:creator>
  <cp:lastModifiedBy>AI Architecture Team</cp:lastModifiedBy>
  <cp:revision>1</cp:revision>
  <dcterms:created xsi:type="dcterms:W3CDTF">2026-09-28T10:47:22Z</dcterms:created>
  <dcterms:modified xsi:type="dcterms:W3CDTF">2026-09-28T10:47:22Z</dcterms:modified>
</cp:coreProperties>
</file>