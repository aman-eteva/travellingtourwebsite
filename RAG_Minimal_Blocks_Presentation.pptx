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6949440" cy="3291840"/>
          </a:xfrm>
          <a:prstGeom prst="roundRect">
            <a:avLst>
              <a:gd name="adj" fmla="val 4167"/>
            </a:avLst>
          </a:prstGeom>
          <a:solidFill>
            <a:srgbClr val="0E1626"/>
          </a:solidFill>
          <a:ln w="19050">
            <a:solidFill>
              <a:srgbClr val="2433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18872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- Augmented - Generation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63040" y="310896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121A2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3154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Retrieval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54480" y="34290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verified facts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11880" y="310896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121A2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3154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➕ Augmented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03320" y="34290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 into prompt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60720" y="310896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3154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✍️ Generation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52160" y="34290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Synthesize answer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Disadvantages of Raw LLMs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standalone Large Language Models fail in real-world applications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Disadvantages of Raw LLMs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standalone Large Language Models fail in real-world applications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Fake Facts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Disadvantages of Raw LLMs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standalone Large Language Models fail in real-world applications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Fake Facts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Outdated Knowledge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(Cutoff Date)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Disadvantages of Raw LLMs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standalone Large Language Models fail in real-world applications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Fake Facts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Outdated Knowledge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(Cutoff Date)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Private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Data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Disadvantages of Raw LLMs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standalone Large Language Models fail in real-world applications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Fake Facts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Outdated Knowledge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(Cutoff Date)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Private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Data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208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Expensive Model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Retraining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of RAG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Retrieval-Augmented Generation solves foundation model limitations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of RAG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Retrieval-Augmented Generation solves foundation model limitations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of RAG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Retrieval-Augmented Generation solves foundation model limitations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Knowledge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Up-to-date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of RAG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Retrieval-Augmented Generation solves foundation model limitations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Knowledge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Up-to-date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of RAG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Retrieval-Augmented Generation solves foundation model limitations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Knowledge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Up-to-date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208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Privacy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RAG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end-to-end architecture: Ingestion (Top) and Real-Time Query (Bottom)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RAG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end-to-end architecture: Ingestion (Top) and Real-Time Query (Bottom)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046720" cy="1371600"/>
          </a:xfrm>
          <a:prstGeom prst="roundRect">
            <a:avLst>
              <a:gd name="adj" fmla="val 5333"/>
            </a:avLst>
          </a:prstGeom>
          <a:solidFill>
            <a:srgbClr val="0D152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1: INGESTION &amp; INDEXING (Offline Preparation)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121A2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659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PDFs &amp; Docs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91640" y="21945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57400" y="187452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9659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&amp; Clean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17520" y="21945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187452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121A2D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9659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🧩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Chunks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43400" y="21945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87452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121A2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9659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API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69280" y="21945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87452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9659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🔢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95160" y="21945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60920" y="187452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121A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19659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DB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RAG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end-to-end architecture: Ingestion (Top) and Real-Time Query (Bottom)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046720" cy="1371600"/>
          </a:xfrm>
          <a:prstGeom prst="roundRect">
            <a:avLst>
              <a:gd name="adj" fmla="val 5333"/>
            </a:avLst>
          </a:prstGeom>
          <a:solidFill>
            <a:srgbClr val="0D152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1: INGESTION &amp; INDEXING (Offline Preparation)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121A2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659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PDFs &amp; Docs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91640" y="21945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57400" y="187452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9659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&amp; Clean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17520" y="21945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187452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121A2D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9659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🧩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Chunks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43400" y="21945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87452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121A2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9659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API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69280" y="21945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87452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9659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🔢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95160" y="21945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60920" y="187452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121A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196596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DB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3063240"/>
            <a:ext cx="8046720" cy="1463040"/>
          </a:xfrm>
          <a:prstGeom prst="roundRect">
            <a:avLst>
              <a:gd name="adj" fmla="val 5000"/>
            </a:avLst>
          </a:prstGeom>
          <a:solidFill>
            <a:srgbClr val="0A14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12724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2: REAL-TIME QUERY &amp; GENERATION (Inference Pipeline)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31520" y="342900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52044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Query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691640" y="3749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57400" y="342900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121A2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57400" y="352044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Query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017520" y="3749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342900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121A2D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52044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Search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343400" y="3749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42900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52044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Context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9280" y="3749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35040" y="342900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121A2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352044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Synthesis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95160" y="3749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60920" y="342900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60920" y="352044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Answer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818120" y="2743200"/>
            <a:ext cx="0" cy="36576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3886200" y="3108960"/>
            <a:ext cx="39319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Document Chunking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ways to slice enterprise documents for optimal retrieval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Document Chunking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ways to slice enterprise documents for optimal retrieval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Chunking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Document Chunking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ways to slice enterprise documents for optimal retrieval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Chunking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Document Chunking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ways to slice enterprise documents for optimal retrieval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Chunking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Document Chunking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ways to slice enterprise documents for optimal retrieval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208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 Embeddings &amp; Math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human language converts into searchable mathematical coordinates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 Embeddings &amp; Math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human language converts into searchable mathematical coordinates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Dense Numerical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Vectors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 Embeddings &amp; Math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human language converts into searchable mathematical coordinates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Dense Numerical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Similarity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 Embeddings &amp; Math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human language converts into searchable mathematical coordinates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Dense Numerical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Similarity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 Embeddings &amp; Math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human language converts into searchable mathematical coordinates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Dense Numerical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Similarity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208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Euclidean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Distance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Vector Databases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High-performance storage engines optimized for millisecond similarity search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Vector Databases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High-performance storage engines optimized for millisecond similarity search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🌲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Pinecone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(Managed Cloud)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Vector Databases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High-performance storage engines optimized for millisecond similarity search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🌲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Pinecone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(Managed Cloud)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ChromaDB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(Lightweight &amp; Open)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Vector Databases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High-performance storage engines optimized for millisecond similarity search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🌲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Pinecone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(Managed Cloud)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ChromaDB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(Lightweight &amp; Open)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Milvus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(Billion-Scale)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Vector Databases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High-performance storage engines optimized for millisecond similarity search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🌲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Pinecone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(Managed Cloud)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ChromaDB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(Lightweight &amp; Open)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Milvus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(Billion-Scale)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208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🐘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pgvector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(PostgreSQL Extension)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Advanced Retrieval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Techniques to ensure only the most accurate, pristine chunks reach the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Advanced Retrieval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Techniques to ensure only the most accurate, pristine chunks reach the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Search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(Dense + BM25)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Advanced Retrieval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Techniques to ensure only the most accurate, pristine chunks reach the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Search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(Dense + BM25)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Cross-Encoder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Re-Ranking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Advanced Retrieval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Techniques to ensure only the most accurate, pristine chunks reach the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Search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(Dense + BM25)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Cross-Encoder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Re-Ranking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Expansion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(HyDE)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Advanced Retrieval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Techniques to ensure only the most accurate, pristine chunks reach the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Search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(Dense + BM25)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Cross-Encoder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Re-Ranking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Expansion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(HyDE)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208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Compression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vs. Fine-Tuning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RAG for factual knowledge; Use Fine-Tuning for voice, style, and 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vs. Fine-Tuning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RAG for factual knowledge; Use Fine-Tuning for voice, style, and 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Behavior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vs. Fine-Tuning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RAG for factual knowledge; Use Fine-Tuning for voice, style, and 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Behavior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Updates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Weeks Retraining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vs. Fine-Tuning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RAG for factual knowledge; Use Fine-Tuning for voice, style, and 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Behavior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Updates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Weeks Retraining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Citations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Black Box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vs. Fine-Tuning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RAG for factual knowledge; Use Fine-Tuning for voice, style, and 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Behavior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Updates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Weeks Retraining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Citations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Black Box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208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Permissions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Data Leakage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Applications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use cases delivering measurable business ROI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Applications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use cases delivering measurable business ROI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Copilot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Applications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use cases delivering measurable business ROI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Copilot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Care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Applications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use cases delivering measurable business ROI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Copilot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Care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&amp; Contract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Applications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use cases delivering measurable business ROI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Presentation | Clean &amp; Visual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Copilot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Care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&amp; Contract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208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21A2D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148840"/>
            <a:ext cx="868680" cy="868680"/>
          </a:xfrm>
          <a:prstGeom prst="ellipse">
            <a:avLst/>
          </a:prstGeom>
          <a:solidFill>
            <a:srgbClr val="1A243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Codebase Search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97280"/>
            <a:ext cx="6949440" cy="2926080"/>
          </a:xfrm>
          <a:prstGeom prst="roundRect">
            <a:avLst>
              <a:gd name="adj" fmla="val 4688"/>
            </a:avLst>
          </a:prstGeom>
          <a:solidFill>
            <a:srgbClr val="0E1626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3716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KEY 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0" y="17373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"RAG converts creative language models into reliable, grounded, and auditable enterprise experts."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 💬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(Retrieval-Augmented Generation) - Minimal &amp; Visual</dc:title>
  <dc:subject>PptxGenJS Presentation</dc:subject>
  <dc:creator>AI Architecture</dc:creator>
  <cp:lastModifiedBy>AI Architecture</cp:lastModifiedBy>
  <cp:revision>1</cp:revision>
  <dcterms:created xsi:type="dcterms:W3CDTF">2026-09-29T12:05:46Z</dcterms:created>
  <dcterms:modified xsi:type="dcterms:W3CDTF">2026-09-29T12:05:46Z</dcterms:modified>
</cp:coreProperties>
</file>