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524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Step-by-Step Architecture Guide to Connecting Foundation LLMs with Dynamic Enterprise Data.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524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Step-by-Step Architecture Guide to Connecting Foundation LLMs with Dynamic Enterprise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Grounded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hallucinations via citations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524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Step-by-Step Architecture Guide to Connecting Foundation LLMs with Dynamic Enterprise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Grounded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hallucinations via citations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 without retraining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524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Step-by-Step Architecture Guide to Connecting Foundation LLMs with Dynamic Enterprise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Grounded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hallucinations via citations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 without retraining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Enterprise Privacy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access control &amp; security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Blind to recent events &amp;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Blind to recent events &amp;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compliance risk
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Blind to recent events &amp;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compliance risk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company wikis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proprietary codebases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LLMs cannot answer company Qs
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Blind to recent events &amp;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compliance risk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company wikis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proprietary codebases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LLMs cannot answer company Qs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Takes weeks of GPU engineering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Far too rigid for dynamic data
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stops at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Blind to recent events &amp; updates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Severe business &amp; compliance risk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company wikis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proprietary codebases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LLMs cannot answer company Qs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Takes weeks of GPU engineering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Far too rigid for dynamic data
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696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Core Principle: Do not force LLMs to memorize facts. Give them tools to retrieve facts, then reason over them.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Analogy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verified reference text into the prompt.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Analogy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verified reference text into the prompt.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7141E"/>
          </a:solidFill>
          <a:ln w="15240">
            <a:solidFill>
              <a:srgbClr val="4B1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WITHOUT RAG: Closed-Book Exam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relies entirely on outdated memory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guesses when memory is fuzzy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citations or exact sources provided
</a:t>
            </a:r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Plausible-sounding hallucinations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Analogy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verified reference text into the prompt.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7141E"/>
          </a:solidFill>
          <a:ln w="15240">
            <a:solidFill>
              <a:srgbClr val="4B1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WITHOUT RAG: Closed-Book Exam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relies entirely on outdated memory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guesses when memory is fuzzy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citations or exact sources provided
</a:t>
            </a:r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Plausible-sounding hallucinations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0F2220"/>
          </a:solidFill>
          <a:ln w="15240">
            <a:solidFill>
              <a:srgbClr val="0E5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WITH RAG: Open-Book Exam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is provided with the authoritative handbook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Synthesizes facts directly from the retrieved text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Cites exact paragraph, source, and page numbers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Grounded, verifiable, and audit-ready truth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Analogy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verified reference text into the prompt.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7141E"/>
          </a:solidFill>
          <a:ln w="15240">
            <a:solidFill>
              <a:srgbClr val="4B1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WITHOUT RAG: Closed-Book Exam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relies entirely on outdated memory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guesses when memory is fuzzy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citations or exact sources provided
</a:t>
            </a:r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Plausible-sounding hallucinations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0F2220"/>
          </a:solidFill>
          <a:ln w="15240">
            <a:solidFill>
              <a:srgbClr val="0E5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WITH RAG: Open-Book Exam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is provided with the authoritative handbook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Synthesizes facts directly from the retrieved text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Cites exact paragraph, source, and page numbers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Grounded, verifiable, and audit-ready truth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RETRIEVE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top 3-5 relevant chunks from Vector DB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AUGMENT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context + user query into smart prompt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GENERATE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generates answer with direct source citations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D15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824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824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Clean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24152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8211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8211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024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5040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11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7959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959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959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4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77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60020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281E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6459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Knowledge 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 Chunks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(Chroma, Pinecone)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D15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824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824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Clean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24152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8211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8211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024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5040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11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7959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959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959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4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77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60020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281E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6459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Knowledge 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 Chunks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(Chroma, Pinecone)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A142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0358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REAL-TIME QUERY &amp; GENERATION (Inference Pipeline)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" y="333756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326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290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2704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3736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Embedding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6148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7180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281E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Query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9592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0624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2E1624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Semantic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(ANN)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63840" y="278892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486400" y="3200400"/>
            <a:ext cx="2377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45896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0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Ranked 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(Top-K Context)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2200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32320" y="32918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215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3383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78040" y="382219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Reason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0080" y="4114800"/>
            <a:ext cx="6263640" cy="411480"/>
          </a:xfrm>
          <a:prstGeom prst="roundRect">
            <a:avLst>
              <a:gd name="adj" fmla="val 13333"/>
            </a:avLst>
          </a:prstGeom>
          <a:solidFill>
            <a:srgbClr val="10261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Verified Answer returned to User: Grounded with exact citations and zero hallucination!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dedicated parser per format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dedicated parser per format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5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9651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Why Chunk Overlap Matters: Always maintain 10-15% overlap between adjacent chunks. This prevents losing critical context when an important sentence crosses a split boundary.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Dot Product (Inner Product)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B = ∑ (Ai ×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Considers both direction and vector magnitude. Extremely fast on normalized embeddings.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Dot Product (Inner Product)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B = ∑ (Ai ×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Considers both direction and vector magnitude. Extremely fast on normalized embeddings.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Euclidean Distance (L2)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8313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d(A, B) = √∑(Ai - Bi)²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40142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straight-line distance in space. Shorter distance indicates higher similarity.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latency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latency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Enables ACID transactions and strict foreign keys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to adopt if your company already runs Postgres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Perfect for datasets up to 10 million vectors
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latency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Enables ACID transactions and strict foreign keys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to adopt if your company already runs Postgres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Perfect for datasets up to 10 million vectors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Production Must-Have: Metadata Filtering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search the whole database blindly. Always filter vectors by metadata like user_role, department_id, and document_date at query time for strict enterprise security!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SAVER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Strips out filler sentences before passing the chunk to the LLM.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context window tokens and eliminates misleading background noise.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225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The 3 Non-Negotiable Generation Guardrails: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 Attribution: Force the model to append [Source ID] to every factual claim.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Fallback Honesty: Explicitly forbid guessing when retrieved chunks do not contain the answer.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Output Structuring: Enforce JSON or Markdown tables for consistent UI integration.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THE EXECUTIVE DECISION RULE: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factual accuracy, changing data, or access control? -&gt; Always choose RAG.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specialized format (e.g. strict SQL), custom persona, or specific medical terminology? -&gt; Use Fine-Tuning.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in class enterprise apps do both: Fine-tune for formatting, RAG for knowledge!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Hybrid Search (Dense + BM25 Keywords)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Cross-Encoder Re-Ranking for Top-5 precision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Metadata filtering by tenant permissions
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Hybrid Search (Dense + BM25 Keywords)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Cross-Encoder Re-Ranking for Top-5 precision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Metadata filtering by tenant permissions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3: AGENTIC RAG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Self-Correcting &amp; Autonomous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LLM decides IF retrieval is even needed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Corrective RAG (CRAG): Fallback to web search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Self-RAG: Evaluates if generated text is true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Multi-hop reasoning across SQL, APIs &amp; Docs
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C2F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Standard Production Evaluation Stack: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Ragas: Automated synthetic evaluation datasets   • TruLens: Real-time hallucination feedback functions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DeepEval: Unit tests in CI/CD pipeline   • LangSmith / Phoenix: Tracing, latency &amp; token telemetry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&amp; API Cost Explosion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Querying vector stores + re-ranker + frontier LLM creates 4-6 second latency.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Semantic Caching (Redis/GPTCache) for similar queries, parallelize retrieval, and stream tokens.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Codebase Q&amp;A &amp; Onboarding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50% faster dev onboarding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multi-repo microservices, API schemas, and git commits. Developers ask architectural questions and locate endpoints instantly.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Step-by-Step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01A2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KEY TAKEAWAY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"RAG converts creative language models into reliable, grounded, and auditable enterprise experts."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Open for Questions &amp; Discussion 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(Retrieval-Augmented Generation) - Step-by-Step Presentation</dc:title>
  <dc:subject>PptxGenJS Presentation</dc:subject>
  <dc:creator>Enterprise AI Architect</dc:creator>
  <cp:lastModifiedBy>Enterprise AI Architect</cp:lastModifiedBy>
  <cp:revision>1</cp:revision>
  <dcterms:created xsi:type="dcterms:W3CDTF">2026-09-28T12:49:42Z</dcterms:created>
  <dcterms:modified xsi:type="dcterms:W3CDTF">2026-09-28T12:49:42Z</dcterms:modified>
</cp:coreProperties>
</file>